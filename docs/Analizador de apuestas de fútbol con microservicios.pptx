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21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notesSlides/notesSlide1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s-PE" sz="1800" b="0" u="none" strike="noStrike">
                <a:solidFill>
                  <a:schemeClr val="dk1"/>
                </a:solidFill>
                <a:effectLst/>
                <a:uFillTx/>
                <a:latin typeface="Public Sans"/>
              </a:rPr>
              <a:t>Click to move the slide</a:t>
            </a:r>
            <a:endParaRPr lang="es-PE" sz="1800" b="0" u="none" strike="noStrike">
              <a:solidFill>
                <a:schemeClr val="dk1"/>
              </a:solidFill>
              <a:effectLst/>
              <a:uFillTx/>
              <a:latin typeface="Public Sans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s-P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</a:t>
            </a:r>
            <a:r>
              <a:rPr lang="es-P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notes format</a:t>
            </a:r>
            <a:endParaRPr lang="es-P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s-P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P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s-P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s-P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P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s-P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P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P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s-P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7EB04C5D-2B15-4B4F-9A2D-220FF305E629}" type="slidenum">
              <a:rPr lang="es-P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23</a:t>
            </a:fld>
            <a:endParaRPr lang="es-P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Presentación del grupo. Decir el nombre del proyecto: un analizador de apuestas de fútbol construido como 9 microservicios en una semana, del martes 20 al lunes 26 de octubre.</a:t>
            </a:r>
            <a:endParaRPr lang="es-P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25ADE86-A1DE-47BD-9C59-2A550C006D8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s-P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El apostador peruano usa bet365 o Betano y decide por intuición. Los datos que necesitaría existen, pero están en sitios distintos y nadie los convierte en probabilidades. La pregunta clave es si la cuota paga más que el riesgo real; eso es lo que llamamos valor.</a:t>
            </a:r>
            <a:endParaRPr lang="es-P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926065C-22FC-46C6-992D-C3ACC5FF1E8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s-P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El propósito tiene dos caras: una plataforma útil (reunir datos, estimar probabilidades y compararlas con la cuota) y un ejercicio académico de microservicios: servicios pequeños, cada uno con su base de datos, registrados en Eureka y expuestos por un único API Gateway.</a:t>
            </a:r>
            <a:endParaRPr lang="es-P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86C5CA2-DC4B-40F1-A14C-AB2ED02571B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s-P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Supuestos: football-data.co.uk sigue publicando sus CSV gratuitos y todos tenemos Java 21, Docker y Git. Restricción importante para ser honestos: un modelo de Poisson simple no le gana a las casas de forma sostenida, y así lo presentamos.</a:t>
            </a:r>
            <a:endParaRPr lang="es-P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488E179-E0D9-4CC4-AFE7-1CD16B9527A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s-P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Un solo sprint de una semana. En el daily revisamos qué se terminó, qué se hará al día siguiente y qué bloquea. La clave para no esperarnos entre nosotros: cada servicio responde mocks desde el primer día, respetando el contrato.</a:t>
            </a:r>
            <a:endParaRPr lang="es-P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F5049BB-E898-498B-832B-D854A3F3C39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s-P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Reparto equilibrado: cada uno tiene un servicio de infraestructura o seguridad y dos de negocio, y responde por su código, sus pruebas y su Dockerfile. La web-app es un cliente y no cuenta entre los 9 microservicios.</a:t>
            </a:r>
            <a:endParaRPr lang="es-P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CE498C7-3E40-4201-94F5-A34A1914281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s-P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Esta historia resume todo el sistema. La explicación de cada probabilidad sale de los promedios de cada equipo y del árbitro. Los umbrales de la apuesta del día están en el requerimiento RF-12.</a:t>
            </a:r>
            <a:endParaRPr lang="es-P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DAE3655-AFD7-45F9-BD95-96668C07867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s-P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Los casos resaltados en dorado tienen ficha completa en el documento. CU-04: el apostador elige un partido, la web llama por el gateway a ms-predicciones, que consulta catálogo y estadísticas. CU-06: ms-apuestas recorre los partidos del día y filtra por umbrales. CU-10: la tarea programada descarga y reparte los datos, y luego se liquidan las apuestas. Si football-data no responde, la ejecución queda en ERROR y se reintenta al día siguiente.</a:t>
            </a:r>
            <a:endParaRPr lang="es-P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7D4F229-FEF6-48C9-A79E-6C360166FD2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s-P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Agrupamos los 16 requerimientos por el servicio que los implementa. La mayoría son de prioridad alta; de prioridad media son el perfil del árbitro, las cuotas de Betano a mano, la liquidación y el rendimiento; el historial de ingesta es de prioridad baja y solo lo ve el ADMIN. El RF-12 define los umbrales de la apuesta del día.</a:t>
            </a:r>
            <a:endParaRPr lang="es-P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FAC7855-92F1-4CD9-8BF8-AEFF9B215F2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s-P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Estos requerimientos son los que hacen que sea de verdad una arquitectura de microservicios: registro en Eureka, base de datos por servicio y gateway como único punto de entrada. Destacar el RNF-08: el sistema nunca promete apuestas seguras.</a:t>
            </a:r>
            <a:endParaRPr lang="es-P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50AEA7D-8663-4EB6-8257-6B96A9FBFBB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s-P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Cada historia está asignada al dueño de los servicios que toca. Las más pesadas, de 13 puntos, son el modelo de probabilidades y la apuesta del día. Definición de terminado: el endpoint responde por el gateway, tiene al menos 2 pruebas unitarias, aparece en Swagger y está en la rama del proyecto.</a:t>
            </a:r>
            <a:endParaRPr lang="es-P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2C99DE0-FDD5-4A94-8C66-7D7D11F14CF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s-P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Todo el equipo usa la misma base: Java 21 con Spring Boot y Spring Cloud, y dejamos que Spring Initializr elija versiones compatibles entre sí. La comunicación entre servicios es REST síncrono con OpenFeign y balanceo por Eureka (lb://). Cada servicio usa su propia base de datos dentro de un mismo contenedor de PostgreSQL.</a:t>
            </a:r>
            <a:endParaRPr lang="es-P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1CFE9E-334F-42F5-95E7-76BE2CD32D1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s-P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Figura 1 del documento. El navegador entra por la web-app, que habla con el api-gateway; el gateway enruta /api/servicio/** a cada microservicio. Todos se registran en Eureka. ms-catalogo es el dueño de los IDs de partido, equipo, liga y árbitro; los demás guardan esos IDs como números, sin llave foránea, porque viven en otra base de datos.</a:t>
            </a:r>
            <a:endParaRPr lang="es-P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062328A-2682-4918-A6C3-6BE8714C941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s-P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Los dos primeros, en dorado, son de infraestructura. De los 7 de negocio, 6 tienen base de datos propia; ms-predicciones no guarda estado: calcula con los datos que pide a otros servicios. La web-app es un cliente y no se cuenta entre los 9.</a:t>
            </a:r>
            <a:endParaRPr lang="es-P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56B4611-F5AD-4AB0-8A83-8E218A7EB1B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s-P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Figura 2 del documento. La web pide la apuesta del día al gateway con el JWT. ms-apuestas pide a ms-catalogo los partidos programados de hoy y, por cada uno, la predicción a ms-predicciones y las cuotas a ms-cuotas. Calcula el valor esperado de cada selección, filtra por los tres umbrales y elige la mayor. Si ninguna cumple, responde “Hoy no hay apuesta del día”.</a:t>
            </a:r>
            <a:endParaRPr lang="es-P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3FB9599-4A03-4F0F-B358-6FA3F9120CF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s-P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Los endpoints públicos se llaman a través del gateway con el prefijo /api/servicio, por ejemplo /api/catalogo/partidos. Los internos solo se usan dentro de la red de Docker, por ejemplo cuando ms-ingesta registra partidos en el catálogo. El contrato completo, con ejemplos JSON y errores, está en el README de cada carpeta en servicios/.</a:t>
            </a:r>
            <a:endParaRPr lang="es-P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52D5090-E41C-4872-A144-72DEF6A381F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s-P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La clave se guarda en la variable JWT_SECRET. Al borrar las cabeceras X-Usuario-* que manda el cliente, nadie puede hacerse pasar por otro usuario: los servicios solo confían en X-Usuario-Id y X-Usuario-Rol que pone el gateway. Las contraseñas se guardan cifradas con BCrypt.</a:t>
            </a:r>
            <a:endParaRPr lang="es-P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AC4959F-34E0-46FC-9849-809B82C3CED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s-P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Figura 3 del documento. Todo vive en la red de Docker apuestas-net: PostgreSQL con las 6 bases de datos, los 9 servicios y la web. Desde fuera solo se ven la web y el gateway (y el panel de Eureka para revisar). Los puertos 5441 y 8090 se eligieron para no chocar con el proyecto MTC ni con la otra versión del proyecto.</a:t>
            </a:r>
            <a:endParaRPr lang="es-P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4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434A008-9BC3-4E06-A314-8D352B01B2F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s-P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Figura 4 del documento. En estadisticas_db hay una fila por equipo y partido: los promedios a favor son las filas del equipo y los promedios en contra son las filas donde aparece como rival, así basta un AVG sin joins. En cuotas_db hay un CHECK para que la cuota sea mayor que 1.</a:t>
            </a:r>
            <a:endParaRPr lang="es-P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161B6CC-AF35-49FD-AA2F-48F8BBF42B0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s-P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Así nadie espera a nadie: el mock se reemplaza por la lógica real a lo largo de la semana. El domingo se integra todo en el docker-compose con los 11 contenedores: PostgreSQL, los 9 servicios y la web. El lunes se ejecutan las matrices de prueba, se completa la documentación y se ensaya la demo.</a:t>
            </a:r>
            <a:endParaRPr lang="es-P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0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D5FD14A-E513-450F-AB65-52F7B60FF1A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s-P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Aquí mostramos 4 casos de cada tipo; las matrices completas están en la sección 8 del documento. Caja blanca: lectura del CSV, Poisson, quitar el margen, valor esperado, liquidación, registro de usuarios y filtro JWT. Caja negra: registro, accesos sin token o sin rol, rutas internas bloqueadas, ingesta manual, análisis en menos de 2 segundos, servicio caído y rendimiento.</a:t>
            </a:r>
            <a:endParaRPr lang="es-P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3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1FC0897-F49E-4C1C-A976-77B30D20789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s-P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Hoy la liquidación corre cada día a una hora fija; con mensajería asíncrona se haría en cuanto termina el partido. Varias de estas mejoras de datos y de modelo ya existen en la versión monolítica del proyecto en Python, de donde partió esta versión simplificada.</a:t>
            </a:r>
            <a:endParaRPr lang="es-P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D817D8C-2D3E-4766-A67A-65253B11974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s-P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Cerrar recordando el mensaje de honestidad del RNF-08 y abrir la ronda de preguntas. Si hay tiempo, mostrar la demo con docker compose up y el panel de Eureka.</a:t>
            </a:r>
            <a:endParaRPr lang="es-P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9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661BB41-FBB7-489D-9544-DB272A6F42A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s-P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body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812880" y="1102320"/>
            <a:ext cx="10566000" cy="40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s-PE" sz="2800" b="0" u="none" strike="noStrike">
                <a:solidFill>
                  <a:schemeClr val="dk1"/>
                </a:solidFill>
                <a:effectLst/>
                <a:uFillTx/>
                <a:latin typeface="Public Sans"/>
              </a:defRPr>
            </a:lvl1pPr>
          </a:lstStyle>
          <a:p>
            <a:pPr indent="0" algn="l">
              <a:buNone/>
            </a:pPr>
            <a:r>
              <a:rPr lang="es-PE" sz="2800" b="0" u="none" strike="noStrike">
                <a:solidFill>
                  <a:schemeClr val="dk1"/>
                </a:solidFill>
                <a:effectLst/>
                <a:uFillTx/>
                <a:latin typeface="Public Sans"/>
              </a:rPr>
              <a:t>Click to edit the title </a:t>
            </a:r>
            <a:r>
              <a:rPr lang="es-PE" sz="2800" b="0" u="none" strike="noStrike">
                <a:solidFill>
                  <a:schemeClr val="dk1"/>
                </a:solidFill>
                <a:effectLst/>
                <a:uFillTx/>
                <a:latin typeface="Public Sans"/>
              </a:rPr>
              <a:t>text format</a:t>
            </a:r>
            <a:endParaRPr lang="es-PE" sz="2800" b="0" u="none" strike="noStrike">
              <a:solidFill>
                <a:schemeClr val="dk1"/>
              </a:solidFill>
              <a:effectLst/>
              <a:uFillTx/>
              <a:latin typeface="Public San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812880" y="1815840"/>
            <a:ext cx="10566000" cy="422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PE" sz="1600" b="0" u="none" strike="noStrike">
                <a:solidFill>
                  <a:schemeClr val="dk1"/>
                </a:solidFill>
                <a:effectLst/>
                <a:uFillTx/>
                <a:latin typeface="Public San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PE" sz="1600" b="0" u="none" strike="noStrike">
                <a:solidFill>
                  <a:schemeClr val="dk1"/>
                </a:solidFill>
                <a:effectLst/>
                <a:uFillTx/>
                <a:latin typeface="Public San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PE" sz="1600" b="0" u="none" strike="noStrike">
                <a:solidFill>
                  <a:schemeClr val="dk1"/>
                </a:solidFill>
                <a:effectLst/>
                <a:uFillTx/>
                <a:latin typeface="Public San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PE" sz="1600" b="0" u="none" strike="noStrike">
                <a:solidFill>
                  <a:schemeClr val="dk1"/>
                </a:solidFill>
                <a:effectLst/>
                <a:uFillTx/>
                <a:latin typeface="Public San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PE" sz="1600" b="0" u="none" strike="noStrike">
                <a:solidFill>
                  <a:schemeClr val="dk1"/>
                </a:solidFill>
                <a:effectLst/>
                <a:uFillTx/>
                <a:latin typeface="Public San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PE" sz="1600" b="0" u="none" strike="noStrike">
                <a:solidFill>
                  <a:schemeClr val="dk1"/>
                </a:solidFill>
                <a:effectLst/>
                <a:uFillTx/>
                <a:latin typeface="Public San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PE" sz="1600" b="0" u="none" strike="noStrike">
                <a:solidFill>
                  <a:schemeClr val="dk1"/>
                </a:solidFill>
                <a:effectLst/>
                <a:uFillTx/>
                <a:latin typeface="Public Sans"/>
              </a:defRPr>
            </a:lvl7pPr>
          </a:lstStyle>
          <a:p>
            <a: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PE" sz="1600" b="0" u="none" strike="noStrike">
                <a:solidFill>
                  <a:schemeClr val="dk1"/>
                </a:solidFill>
                <a:effectLst/>
                <a:uFillTx/>
                <a:latin typeface="Public Sans"/>
              </a:rPr>
              <a:t>Click to edit the outline text format</a:t>
            </a:r>
            <a:endParaRPr lang="es-PE" sz="1600" b="0" u="none" strike="noStrike">
              <a:solidFill>
                <a:schemeClr val="dk1"/>
              </a:solidFill>
              <a:effectLst/>
              <a:uFillTx/>
              <a:latin typeface="Public Sans"/>
            </a:endParaRPr>
          </a:p>
          <a:p>
            <a:pPr marL="743040" lvl="1" indent="-28584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PE" sz="1600" b="0" u="none" strike="noStrike">
                <a:solidFill>
                  <a:schemeClr val="dk1"/>
                </a:solidFill>
                <a:effectLst/>
                <a:uFillTx/>
                <a:latin typeface="Public Sans"/>
              </a:rPr>
              <a:t>Second Outline Level</a:t>
            </a:r>
            <a:endParaRPr lang="es-PE" sz="1600" b="0" u="none" strike="noStrike">
              <a:solidFill>
                <a:schemeClr val="dk1"/>
              </a:solidFill>
              <a:effectLst/>
              <a:uFillTx/>
              <a:latin typeface="Public Sans"/>
            </a:endParaRPr>
          </a:p>
          <a:p>
            <a:pPr marL="1143000" lvl="2" indent="-2286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PE" sz="1600" b="0" u="none" strike="noStrike">
                <a:solidFill>
                  <a:schemeClr val="dk1"/>
                </a:solidFill>
                <a:effectLst/>
                <a:uFillTx/>
                <a:latin typeface="Public Sans"/>
              </a:rPr>
              <a:t>Third Outline Level</a:t>
            </a:r>
            <a:endParaRPr lang="es-PE" sz="1600" b="0" u="none" strike="noStrike">
              <a:solidFill>
                <a:schemeClr val="dk1"/>
              </a:solidFill>
              <a:effectLst/>
              <a:uFillTx/>
              <a:latin typeface="Public Sans"/>
            </a:endParaRPr>
          </a:p>
          <a:p>
            <a:pPr marL="1600200" lvl="3" indent="-2286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PE" sz="1600" b="0" u="none" strike="noStrike">
                <a:solidFill>
                  <a:schemeClr val="dk1"/>
                </a:solidFill>
                <a:effectLst/>
                <a:uFillTx/>
                <a:latin typeface="Public Sans"/>
              </a:rPr>
              <a:t>Fourth Outline Level</a:t>
            </a:r>
            <a:endParaRPr lang="es-PE" sz="1600" b="0" u="none" strike="noStrike">
              <a:solidFill>
                <a:schemeClr val="dk1"/>
              </a:solidFill>
              <a:effectLst/>
              <a:uFillTx/>
              <a:latin typeface="Public Sans"/>
            </a:endParaRPr>
          </a:p>
          <a:p>
            <a:pPr marL="2057400" lvl="4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PE" sz="1600" b="0" u="none" strike="noStrike">
                <a:solidFill>
                  <a:schemeClr val="dk1"/>
                </a:solidFill>
                <a:effectLst/>
                <a:uFillTx/>
                <a:latin typeface="Public Sans"/>
              </a:rPr>
              <a:t>Fifth Outline Level</a:t>
            </a:r>
            <a:endParaRPr lang="es-PE" sz="1600" b="0" u="none" strike="noStrike">
              <a:solidFill>
                <a:schemeClr val="dk1"/>
              </a:solidFill>
              <a:effectLst/>
              <a:uFillTx/>
              <a:latin typeface="Public Sans"/>
            </a:endParaRPr>
          </a:p>
          <a:p>
            <a:pPr marL="25146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PE" sz="1600" b="0" u="none" strike="noStrike">
                <a:solidFill>
                  <a:schemeClr val="dk1"/>
                </a:solidFill>
                <a:effectLst/>
                <a:uFillTx/>
                <a:latin typeface="Public Sans"/>
              </a:rPr>
              <a:t>Sixth Outline Level</a:t>
            </a:r>
            <a:endParaRPr lang="es-PE" sz="1600" b="0" u="none" strike="noStrike">
              <a:solidFill>
                <a:schemeClr val="dk1"/>
              </a:solidFill>
              <a:effectLst/>
              <a:uFillTx/>
              <a:latin typeface="Public Sans"/>
            </a:endParaRPr>
          </a:p>
          <a:p>
            <a:pPr marL="29718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PE" sz="1600" b="0" u="none" strike="noStrike">
                <a:solidFill>
                  <a:schemeClr val="dk1"/>
                </a:solidFill>
                <a:effectLst/>
                <a:uFillTx/>
                <a:latin typeface="Public Sans"/>
              </a:rPr>
              <a:t>Seventh Outline Level</a:t>
            </a:r>
            <a:endParaRPr lang="es-PE" sz="1600" b="0" u="none" strike="noStrike">
              <a:solidFill>
                <a:schemeClr val="dk1"/>
              </a:solidFill>
              <a:effectLst/>
              <a:uFillTx/>
              <a:latin typeface="Public San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5.png"/><Relationship Id="rId3" Type="http://schemas.openxmlformats.org/officeDocument/2006/relationships/image" Target="../media/image5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202680" cy="6857640"/>
          </a:xfrm>
          <a:prstGeom prst="rect">
            <a:avLst/>
          </a:prstGeom>
          <a:solidFill>
            <a:srgbClr val="0E2A4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P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" name="Image 0" descr="Escudo de la Universidad Nacional de Ucayali"/>
          <p:cNvPicPr/>
          <p:nvPr/>
        </p:nvPicPr>
        <p:blipFill>
          <a:blip r:embed="rId1"/>
          <a:srcRect l="-359" t="0" r="-359" b="0"/>
          <a:stretch/>
        </p:blipFill>
        <p:spPr>
          <a:xfrm>
            <a:off x="1015920" y="609480"/>
            <a:ext cx="863280" cy="1015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" name="Text 1"/>
          <p:cNvSpPr/>
          <p:nvPr/>
        </p:nvSpPr>
        <p:spPr>
          <a:xfrm>
            <a:off x="2133720" y="723960"/>
            <a:ext cx="828000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239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E2A4F"/>
                </a:solidFill>
                <a:effectLst/>
                <a:uFillTx/>
                <a:latin typeface="Libre Baskerville"/>
                <a:ea typeface="Libre Baskerville"/>
              </a:rPr>
              <a:t>Universidad Nacional de Ucayali</a:t>
            </a:r>
            <a:endParaRPr lang="es-P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2"/>
          <p:cNvSpPr/>
          <p:nvPr/>
        </p:nvSpPr>
        <p:spPr>
          <a:xfrm>
            <a:off x="2133720" y="1046520"/>
            <a:ext cx="828000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A5568"/>
                </a:solidFill>
                <a:effectLst/>
                <a:uFillTx/>
                <a:latin typeface="Public Sans"/>
                <a:ea typeface="Public Sans"/>
              </a:rPr>
              <a:t>Facultad de </a:t>
            </a:r>
            <a:r>
              <a:rPr lang="en-US" sz="1200" b="0" u="none" strike="noStrike">
                <a:solidFill>
                  <a:srgbClr val="4A5568"/>
                </a:solidFill>
                <a:effectLst/>
                <a:uFillTx/>
                <a:latin typeface="Public Sans"/>
                <a:ea typeface="Public Sans"/>
              </a:rPr>
              <a:t>Ingeniería </a:t>
            </a:r>
            <a:r>
              <a:rPr lang="en-US" sz="1200" b="0" u="none" strike="noStrike">
                <a:solidFill>
                  <a:srgbClr val="4A5568"/>
                </a:solidFill>
                <a:effectLst/>
                <a:uFillTx/>
                <a:latin typeface="Public Sans"/>
                <a:ea typeface="Public Sans"/>
              </a:rPr>
              <a:t>de Sistemas </a:t>
            </a:r>
            <a:r>
              <a:rPr lang="en-US" sz="1200" b="0" u="none" strike="noStrike">
                <a:solidFill>
                  <a:srgbClr val="4A5568"/>
                </a:solidFill>
                <a:effectLst/>
                <a:uFillTx/>
                <a:latin typeface="Public Sans"/>
                <a:ea typeface="Public Sans"/>
              </a:rPr>
              <a:t>e Ingeniería </a:t>
            </a:r>
            <a:r>
              <a:rPr lang="en-US" sz="1200" b="0" u="none" strike="noStrike">
                <a:solidFill>
                  <a:srgbClr val="4A5568"/>
                </a:solidFill>
                <a:effectLst/>
                <a:uFillTx/>
                <a:latin typeface="Public Sans"/>
                <a:ea typeface="Public Sans"/>
              </a:rPr>
              <a:t>Civil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3"/>
          <p:cNvSpPr/>
          <p:nvPr/>
        </p:nvSpPr>
        <p:spPr>
          <a:xfrm>
            <a:off x="2133720" y="1297800"/>
            <a:ext cx="828000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A5568"/>
                </a:solidFill>
                <a:effectLst/>
                <a:uFillTx/>
                <a:latin typeface="Public Sans"/>
                <a:ea typeface="Public Sans"/>
              </a:rPr>
              <a:t>Escuela </a:t>
            </a:r>
            <a:r>
              <a:rPr lang="en-US" sz="1200" b="0" u="none" strike="noStrike">
                <a:solidFill>
                  <a:srgbClr val="4A5568"/>
                </a:solidFill>
                <a:effectLst/>
                <a:uFillTx/>
                <a:latin typeface="Public Sans"/>
                <a:ea typeface="Public Sans"/>
              </a:rPr>
              <a:t>Profesional </a:t>
            </a:r>
            <a:r>
              <a:rPr lang="en-US" sz="1200" b="0" u="none" strike="noStrike">
                <a:solidFill>
                  <a:srgbClr val="4A5568"/>
                </a:solidFill>
                <a:effectLst/>
                <a:uFillTx/>
                <a:latin typeface="Public Sans"/>
                <a:ea typeface="Public Sans"/>
              </a:rPr>
              <a:t>de </a:t>
            </a:r>
            <a:r>
              <a:rPr lang="en-US" sz="1200" b="0" u="none" strike="noStrike">
                <a:solidFill>
                  <a:srgbClr val="4A5568"/>
                </a:solidFill>
                <a:effectLst/>
                <a:uFillTx/>
                <a:latin typeface="Public Sans"/>
                <a:ea typeface="Public Sans"/>
              </a:rPr>
              <a:t>Ingeniería </a:t>
            </a:r>
            <a:r>
              <a:rPr lang="en-US" sz="1200" b="0" u="none" strike="noStrike">
                <a:solidFill>
                  <a:srgbClr val="4A5568"/>
                </a:solidFill>
                <a:effectLst/>
                <a:uFillTx/>
                <a:latin typeface="Public Sans"/>
                <a:ea typeface="Public Sans"/>
              </a:rPr>
              <a:t>de Sistemas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" name="Image 1" descr="Logo de la Escuela Profesional de Ingeniería de Sistemas"/>
          <p:cNvPicPr/>
          <p:nvPr/>
        </p:nvPicPr>
        <p:blipFill>
          <a:blip r:embed="rId2"/>
          <a:stretch/>
        </p:blipFill>
        <p:spPr>
          <a:xfrm>
            <a:off x="10426680" y="641520"/>
            <a:ext cx="952200" cy="952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" name="Text 4"/>
          <p:cNvSpPr/>
          <p:nvPr/>
        </p:nvSpPr>
        <p:spPr>
          <a:xfrm>
            <a:off x="1015920" y="2516760"/>
            <a:ext cx="1067364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1" u="none" spc="150" strike="noStrike">
                <a:solidFill>
                  <a:srgbClr val="8A6410"/>
                </a:solidFill>
                <a:effectLst/>
                <a:uFillTx/>
                <a:latin typeface="Public Sans"/>
                <a:ea typeface="Public Sans"/>
              </a:rPr>
              <a:t>TALLER DE </a:t>
            </a:r>
            <a:r>
              <a:rPr lang="en-US" sz="1200" b="1" u="none" spc="150" strike="noStrike">
                <a:solidFill>
                  <a:srgbClr val="8A6410"/>
                </a:solidFill>
                <a:effectLst/>
                <a:uFillTx/>
                <a:latin typeface="Public Sans"/>
                <a:ea typeface="Public Sans"/>
              </a:rPr>
              <a:t>DESARROL</a:t>
            </a:r>
            <a:r>
              <a:rPr lang="en-US" sz="1200" b="1" u="none" spc="150" strike="noStrike">
                <a:solidFill>
                  <a:srgbClr val="8A6410"/>
                </a:solidFill>
                <a:effectLst/>
                <a:uFillTx/>
                <a:latin typeface="Public Sans"/>
                <a:ea typeface="Public Sans"/>
              </a:rPr>
              <a:t>LO · </a:t>
            </a:r>
            <a:r>
              <a:rPr lang="en-US" sz="1200" b="1" u="none" spc="150" strike="noStrike">
                <a:solidFill>
                  <a:srgbClr val="8A6410"/>
                </a:solidFill>
                <a:effectLst/>
                <a:uFillTx/>
                <a:latin typeface="Public Sans"/>
                <a:ea typeface="Public Sans"/>
              </a:rPr>
              <a:t>PROYECT</a:t>
            </a:r>
            <a:r>
              <a:rPr lang="en-US" sz="1200" b="1" u="none" spc="150" strike="noStrike">
                <a:solidFill>
                  <a:srgbClr val="8A6410"/>
                </a:solidFill>
                <a:effectLst/>
                <a:uFillTx/>
                <a:latin typeface="Public Sans"/>
                <a:ea typeface="Public Sans"/>
              </a:rPr>
              <a:t>O DE LA </a:t>
            </a:r>
            <a:r>
              <a:rPr lang="en-US" sz="1200" b="1" u="none" spc="150" strike="noStrike">
                <a:solidFill>
                  <a:srgbClr val="8A6410"/>
                </a:solidFill>
                <a:effectLst/>
                <a:uFillTx/>
                <a:latin typeface="Public Sans"/>
                <a:ea typeface="Public Sans"/>
              </a:rPr>
              <a:t>SEMANA 1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1015920" y="2907720"/>
            <a:ext cx="9810360" cy="1251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4830"/>
              </a:lnSpc>
              <a:buNone/>
              <a:tabLst>
                <a:tab pos="0" algn="l"/>
              </a:tabLst>
            </a:pPr>
            <a:r>
              <a:rPr lang="en-US" sz="4200" b="1" u="none" strike="noStrike">
                <a:solidFill>
                  <a:srgbClr val="0E2A4F"/>
                </a:solidFill>
                <a:effectLst/>
                <a:uFillTx/>
                <a:latin typeface="Libre Baskerville"/>
                <a:ea typeface="Libre Baskerville"/>
              </a:rPr>
              <a:t>An</a:t>
            </a:r>
            <a:r>
              <a:rPr lang="en-US" sz="4200" b="1" u="none" strike="noStrike">
                <a:solidFill>
                  <a:srgbClr val="0E2A4F"/>
                </a:solidFill>
                <a:effectLst/>
                <a:uFillTx/>
                <a:latin typeface="Libre Baskerville"/>
                <a:ea typeface="Libre Baskerville"/>
              </a:rPr>
              <a:t>ali</a:t>
            </a:r>
            <a:r>
              <a:rPr lang="en-US" sz="4200" b="1" u="none" strike="noStrike">
                <a:solidFill>
                  <a:srgbClr val="0E2A4F"/>
                </a:solidFill>
                <a:effectLst/>
                <a:uFillTx/>
                <a:latin typeface="Libre Baskerville"/>
                <a:ea typeface="Libre Baskerville"/>
              </a:rPr>
              <a:t>zad</a:t>
            </a:r>
            <a:r>
              <a:rPr lang="en-US" sz="4200" b="1" u="none" strike="noStrike">
                <a:solidFill>
                  <a:srgbClr val="0E2A4F"/>
                </a:solidFill>
                <a:effectLst/>
                <a:uFillTx/>
                <a:latin typeface="Libre Baskerville"/>
                <a:ea typeface="Libre Baskerville"/>
              </a:rPr>
              <a:t>or </a:t>
            </a:r>
            <a:r>
              <a:rPr lang="en-US" sz="4200" b="1" u="none" strike="noStrike">
                <a:solidFill>
                  <a:srgbClr val="0E2A4F"/>
                </a:solidFill>
                <a:effectLst/>
                <a:uFillTx/>
                <a:latin typeface="Libre Baskerville"/>
                <a:ea typeface="Libre Baskerville"/>
              </a:rPr>
              <a:t>de </a:t>
            </a:r>
            <a:r>
              <a:rPr lang="en-US" sz="4200" b="1" u="none" strike="noStrike">
                <a:solidFill>
                  <a:srgbClr val="0E2A4F"/>
                </a:solidFill>
                <a:effectLst/>
                <a:uFillTx/>
                <a:latin typeface="Libre Baskerville"/>
                <a:ea typeface="Libre Baskerville"/>
              </a:rPr>
              <a:t>ap</a:t>
            </a:r>
            <a:r>
              <a:rPr lang="en-US" sz="4200" b="1" u="none" strike="noStrike">
                <a:solidFill>
                  <a:srgbClr val="0E2A4F"/>
                </a:solidFill>
                <a:effectLst/>
                <a:uFillTx/>
                <a:latin typeface="Libre Baskerville"/>
                <a:ea typeface="Libre Baskerville"/>
              </a:rPr>
              <a:t>ues</a:t>
            </a:r>
            <a:r>
              <a:rPr lang="en-US" sz="4200" b="1" u="none" strike="noStrike">
                <a:solidFill>
                  <a:srgbClr val="0E2A4F"/>
                </a:solidFill>
                <a:effectLst/>
                <a:uFillTx/>
                <a:latin typeface="Libre Baskerville"/>
                <a:ea typeface="Libre Baskerville"/>
              </a:rPr>
              <a:t>tas </a:t>
            </a:r>
            <a:r>
              <a:rPr lang="en-US" sz="4200" b="1" u="none" strike="noStrike">
                <a:solidFill>
                  <a:srgbClr val="0E2A4F"/>
                </a:solidFill>
                <a:effectLst/>
                <a:uFillTx/>
                <a:latin typeface="Libre Baskerville"/>
                <a:ea typeface="Libre Baskerville"/>
              </a:rPr>
              <a:t>de </a:t>
            </a:r>
            <a:r>
              <a:rPr lang="en-US" sz="4200" b="1" u="none" strike="noStrike">
                <a:solidFill>
                  <a:srgbClr val="0E2A4F"/>
                </a:solidFill>
                <a:effectLst/>
                <a:uFillTx/>
                <a:latin typeface="Libre Baskerville"/>
                <a:ea typeface="Libre Baskerville"/>
              </a:rPr>
              <a:t>fút</a:t>
            </a:r>
            <a:r>
              <a:rPr lang="en-US" sz="4200" b="1" u="none" strike="noStrike">
                <a:solidFill>
                  <a:srgbClr val="0E2A4F"/>
                </a:solidFill>
                <a:effectLst/>
                <a:uFillTx/>
                <a:latin typeface="Libre Baskerville"/>
                <a:ea typeface="Libre Baskerville"/>
              </a:rPr>
              <a:t>bol </a:t>
            </a:r>
            <a:r>
              <a:rPr lang="en-US" sz="4200" b="1" u="none" strike="noStrike">
                <a:solidFill>
                  <a:srgbClr val="0E2A4F"/>
                </a:solidFill>
                <a:effectLst/>
                <a:uFillTx/>
                <a:latin typeface="Libre Baskerville"/>
                <a:ea typeface="Libre Baskerville"/>
              </a:rPr>
              <a:t>co</a:t>
            </a:r>
            <a:r>
              <a:rPr lang="en-US" sz="4200" b="1" u="none" strike="noStrike">
                <a:solidFill>
                  <a:srgbClr val="0E2A4F"/>
                </a:solidFill>
                <a:effectLst/>
                <a:uFillTx/>
                <a:latin typeface="Libre Baskerville"/>
                <a:ea typeface="Libre Baskerville"/>
              </a:rPr>
              <a:t>n </a:t>
            </a:r>
            <a:r>
              <a:rPr lang="en-US" sz="4200" b="1" u="none" strike="noStrike">
                <a:solidFill>
                  <a:srgbClr val="0E2A4F"/>
                </a:solidFill>
                <a:effectLst/>
                <a:uFillTx/>
                <a:latin typeface="Libre Baskerville"/>
                <a:ea typeface="Libre Baskerville"/>
              </a:rPr>
              <a:t>mi</a:t>
            </a:r>
            <a:r>
              <a:rPr lang="en-US" sz="4200" b="1" u="none" strike="noStrike">
                <a:solidFill>
                  <a:srgbClr val="0E2A4F"/>
                </a:solidFill>
                <a:effectLst/>
                <a:uFillTx/>
                <a:latin typeface="Libre Baskerville"/>
                <a:ea typeface="Libre Baskerville"/>
              </a:rPr>
              <a:t>cro</a:t>
            </a:r>
            <a:r>
              <a:rPr lang="en-US" sz="4200" b="1" u="none" strike="noStrike">
                <a:solidFill>
                  <a:srgbClr val="0E2A4F"/>
                </a:solidFill>
                <a:effectLst/>
                <a:uFillTx/>
                <a:latin typeface="Libre Baskerville"/>
                <a:ea typeface="Libre Baskerville"/>
              </a:rPr>
              <a:t>ser</a:t>
            </a:r>
            <a:r>
              <a:rPr lang="en-US" sz="4200" b="1" u="none" strike="noStrike">
                <a:solidFill>
                  <a:srgbClr val="0E2A4F"/>
                </a:solidFill>
                <a:effectLst/>
                <a:uFillTx/>
                <a:latin typeface="Libre Baskerville"/>
                <a:ea typeface="Libre Baskerville"/>
              </a:rPr>
              <a:t>vic</a:t>
            </a:r>
            <a:r>
              <a:rPr lang="en-US" sz="4200" b="1" u="none" strike="noStrike">
                <a:solidFill>
                  <a:srgbClr val="0E2A4F"/>
                </a:solidFill>
                <a:effectLst/>
                <a:uFillTx/>
                <a:latin typeface="Libre Baskerville"/>
                <a:ea typeface="Libre Baskerville"/>
              </a:rPr>
              <a:t>ios</a:t>
            </a:r>
            <a:endParaRPr lang="es-PE" sz="4200" b="0" u="none" strike="noStrike">
              <a:solidFill>
                <a:schemeClr val="dk1"/>
              </a:solidFill>
              <a:effectLst/>
              <a:uFillTx/>
              <a:latin typeface="Public Sans"/>
            </a:endParaRPr>
          </a:p>
        </p:txBody>
      </p:sp>
      <p:sp>
        <p:nvSpPr>
          <p:cNvPr id="18" name="Shape 6"/>
          <p:cNvSpPr/>
          <p:nvPr/>
        </p:nvSpPr>
        <p:spPr>
          <a:xfrm>
            <a:off x="1015920" y="4312080"/>
            <a:ext cx="1015560" cy="37800"/>
          </a:xfrm>
          <a:prstGeom prst="rect">
            <a:avLst/>
          </a:prstGeom>
          <a:solidFill>
            <a:srgbClr val="C9971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pPr/>
            <a:endParaRPr lang="es-P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7"/>
          <p:cNvSpPr/>
          <p:nvPr/>
        </p:nvSpPr>
        <p:spPr>
          <a:xfrm>
            <a:off x="1015920" y="5241240"/>
            <a:ext cx="436752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1" u="none" spc="99" strike="noStrike">
                <a:solidFill>
                  <a:srgbClr val="8A6410"/>
                </a:solidFill>
                <a:effectLst/>
                <a:uFillTx/>
                <a:latin typeface="Public Sans"/>
                <a:ea typeface="Public Sans"/>
              </a:rPr>
              <a:t>GRUPO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8"/>
          <p:cNvSpPr/>
          <p:nvPr/>
        </p:nvSpPr>
        <p:spPr>
          <a:xfrm>
            <a:off x="1015920" y="5505480"/>
            <a:ext cx="4367520" cy="76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Marquina </a:t>
            </a:r>
            <a:r>
              <a:rPr lang="en-US" sz="13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Diaz, Joseph </a:t>
            </a:r>
            <a:r>
              <a:rPr lang="en-US" sz="13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Jonnier</a:t>
            </a:r>
            <a:endParaRPr lang="es-P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95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Tenazoa </a:t>
            </a:r>
            <a:r>
              <a:rPr lang="en-US" sz="13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Nuñez, </a:t>
            </a:r>
            <a:r>
              <a:rPr lang="en-US" sz="13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Renzo Fares</a:t>
            </a:r>
            <a:endParaRPr lang="es-P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95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Lima Cora, </a:t>
            </a:r>
            <a:r>
              <a:rPr lang="en-US" sz="13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Guillermo</a:t>
            </a:r>
            <a:endParaRPr lang="es-P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9"/>
          <p:cNvSpPr/>
          <p:nvPr/>
        </p:nvSpPr>
        <p:spPr>
          <a:xfrm>
            <a:off x="5561280" y="5241240"/>
            <a:ext cx="28389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1" u="none" spc="99" strike="noStrike">
                <a:solidFill>
                  <a:srgbClr val="8A6410"/>
                </a:solidFill>
                <a:effectLst/>
                <a:uFillTx/>
                <a:latin typeface="Public Sans"/>
                <a:ea typeface="Public Sans"/>
              </a:rPr>
              <a:t>DOCENTE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10"/>
          <p:cNvSpPr/>
          <p:nvPr/>
        </p:nvSpPr>
        <p:spPr>
          <a:xfrm>
            <a:off x="5561280" y="5505480"/>
            <a:ext cx="28389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Dr. Leon </a:t>
            </a:r>
            <a:r>
              <a:rPr lang="en-US" sz="13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Esteban </a:t>
            </a:r>
            <a:r>
              <a:rPr lang="en-US" sz="13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Flores </a:t>
            </a:r>
            <a:r>
              <a:rPr lang="en-US" sz="13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Saldaña</a:t>
            </a:r>
            <a:endParaRPr lang="es-P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1"/>
          <p:cNvSpPr/>
          <p:nvPr/>
        </p:nvSpPr>
        <p:spPr>
          <a:xfrm>
            <a:off x="8622720" y="5241240"/>
            <a:ext cx="28389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1" u="none" spc="99" strike="noStrike">
                <a:solidFill>
                  <a:srgbClr val="8A6410"/>
                </a:solidFill>
                <a:effectLst/>
                <a:uFillTx/>
                <a:latin typeface="Public Sans"/>
                <a:ea typeface="Public Sans"/>
              </a:rPr>
              <a:t>LUGAR Y </a:t>
            </a:r>
            <a:r>
              <a:rPr lang="en-US" sz="1200" b="1" u="none" spc="99" strike="noStrike">
                <a:solidFill>
                  <a:srgbClr val="8A6410"/>
                </a:solidFill>
                <a:effectLst/>
                <a:uFillTx/>
                <a:latin typeface="Public Sans"/>
                <a:ea typeface="Public Sans"/>
              </a:rPr>
              <a:t>FECHA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12"/>
          <p:cNvSpPr/>
          <p:nvPr/>
        </p:nvSpPr>
        <p:spPr>
          <a:xfrm>
            <a:off x="8622720" y="5505480"/>
            <a:ext cx="2838960" cy="52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Pucallpa, </a:t>
            </a:r>
            <a:r>
              <a:rPr lang="en-US" sz="13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Perú</a:t>
            </a:r>
            <a:endParaRPr lang="es-P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95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20 de </a:t>
            </a:r>
            <a:r>
              <a:rPr lang="en-US" sz="13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octubre de </a:t>
            </a:r>
            <a:r>
              <a:rPr lang="en-US" sz="13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2026</a:t>
            </a:r>
            <a:endParaRPr lang="es-P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E2A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0"/>
          <p:cNvSpPr/>
          <p:nvPr/>
        </p:nvSpPr>
        <p:spPr>
          <a:xfrm>
            <a:off x="0" y="0"/>
            <a:ext cx="151920" cy="6857640"/>
          </a:xfrm>
          <a:prstGeom prst="rect">
            <a:avLst/>
          </a:prstGeom>
          <a:solidFill>
            <a:srgbClr val="C9971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P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1"/>
          <p:cNvSpPr/>
          <p:nvPr/>
        </p:nvSpPr>
        <p:spPr>
          <a:xfrm>
            <a:off x="812880" y="1530360"/>
            <a:ext cx="108831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1" u="none" spc="99" strike="noStrike">
                <a:solidFill>
                  <a:srgbClr val="E3B54A"/>
                </a:solidFill>
                <a:effectLst/>
                <a:uFillTx/>
                <a:latin typeface="Public Sans"/>
                <a:ea typeface="Public Sans"/>
              </a:rPr>
              <a:t>1.1 · </a:t>
            </a:r>
            <a:r>
              <a:rPr lang="en-US" sz="1200" b="1" u="none" spc="99" strike="noStrike">
                <a:solidFill>
                  <a:srgbClr val="E3B54A"/>
                </a:solidFill>
                <a:effectLst/>
                <a:uFillTx/>
                <a:latin typeface="Public Sans"/>
                <a:ea typeface="Public Sans"/>
              </a:rPr>
              <a:t>PLANTEAM</a:t>
            </a:r>
            <a:r>
              <a:rPr lang="en-US" sz="1200" b="1" u="none" spc="99" strike="noStrike">
                <a:solidFill>
                  <a:srgbClr val="E3B54A"/>
                </a:solidFill>
                <a:effectLst/>
                <a:uFillTx/>
                <a:latin typeface="Public Sans"/>
                <a:ea typeface="Public Sans"/>
              </a:rPr>
              <a:t>IENTO DE </a:t>
            </a:r>
            <a:r>
              <a:rPr lang="en-US" sz="1200" b="1" u="none" spc="99" strike="noStrike">
                <a:solidFill>
                  <a:srgbClr val="E3B54A"/>
                </a:solidFill>
                <a:effectLst/>
                <a:uFillTx/>
                <a:latin typeface="Public Sans"/>
                <a:ea typeface="Public Sans"/>
              </a:rPr>
              <a:t>LA </a:t>
            </a:r>
            <a:r>
              <a:rPr lang="en-US" sz="1200" b="1" u="none" spc="99" strike="noStrike">
                <a:solidFill>
                  <a:srgbClr val="E3B54A"/>
                </a:solidFill>
                <a:effectLst/>
                <a:uFillTx/>
                <a:latin typeface="Public Sans"/>
                <a:ea typeface="Public Sans"/>
              </a:rPr>
              <a:t>PROBLEMÁ</a:t>
            </a:r>
            <a:r>
              <a:rPr lang="en-US" sz="1200" b="1" u="none" spc="99" strike="noStrike">
                <a:solidFill>
                  <a:srgbClr val="E3B54A"/>
                </a:solidFill>
                <a:effectLst/>
                <a:uFillTx/>
                <a:latin typeface="Public Sans"/>
                <a:ea typeface="Public Sans"/>
              </a:rPr>
              <a:t>TICA</a:t>
            </a:r>
            <a:endParaRPr lang="es-PE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12880" y="1896120"/>
            <a:ext cx="10202760" cy="1000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84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FBFAF6"/>
                </a:solidFill>
                <a:effectLst/>
                <a:uFillTx/>
                <a:latin typeface="Libre Baskerville"/>
                <a:ea typeface="Libre Baskerville"/>
              </a:rPr>
              <a:t>Qui</a:t>
            </a:r>
            <a:r>
              <a:rPr lang="en-US" sz="3200" b="1" u="none" strike="noStrike">
                <a:solidFill>
                  <a:srgbClr val="FBFAF6"/>
                </a:solidFill>
                <a:effectLst/>
                <a:uFillTx/>
                <a:latin typeface="Libre Baskerville"/>
                <a:ea typeface="Libre Baskerville"/>
              </a:rPr>
              <a:t>en </a:t>
            </a:r>
            <a:r>
              <a:rPr lang="en-US" sz="3200" b="1" u="none" strike="noStrike">
                <a:solidFill>
                  <a:srgbClr val="FBFAF6"/>
                </a:solidFill>
                <a:effectLst/>
                <a:uFillTx/>
                <a:latin typeface="Libre Baskerville"/>
                <a:ea typeface="Libre Baskerville"/>
              </a:rPr>
              <a:t>apu</a:t>
            </a:r>
            <a:r>
              <a:rPr lang="en-US" sz="3200" b="1" u="none" strike="noStrike">
                <a:solidFill>
                  <a:srgbClr val="FBFAF6"/>
                </a:solidFill>
                <a:effectLst/>
                <a:uFillTx/>
                <a:latin typeface="Libre Baskerville"/>
                <a:ea typeface="Libre Baskerville"/>
              </a:rPr>
              <a:t>esta </a:t>
            </a:r>
            <a:r>
              <a:rPr lang="en-US" sz="3200" b="1" u="none" strike="noStrike">
                <a:solidFill>
                  <a:srgbClr val="FBFAF6"/>
                </a:solidFill>
                <a:effectLst/>
                <a:uFillTx/>
                <a:latin typeface="Libre Baskerville"/>
                <a:ea typeface="Libre Baskerville"/>
              </a:rPr>
              <a:t>en </a:t>
            </a:r>
            <a:r>
              <a:rPr lang="en-US" sz="3200" b="1" u="none" strike="noStrike">
                <a:solidFill>
                  <a:srgbClr val="FBFAF6"/>
                </a:solidFill>
                <a:effectLst/>
                <a:uFillTx/>
                <a:latin typeface="Libre Baskerville"/>
                <a:ea typeface="Libre Baskerville"/>
              </a:rPr>
              <a:t>fútb</a:t>
            </a:r>
            <a:r>
              <a:rPr lang="en-US" sz="3200" b="1" u="none" strike="noStrike">
                <a:solidFill>
                  <a:srgbClr val="FBFAF6"/>
                </a:solidFill>
                <a:effectLst/>
                <a:uFillTx/>
                <a:latin typeface="Libre Baskerville"/>
                <a:ea typeface="Libre Baskerville"/>
              </a:rPr>
              <a:t>ol </a:t>
            </a:r>
            <a:r>
              <a:rPr lang="en-US" sz="3200" b="1" u="none" strike="noStrike">
                <a:solidFill>
                  <a:srgbClr val="FBFAF6"/>
                </a:solidFill>
                <a:effectLst/>
                <a:uFillTx/>
                <a:latin typeface="Libre Baskerville"/>
                <a:ea typeface="Libre Baskerville"/>
              </a:rPr>
              <a:t>des</a:t>
            </a:r>
            <a:r>
              <a:rPr lang="en-US" sz="3200" b="1" u="none" strike="noStrike">
                <a:solidFill>
                  <a:srgbClr val="FBFAF6"/>
                </a:solidFill>
                <a:effectLst/>
                <a:uFillTx/>
                <a:latin typeface="Libre Baskerville"/>
                <a:ea typeface="Libre Baskerville"/>
              </a:rPr>
              <a:t>de </a:t>
            </a:r>
            <a:r>
              <a:rPr lang="en-US" sz="3200" b="1" u="none" strike="noStrike">
                <a:solidFill>
                  <a:srgbClr val="FBFAF6"/>
                </a:solidFill>
                <a:effectLst/>
                <a:uFillTx/>
                <a:latin typeface="Libre Baskerville"/>
                <a:ea typeface="Libre Baskerville"/>
              </a:rPr>
              <a:t>el </a:t>
            </a:r>
            <a:r>
              <a:rPr lang="en-US" sz="3200" b="1" u="none" strike="noStrike">
                <a:solidFill>
                  <a:srgbClr val="FBFAF6"/>
                </a:solidFill>
                <a:effectLst/>
                <a:uFillTx/>
                <a:latin typeface="Libre Baskerville"/>
                <a:ea typeface="Libre Baskerville"/>
              </a:rPr>
              <a:t>Per</a:t>
            </a:r>
            <a:r>
              <a:rPr lang="en-US" sz="3200" b="1" u="none" strike="noStrike">
                <a:solidFill>
                  <a:srgbClr val="FBFAF6"/>
                </a:solidFill>
                <a:effectLst/>
                <a:uFillTx/>
                <a:latin typeface="Libre Baskerville"/>
                <a:ea typeface="Libre Baskerville"/>
              </a:rPr>
              <a:t>ú </a:t>
            </a:r>
            <a:r>
              <a:rPr lang="en-US" sz="3200" b="1" u="none" strike="noStrike">
                <a:solidFill>
                  <a:srgbClr val="FBFAF6"/>
                </a:solidFill>
                <a:effectLst/>
                <a:uFillTx/>
                <a:latin typeface="Libre Baskerville"/>
                <a:ea typeface="Libre Baskerville"/>
              </a:rPr>
              <a:t>deci</a:t>
            </a:r>
            <a:r>
              <a:rPr lang="en-US" sz="3200" b="1" u="none" strike="noStrike">
                <a:solidFill>
                  <a:srgbClr val="FBFAF6"/>
                </a:solidFill>
                <a:effectLst/>
                <a:uFillTx/>
                <a:latin typeface="Libre Baskerville"/>
                <a:ea typeface="Libre Baskerville"/>
              </a:rPr>
              <a:t>de, </a:t>
            </a:r>
            <a:r>
              <a:rPr lang="en-US" sz="3200" b="1" u="none" strike="noStrike">
                <a:solidFill>
                  <a:srgbClr val="FBFAF6"/>
                </a:solidFill>
                <a:effectLst/>
                <a:uFillTx/>
                <a:latin typeface="Libre Baskerville"/>
                <a:ea typeface="Libre Baskerville"/>
              </a:rPr>
              <a:t>casi </a:t>
            </a:r>
            <a:r>
              <a:rPr lang="en-US" sz="3200" b="1" u="none" strike="noStrike">
                <a:solidFill>
                  <a:srgbClr val="FBFAF6"/>
                </a:solidFill>
                <a:effectLst/>
                <a:uFillTx/>
                <a:latin typeface="Libre Baskerville"/>
                <a:ea typeface="Libre Baskerville"/>
              </a:rPr>
              <a:t>sie</a:t>
            </a:r>
            <a:r>
              <a:rPr lang="en-US" sz="3200" b="1" u="none" strike="noStrike">
                <a:solidFill>
                  <a:srgbClr val="FBFAF6"/>
                </a:solidFill>
                <a:effectLst/>
                <a:uFillTx/>
                <a:latin typeface="Libre Baskerville"/>
                <a:ea typeface="Libre Baskerville"/>
              </a:rPr>
              <a:t>mpr</a:t>
            </a:r>
            <a:r>
              <a:rPr lang="en-US" sz="3200" b="1" u="none" strike="noStrike">
                <a:solidFill>
                  <a:srgbClr val="FBFAF6"/>
                </a:solidFill>
                <a:effectLst/>
                <a:uFillTx/>
                <a:latin typeface="Libre Baskerville"/>
                <a:ea typeface="Libre Baskerville"/>
              </a:rPr>
              <a:t>e, </a:t>
            </a:r>
            <a:r>
              <a:rPr lang="en-US" sz="3200" b="1" u="none" strike="noStrike">
                <a:solidFill>
                  <a:srgbClr val="FBFAF6"/>
                </a:solidFill>
                <a:effectLst/>
                <a:uFillTx/>
                <a:latin typeface="Libre Baskerville"/>
                <a:ea typeface="Libre Baskerville"/>
              </a:rPr>
              <a:t>por </a:t>
            </a:r>
            <a:r>
              <a:rPr lang="en-US" sz="3200" b="1" u="none" strike="noStrike">
                <a:solidFill>
                  <a:srgbClr val="FBFAF6"/>
                </a:solidFill>
                <a:effectLst/>
                <a:uFillTx/>
                <a:latin typeface="Libre Baskerville"/>
                <a:ea typeface="Libre Baskerville"/>
              </a:rPr>
              <a:t>intu</a:t>
            </a:r>
            <a:r>
              <a:rPr lang="en-US" sz="3200" b="1" u="none" strike="noStrike">
                <a:solidFill>
                  <a:srgbClr val="FBFAF6"/>
                </a:solidFill>
                <a:effectLst/>
                <a:uFillTx/>
                <a:latin typeface="Libre Baskerville"/>
                <a:ea typeface="Libre Baskerville"/>
              </a:rPr>
              <a:t>ició</a:t>
            </a:r>
            <a:r>
              <a:rPr lang="en-US" sz="3200" b="1" u="none" strike="noStrike">
                <a:solidFill>
                  <a:srgbClr val="FBFAF6"/>
                </a:solidFill>
                <a:effectLst/>
                <a:uFillTx/>
                <a:latin typeface="Libre Baskerville"/>
                <a:ea typeface="Libre Baskerville"/>
              </a:rPr>
              <a:t>n.</a:t>
            </a:r>
            <a:endParaRPr lang="es-PE" sz="3200" b="0" u="none" strike="noStrike">
              <a:solidFill>
                <a:schemeClr val="dk1"/>
              </a:solidFill>
              <a:effectLst/>
              <a:uFillTx/>
              <a:latin typeface="Public Sans"/>
            </a:endParaRPr>
          </a:p>
        </p:txBody>
      </p:sp>
      <p:sp>
        <p:nvSpPr>
          <p:cNvPr id="28" name="Shape 3"/>
          <p:cNvSpPr/>
          <p:nvPr/>
        </p:nvSpPr>
        <p:spPr>
          <a:xfrm>
            <a:off x="812880" y="3227040"/>
            <a:ext cx="2526840" cy="952200"/>
          </a:xfrm>
          <a:prstGeom prst="rect">
            <a:avLst/>
          </a:prstGeom>
          <a:solidFill>
            <a:srgbClr val="16375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P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4"/>
          <p:cNvSpPr/>
          <p:nvPr/>
        </p:nvSpPr>
        <p:spPr>
          <a:xfrm>
            <a:off x="812520" y="3246120"/>
            <a:ext cx="2527560" cy="360"/>
          </a:xfrm>
          <a:prstGeom prst="line">
            <a:avLst/>
          </a:prstGeom>
          <a:ln w="38100">
            <a:solidFill>
              <a:srgbClr val="C997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s-P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5"/>
          <p:cNvSpPr/>
          <p:nvPr/>
        </p:nvSpPr>
        <p:spPr>
          <a:xfrm>
            <a:off x="1015920" y="3468240"/>
            <a:ext cx="218412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19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BFAF6"/>
                </a:solidFill>
                <a:effectLst/>
                <a:uFillTx/>
                <a:latin typeface="Public Sans"/>
                <a:ea typeface="Public Sans"/>
              </a:rPr>
              <a:t>Resultad</a:t>
            </a:r>
            <a:r>
              <a:rPr lang="en-US" sz="1600" b="1" u="none" strike="noStrike">
                <a:solidFill>
                  <a:srgbClr val="FBFAF6"/>
                </a:solidFill>
                <a:effectLst/>
                <a:uFillTx/>
                <a:latin typeface="Public Sans"/>
                <a:ea typeface="Public Sans"/>
              </a:rPr>
              <a:t>os</a:t>
            </a:r>
            <a:endParaRPr lang="es-PE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6"/>
          <p:cNvSpPr/>
          <p:nvPr/>
        </p:nvSpPr>
        <p:spPr>
          <a:xfrm>
            <a:off x="1015920" y="3763080"/>
            <a:ext cx="218412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5D0DE"/>
                </a:solidFill>
                <a:effectLst/>
                <a:uFillTx/>
                <a:latin typeface="Public Sans"/>
                <a:ea typeface="Public Sans"/>
              </a:rPr>
              <a:t>de cada </a:t>
            </a:r>
            <a:r>
              <a:rPr lang="en-US" sz="1200" b="0" u="none" strike="noStrike">
                <a:solidFill>
                  <a:srgbClr val="C5D0DE"/>
                </a:solidFill>
                <a:effectLst/>
                <a:uFillTx/>
                <a:latin typeface="Public Sans"/>
                <a:ea typeface="Public Sans"/>
              </a:rPr>
              <a:t>partido</a:t>
            </a:r>
            <a:endParaRPr lang="es-PE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7"/>
          <p:cNvSpPr/>
          <p:nvPr/>
        </p:nvSpPr>
        <p:spPr>
          <a:xfrm>
            <a:off x="3492360" y="3227040"/>
            <a:ext cx="2526840" cy="952200"/>
          </a:xfrm>
          <a:prstGeom prst="rect">
            <a:avLst/>
          </a:prstGeom>
          <a:solidFill>
            <a:srgbClr val="16375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P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8"/>
          <p:cNvSpPr/>
          <p:nvPr/>
        </p:nvSpPr>
        <p:spPr>
          <a:xfrm>
            <a:off x="3492360" y="3246120"/>
            <a:ext cx="2527200" cy="360"/>
          </a:xfrm>
          <a:prstGeom prst="line">
            <a:avLst/>
          </a:prstGeom>
          <a:ln w="38100">
            <a:solidFill>
              <a:srgbClr val="C997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s-P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9"/>
          <p:cNvSpPr/>
          <p:nvPr/>
        </p:nvSpPr>
        <p:spPr>
          <a:xfrm>
            <a:off x="3695760" y="3468240"/>
            <a:ext cx="218412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19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BFAF6"/>
                </a:solidFill>
                <a:effectLst/>
                <a:uFillTx/>
                <a:latin typeface="Public Sans"/>
                <a:ea typeface="Public Sans"/>
              </a:rPr>
              <a:t>Estadísti</a:t>
            </a:r>
            <a:r>
              <a:rPr lang="en-US" sz="1600" b="1" u="none" strike="noStrike">
                <a:solidFill>
                  <a:srgbClr val="FBFAF6"/>
                </a:solidFill>
                <a:effectLst/>
                <a:uFillTx/>
                <a:latin typeface="Public Sans"/>
                <a:ea typeface="Public Sans"/>
              </a:rPr>
              <a:t>cas</a:t>
            </a:r>
            <a:endParaRPr lang="es-PE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0"/>
          <p:cNvSpPr/>
          <p:nvPr/>
        </p:nvSpPr>
        <p:spPr>
          <a:xfrm>
            <a:off x="3695760" y="3763080"/>
            <a:ext cx="218412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5D0DE"/>
                </a:solidFill>
                <a:effectLst/>
                <a:uFillTx/>
                <a:latin typeface="Public Sans"/>
                <a:ea typeface="Public Sans"/>
              </a:rPr>
              <a:t>tiros, córners y tarjetas</a:t>
            </a:r>
            <a:endParaRPr lang="es-PE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11"/>
          <p:cNvSpPr/>
          <p:nvPr/>
        </p:nvSpPr>
        <p:spPr>
          <a:xfrm>
            <a:off x="6172200" y="3227040"/>
            <a:ext cx="2526840" cy="952200"/>
          </a:xfrm>
          <a:prstGeom prst="rect">
            <a:avLst/>
          </a:prstGeom>
          <a:solidFill>
            <a:srgbClr val="16375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P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12"/>
          <p:cNvSpPr/>
          <p:nvPr/>
        </p:nvSpPr>
        <p:spPr>
          <a:xfrm>
            <a:off x="6172200" y="3246120"/>
            <a:ext cx="2527200" cy="360"/>
          </a:xfrm>
          <a:prstGeom prst="line">
            <a:avLst/>
          </a:prstGeom>
          <a:ln w="38100">
            <a:solidFill>
              <a:srgbClr val="C997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s-P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3"/>
          <p:cNvSpPr/>
          <p:nvPr/>
        </p:nvSpPr>
        <p:spPr>
          <a:xfrm>
            <a:off x="6375240" y="3468240"/>
            <a:ext cx="218412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19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BFAF6"/>
                </a:solidFill>
                <a:effectLst/>
                <a:uFillTx/>
                <a:latin typeface="Public Sans"/>
                <a:ea typeface="Public Sans"/>
              </a:rPr>
              <a:t>Árbi</a:t>
            </a:r>
            <a:r>
              <a:rPr lang="en-US" sz="1600" b="1" u="none" strike="noStrike">
                <a:solidFill>
                  <a:srgbClr val="FBFAF6"/>
                </a:solidFill>
                <a:effectLst/>
                <a:uFillTx/>
                <a:latin typeface="Public Sans"/>
                <a:ea typeface="Public Sans"/>
              </a:rPr>
              <a:t>tro</a:t>
            </a:r>
            <a:endParaRPr lang="es-PE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14"/>
          <p:cNvSpPr/>
          <p:nvPr/>
        </p:nvSpPr>
        <p:spPr>
          <a:xfrm>
            <a:off x="6375240" y="3763080"/>
            <a:ext cx="218412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5D0DE"/>
                </a:solidFill>
                <a:effectLst/>
                <a:uFillTx/>
                <a:latin typeface="Public Sans"/>
                <a:ea typeface="Public Sans"/>
              </a:rPr>
              <a:t>el </a:t>
            </a:r>
            <a:r>
              <a:rPr lang="en-US" sz="1200" b="0" u="none" strike="noStrike">
                <a:solidFill>
                  <a:srgbClr val="C5D0DE"/>
                </a:solidFill>
                <a:effectLst/>
                <a:uFillTx/>
                <a:latin typeface="Public Sans"/>
                <a:ea typeface="Public Sans"/>
              </a:rPr>
              <a:t>desig</a:t>
            </a:r>
            <a:r>
              <a:rPr lang="en-US" sz="1200" b="0" u="none" strike="noStrike">
                <a:solidFill>
                  <a:srgbClr val="C5D0DE"/>
                </a:solidFill>
                <a:effectLst/>
                <a:uFillTx/>
                <a:latin typeface="Public Sans"/>
                <a:ea typeface="Public Sans"/>
              </a:rPr>
              <a:t>nado </a:t>
            </a:r>
            <a:r>
              <a:rPr lang="en-US" sz="1200" b="0" u="none" strike="noStrike">
                <a:solidFill>
                  <a:srgbClr val="C5D0DE"/>
                </a:solidFill>
                <a:effectLst/>
                <a:uFillTx/>
                <a:latin typeface="Public Sans"/>
                <a:ea typeface="Public Sans"/>
              </a:rPr>
              <a:t>y su </a:t>
            </a:r>
            <a:r>
              <a:rPr lang="en-US" sz="1200" b="0" u="none" strike="noStrike">
                <a:solidFill>
                  <a:srgbClr val="C5D0DE"/>
                </a:solidFill>
                <a:effectLst/>
                <a:uFillTx/>
                <a:latin typeface="Public Sans"/>
                <a:ea typeface="Public Sans"/>
              </a:rPr>
              <a:t>perfil</a:t>
            </a:r>
            <a:endParaRPr lang="es-PE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15"/>
          <p:cNvSpPr/>
          <p:nvPr/>
        </p:nvSpPr>
        <p:spPr>
          <a:xfrm>
            <a:off x="8852040" y="3227040"/>
            <a:ext cx="2526840" cy="952200"/>
          </a:xfrm>
          <a:prstGeom prst="rect">
            <a:avLst/>
          </a:prstGeom>
          <a:solidFill>
            <a:srgbClr val="16375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P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16"/>
          <p:cNvSpPr/>
          <p:nvPr/>
        </p:nvSpPr>
        <p:spPr>
          <a:xfrm>
            <a:off x="8851680" y="3246120"/>
            <a:ext cx="2527200" cy="360"/>
          </a:xfrm>
          <a:prstGeom prst="line">
            <a:avLst/>
          </a:prstGeom>
          <a:ln w="38100">
            <a:solidFill>
              <a:srgbClr val="C997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s-P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17"/>
          <p:cNvSpPr/>
          <p:nvPr/>
        </p:nvSpPr>
        <p:spPr>
          <a:xfrm>
            <a:off x="9055080" y="3468240"/>
            <a:ext cx="218412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19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BFAF6"/>
                </a:solidFill>
                <a:effectLst/>
                <a:uFillTx/>
                <a:latin typeface="Public Sans"/>
                <a:ea typeface="Public Sans"/>
              </a:rPr>
              <a:t>Cuo</a:t>
            </a:r>
            <a:r>
              <a:rPr lang="en-US" sz="1600" b="1" u="none" strike="noStrike">
                <a:solidFill>
                  <a:srgbClr val="FBFAF6"/>
                </a:solidFill>
                <a:effectLst/>
                <a:uFillTx/>
                <a:latin typeface="Public Sans"/>
                <a:ea typeface="Public Sans"/>
              </a:rPr>
              <a:t>tas</a:t>
            </a:r>
            <a:endParaRPr lang="es-PE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18"/>
          <p:cNvSpPr/>
          <p:nvPr/>
        </p:nvSpPr>
        <p:spPr>
          <a:xfrm>
            <a:off x="9055080" y="3763080"/>
            <a:ext cx="218412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5D0DE"/>
                </a:solidFill>
                <a:effectLst/>
                <a:uFillTx/>
                <a:latin typeface="Public Sans"/>
                <a:ea typeface="Public Sans"/>
              </a:rPr>
              <a:t>de </a:t>
            </a:r>
            <a:r>
              <a:rPr lang="en-US" sz="1200" b="0" u="none" strike="noStrike">
                <a:solidFill>
                  <a:srgbClr val="C5D0DE"/>
                </a:solidFill>
                <a:effectLst/>
                <a:uFillTx/>
                <a:latin typeface="Public Sans"/>
                <a:ea typeface="Public Sans"/>
              </a:rPr>
              <a:t>cada </a:t>
            </a:r>
            <a:r>
              <a:rPr lang="en-US" sz="1200" b="0" u="none" strike="noStrike">
                <a:solidFill>
                  <a:srgbClr val="C5D0DE"/>
                </a:solidFill>
                <a:effectLst/>
                <a:uFillTx/>
                <a:latin typeface="Public Sans"/>
                <a:ea typeface="Public Sans"/>
              </a:rPr>
              <a:t>casa </a:t>
            </a:r>
            <a:r>
              <a:rPr lang="en-US" sz="1200" b="0" u="none" strike="noStrike">
                <a:solidFill>
                  <a:srgbClr val="C5D0DE"/>
                </a:solidFill>
                <a:effectLst/>
                <a:uFillTx/>
                <a:latin typeface="Public Sans"/>
                <a:ea typeface="Public Sans"/>
              </a:rPr>
              <a:t>de </a:t>
            </a:r>
            <a:r>
              <a:rPr lang="en-US" sz="1200" b="0" u="none" strike="noStrike">
                <a:solidFill>
                  <a:srgbClr val="C5D0DE"/>
                </a:solidFill>
                <a:effectLst/>
                <a:uFillTx/>
                <a:latin typeface="Public Sans"/>
                <a:ea typeface="Public Sans"/>
              </a:rPr>
              <a:t>apue</a:t>
            </a:r>
            <a:r>
              <a:rPr lang="en-US" sz="1200" b="0" u="none" strike="noStrike">
                <a:solidFill>
                  <a:srgbClr val="C5D0DE"/>
                </a:solidFill>
                <a:effectLst/>
                <a:uFillTx/>
                <a:latin typeface="Public Sans"/>
                <a:ea typeface="Public Sans"/>
              </a:rPr>
              <a:t>stas</a:t>
            </a:r>
            <a:endParaRPr lang="es-PE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19"/>
          <p:cNvSpPr/>
          <p:nvPr/>
        </p:nvSpPr>
        <p:spPr>
          <a:xfrm>
            <a:off x="812880" y="4534920"/>
            <a:ext cx="9810360" cy="61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319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E8EDF4"/>
                </a:solidFill>
                <a:effectLst/>
                <a:uFillTx/>
                <a:latin typeface="Public Sans"/>
                <a:ea typeface="Public Sans"/>
              </a:rPr>
              <a:t>Esa </a:t>
            </a:r>
            <a:r>
              <a:rPr lang="en-US" sz="1600" b="0" u="none" strike="noStrike">
                <a:solidFill>
                  <a:srgbClr val="E8EDF4"/>
                </a:solidFill>
                <a:effectLst/>
                <a:uFillTx/>
                <a:latin typeface="Public Sans"/>
                <a:ea typeface="Public Sans"/>
              </a:rPr>
              <a:t>info</a:t>
            </a:r>
            <a:r>
              <a:rPr lang="en-US" sz="1600" b="0" u="none" strike="noStrike">
                <a:solidFill>
                  <a:srgbClr val="E8EDF4"/>
                </a:solidFill>
                <a:effectLst/>
                <a:uFillTx/>
                <a:latin typeface="Public Sans"/>
                <a:ea typeface="Public Sans"/>
              </a:rPr>
              <a:t>rma</a:t>
            </a:r>
            <a:r>
              <a:rPr lang="en-US" sz="1600" b="0" u="none" strike="noStrike">
                <a:solidFill>
                  <a:srgbClr val="E8EDF4"/>
                </a:solidFill>
                <a:effectLst/>
                <a:uFillTx/>
                <a:latin typeface="Public Sans"/>
                <a:ea typeface="Public Sans"/>
              </a:rPr>
              <a:t>ción </a:t>
            </a:r>
            <a:r>
              <a:rPr lang="en-US" sz="1600" b="0" u="none" strike="noStrike">
                <a:solidFill>
                  <a:srgbClr val="E8EDF4"/>
                </a:solidFill>
                <a:effectLst/>
                <a:uFillTx/>
                <a:latin typeface="Public Sans"/>
                <a:ea typeface="Public Sans"/>
              </a:rPr>
              <a:t>está </a:t>
            </a:r>
            <a:r>
              <a:rPr lang="en-US" sz="1600" b="0" u="none" strike="noStrike">
                <a:solidFill>
                  <a:srgbClr val="E8EDF4"/>
                </a:solidFill>
                <a:effectLst/>
                <a:uFillTx/>
                <a:latin typeface="Public Sans"/>
                <a:ea typeface="Public Sans"/>
              </a:rPr>
              <a:t>disp</a:t>
            </a:r>
            <a:r>
              <a:rPr lang="en-US" sz="1600" b="0" u="none" strike="noStrike">
                <a:solidFill>
                  <a:srgbClr val="E8EDF4"/>
                </a:solidFill>
                <a:effectLst/>
                <a:uFillTx/>
                <a:latin typeface="Public Sans"/>
                <a:ea typeface="Public Sans"/>
              </a:rPr>
              <a:t>ersa </a:t>
            </a:r>
            <a:r>
              <a:rPr lang="en-US" sz="1600" b="0" u="none" strike="noStrike">
                <a:solidFill>
                  <a:srgbClr val="E8EDF4"/>
                </a:solidFill>
                <a:effectLst/>
                <a:uFillTx/>
                <a:latin typeface="Public Sans"/>
                <a:ea typeface="Public Sans"/>
              </a:rPr>
              <a:t>y </a:t>
            </a:r>
            <a:r>
              <a:rPr lang="en-US" sz="1600" b="0" u="none" strike="noStrike">
                <a:solidFill>
                  <a:srgbClr val="E8EDF4"/>
                </a:solidFill>
                <a:effectLst/>
                <a:uFillTx/>
                <a:latin typeface="Public Sans"/>
                <a:ea typeface="Public Sans"/>
              </a:rPr>
              <a:t>nadi</a:t>
            </a:r>
            <a:r>
              <a:rPr lang="en-US" sz="1600" b="0" u="none" strike="noStrike">
                <a:solidFill>
                  <a:srgbClr val="E8EDF4"/>
                </a:solidFill>
                <a:effectLst/>
                <a:uFillTx/>
                <a:latin typeface="Public Sans"/>
                <a:ea typeface="Public Sans"/>
              </a:rPr>
              <a:t>e la </a:t>
            </a:r>
            <a:r>
              <a:rPr lang="en-US" sz="1600" b="0" u="none" strike="noStrike">
                <a:solidFill>
                  <a:srgbClr val="E8EDF4"/>
                </a:solidFill>
                <a:effectLst/>
                <a:uFillTx/>
                <a:latin typeface="Public Sans"/>
                <a:ea typeface="Public Sans"/>
              </a:rPr>
              <a:t>con</a:t>
            </a:r>
            <a:r>
              <a:rPr lang="en-US" sz="1600" b="0" u="none" strike="noStrike">
                <a:solidFill>
                  <a:srgbClr val="E8EDF4"/>
                </a:solidFill>
                <a:effectLst/>
                <a:uFillTx/>
                <a:latin typeface="Public Sans"/>
                <a:ea typeface="Public Sans"/>
              </a:rPr>
              <a:t>viert</a:t>
            </a:r>
            <a:r>
              <a:rPr lang="en-US" sz="1600" b="0" u="none" strike="noStrike">
                <a:solidFill>
                  <a:srgbClr val="E8EDF4"/>
                </a:solidFill>
                <a:effectLst/>
                <a:uFillTx/>
                <a:latin typeface="Public Sans"/>
                <a:ea typeface="Public Sans"/>
              </a:rPr>
              <a:t>e en </a:t>
            </a:r>
            <a:r>
              <a:rPr lang="en-US" sz="1600" b="0" u="none" strike="noStrike">
                <a:solidFill>
                  <a:srgbClr val="E8EDF4"/>
                </a:solidFill>
                <a:effectLst/>
                <a:uFillTx/>
                <a:latin typeface="Public Sans"/>
                <a:ea typeface="Public Sans"/>
              </a:rPr>
              <a:t>pro</a:t>
            </a:r>
            <a:r>
              <a:rPr lang="en-US" sz="1600" b="0" u="none" strike="noStrike">
                <a:solidFill>
                  <a:srgbClr val="E8EDF4"/>
                </a:solidFill>
                <a:effectLst/>
                <a:uFillTx/>
                <a:latin typeface="Public Sans"/>
                <a:ea typeface="Public Sans"/>
              </a:rPr>
              <a:t>babi</a:t>
            </a:r>
            <a:r>
              <a:rPr lang="en-US" sz="1600" b="0" u="none" strike="noStrike">
                <a:solidFill>
                  <a:srgbClr val="E8EDF4"/>
                </a:solidFill>
                <a:effectLst/>
                <a:uFillTx/>
                <a:latin typeface="Public Sans"/>
                <a:ea typeface="Public Sans"/>
              </a:rPr>
              <a:t>lida</a:t>
            </a:r>
            <a:r>
              <a:rPr lang="en-US" sz="1600" b="0" u="none" strike="noStrike">
                <a:solidFill>
                  <a:srgbClr val="E8EDF4"/>
                </a:solidFill>
                <a:effectLst/>
                <a:uFillTx/>
                <a:latin typeface="Public Sans"/>
                <a:ea typeface="Public Sans"/>
              </a:rPr>
              <a:t>des. </a:t>
            </a:r>
            <a:r>
              <a:rPr lang="en-US" sz="1600" b="0" u="none" strike="noStrike">
                <a:solidFill>
                  <a:srgbClr val="E8EDF4"/>
                </a:solidFill>
                <a:effectLst/>
                <a:uFillTx/>
                <a:latin typeface="Public Sans"/>
                <a:ea typeface="Public Sans"/>
              </a:rPr>
              <a:t>Por </a:t>
            </a:r>
            <a:r>
              <a:rPr lang="en-US" sz="1600" b="0" u="none" strike="noStrike">
                <a:solidFill>
                  <a:srgbClr val="E8EDF4"/>
                </a:solidFill>
                <a:effectLst/>
                <a:uFillTx/>
                <a:latin typeface="Public Sans"/>
                <a:ea typeface="Public Sans"/>
              </a:rPr>
              <a:t>eso </a:t>
            </a:r>
            <a:r>
              <a:rPr lang="en-US" sz="1600" b="0" u="none" strike="noStrike">
                <a:solidFill>
                  <a:srgbClr val="E8EDF4"/>
                </a:solidFill>
                <a:effectLst/>
                <a:uFillTx/>
                <a:latin typeface="Public Sans"/>
                <a:ea typeface="Public Sans"/>
              </a:rPr>
              <a:t>es </a:t>
            </a:r>
            <a:r>
              <a:rPr lang="en-US" sz="1600" b="0" u="none" strike="noStrike">
                <a:solidFill>
                  <a:srgbClr val="E8EDF4"/>
                </a:solidFill>
                <a:effectLst/>
                <a:uFillTx/>
                <a:latin typeface="Public Sans"/>
                <a:ea typeface="Public Sans"/>
              </a:rPr>
              <a:t>difíc</a:t>
            </a:r>
            <a:r>
              <a:rPr lang="en-US" sz="1600" b="0" u="none" strike="noStrike">
                <a:solidFill>
                  <a:srgbClr val="E8EDF4"/>
                </a:solidFill>
                <a:effectLst/>
                <a:uFillTx/>
                <a:latin typeface="Public Sans"/>
                <a:ea typeface="Public Sans"/>
              </a:rPr>
              <a:t>il </a:t>
            </a:r>
            <a:r>
              <a:rPr lang="en-US" sz="1600" b="0" u="none" strike="noStrike">
                <a:solidFill>
                  <a:srgbClr val="E8EDF4"/>
                </a:solidFill>
                <a:effectLst/>
                <a:uFillTx/>
                <a:latin typeface="Public Sans"/>
                <a:ea typeface="Public Sans"/>
              </a:rPr>
              <a:t>sab</a:t>
            </a:r>
            <a:r>
              <a:rPr lang="en-US" sz="1600" b="0" u="none" strike="noStrike">
                <a:solidFill>
                  <a:srgbClr val="E8EDF4"/>
                </a:solidFill>
                <a:effectLst/>
                <a:uFillTx/>
                <a:latin typeface="Public Sans"/>
                <a:ea typeface="Public Sans"/>
              </a:rPr>
              <a:t>er si </a:t>
            </a:r>
            <a:r>
              <a:rPr lang="en-US" sz="1600" b="0" u="none" strike="noStrike">
                <a:solidFill>
                  <a:srgbClr val="E8EDF4"/>
                </a:solidFill>
                <a:effectLst/>
                <a:uFillTx/>
                <a:latin typeface="Public Sans"/>
                <a:ea typeface="Public Sans"/>
              </a:rPr>
              <a:t>una </a:t>
            </a:r>
            <a:r>
              <a:rPr lang="en-US" sz="1600" b="0" u="none" strike="noStrike">
                <a:solidFill>
                  <a:srgbClr val="E8EDF4"/>
                </a:solidFill>
                <a:effectLst/>
                <a:uFillTx/>
                <a:latin typeface="Public Sans"/>
                <a:ea typeface="Public Sans"/>
              </a:rPr>
              <a:t>cuot</a:t>
            </a:r>
            <a:r>
              <a:rPr lang="en-US" sz="1600" b="0" u="none" strike="noStrike">
                <a:solidFill>
                  <a:srgbClr val="E8EDF4"/>
                </a:solidFill>
                <a:effectLst/>
                <a:uFillTx/>
                <a:latin typeface="Public Sans"/>
                <a:ea typeface="Public Sans"/>
              </a:rPr>
              <a:t>a </a:t>
            </a:r>
            <a:r>
              <a:rPr lang="en-US" sz="1600" b="0" u="none" strike="noStrike">
                <a:solidFill>
                  <a:srgbClr val="E8EDF4"/>
                </a:solidFill>
                <a:effectLst/>
                <a:uFillTx/>
                <a:latin typeface="Public Sans"/>
                <a:ea typeface="Public Sans"/>
              </a:rPr>
              <a:t>pag</a:t>
            </a:r>
            <a:r>
              <a:rPr lang="en-US" sz="1600" b="0" u="none" strike="noStrike">
                <a:solidFill>
                  <a:srgbClr val="E8EDF4"/>
                </a:solidFill>
                <a:effectLst/>
                <a:uFillTx/>
                <a:latin typeface="Public Sans"/>
                <a:ea typeface="Public Sans"/>
              </a:rPr>
              <a:t>a </a:t>
            </a:r>
            <a:r>
              <a:rPr lang="en-US" sz="1600" b="0" u="none" strike="noStrike">
                <a:solidFill>
                  <a:srgbClr val="E8EDF4"/>
                </a:solidFill>
                <a:effectLst/>
                <a:uFillTx/>
                <a:latin typeface="Public Sans"/>
                <a:ea typeface="Public Sans"/>
              </a:rPr>
              <a:t>más </a:t>
            </a:r>
            <a:r>
              <a:rPr lang="en-US" sz="1600" b="0" u="none" strike="noStrike">
                <a:solidFill>
                  <a:srgbClr val="E8EDF4"/>
                </a:solidFill>
                <a:effectLst/>
                <a:uFillTx/>
                <a:latin typeface="Public Sans"/>
                <a:ea typeface="Public Sans"/>
              </a:rPr>
              <a:t>de </a:t>
            </a:r>
            <a:r>
              <a:rPr lang="en-US" sz="1600" b="0" u="none" strike="noStrike">
                <a:solidFill>
                  <a:srgbClr val="E8EDF4"/>
                </a:solidFill>
                <a:effectLst/>
                <a:uFillTx/>
                <a:latin typeface="Public Sans"/>
                <a:ea typeface="Public Sans"/>
              </a:rPr>
              <a:t>lo </a:t>
            </a:r>
            <a:r>
              <a:rPr lang="en-US" sz="1600" b="0" u="none" strike="noStrike">
                <a:solidFill>
                  <a:srgbClr val="E8EDF4"/>
                </a:solidFill>
                <a:effectLst/>
                <a:uFillTx/>
                <a:latin typeface="Public Sans"/>
                <a:ea typeface="Public Sans"/>
              </a:rPr>
              <a:t>que </a:t>
            </a:r>
            <a:r>
              <a:rPr lang="en-US" sz="1600" b="0" u="none" strike="noStrike">
                <a:solidFill>
                  <a:srgbClr val="E8EDF4"/>
                </a:solidFill>
                <a:effectLst/>
                <a:uFillTx/>
                <a:latin typeface="Public Sans"/>
                <a:ea typeface="Public Sans"/>
              </a:rPr>
              <a:t>corr</a:t>
            </a:r>
            <a:r>
              <a:rPr lang="en-US" sz="1600" b="0" u="none" strike="noStrike">
                <a:solidFill>
                  <a:srgbClr val="E8EDF4"/>
                </a:solidFill>
                <a:effectLst/>
                <a:uFillTx/>
                <a:latin typeface="Public Sans"/>
                <a:ea typeface="Public Sans"/>
              </a:rPr>
              <a:t>esp</a:t>
            </a:r>
            <a:r>
              <a:rPr lang="en-US" sz="1600" b="0" u="none" strike="noStrike">
                <a:solidFill>
                  <a:srgbClr val="E8EDF4"/>
                </a:solidFill>
                <a:effectLst/>
                <a:uFillTx/>
                <a:latin typeface="Public Sans"/>
                <a:ea typeface="Public Sans"/>
              </a:rPr>
              <a:t>ond</a:t>
            </a:r>
            <a:r>
              <a:rPr lang="en-US" sz="1600" b="0" u="none" strike="noStrike">
                <a:solidFill>
                  <a:srgbClr val="E8EDF4"/>
                </a:solidFill>
                <a:effectLst/>
                <a:uFillTx/>
                <a:latin typeface="Public Sans"/>
                <a:ea typeface="Public Sans"/>
              </a:rPr>
              <a:t>e al </a:t>
            </a:r>
            <a:r>
              <a:rPr lang="en-US" sz="1600" b="0" u="none" strike="noStrike">
                <a:solidFill>
                  <a:srgbClr val="E8EDF4"/>
                </a:solidFill>
                <a:effectLst/>
                <a:uFillTx/>
                <a:latin typeface="Public Sans"/>
                <a:ea typeface="Public Sans"/>
              </a:rPr>
              <a:t>ries</a:t>
            </a:r>
            <a:r>
              <a:rPr lang="en-US" sz="1600" b="0" u="none" strike="noStrike">
                <a:solidFill>
                  <a:srgbClr val="E8EDF4"/>
                </a:solidFill>
                <a:effectLst/>
                <a:uFillTx/>
                <a:latin typeface="Public Sans"/>
                <a:ea typeface="Public Sans"/>
              </a:rPr>
              <a:t>go </a:t>
            </a:r>
            <a:r>
              <a:rPr lang="en-US" sz="1600" b="0" u="none" strike="noStrike">
                <a:solidFill>
                  <a:srgbClr val="E8EDF4"/>
                </a:solidFill>
                <a:effectLst/>
                <a:uFillTx/>
                <a:latin typeface="Public Sans"/>
                <a:ea typeface="Public Sans"/>
              </a:rPr>
              <a:t>real: </a:t>
            </a:r>
            <a:r>
              <a:rPr lang="en-US" sz="1600" b="0" u="none" strike="noStrike">
                <a:solidFill>
                  <a:srgbClr val="E3B54A"/>
                </a:solidFill>
                <a:effectLst/>
                <a:uFillTx/>
                <a:latin typeface="Public Sans"/>
                <a:ea typeface="Public Sans"/>
              </a:rPr>
              <a:t>si </a:t>
            </a:r>
            <a:r>
              <a:rPr lang="en-US" sz="1600" b="0" u="none" strike="noStrike">
                <a:solidFill>
                  <a:srgbClr val="E3B54A"/>
                </a:solidFill>
                <a:effectLst/>
                <a:uFillTx/>
                <a:latin typeface="Public Sans"/>
                <a:ea typeface="Public Sans"/>
              </a:rPr>
              <a:t>tien</a:t>
            </a:r>
            <a:r>
              <a:rPr lang="en-US" sz="1600" b="0" u="none" strike="noStrike">
                <a:solidFill>
                  <a:srgbClr val="E3B54A"/>
                </a:solidFill>
                <a:effectLst/>
                <a:uFillTx/>
                <a:latin typeface="Public Sans"/>
                <a:ea typeface="Public Sans"/>
              </a:rPr>
              <a:t>e </a:t>
            </a:r>
            <a:r>
              <a:rPr lang="en-US" sz="1600" b="0" u="none" strike="noStrike">
                <a:solidFill>
                  <a:srgbClr val="E3B54A"/>
                </a:solidFill>
                <a:effectLst/>
                <a:uFillTx/>
                <a:latin typeface="Public Sans"/>
                <a:ea typeface="Public Sans"/>
              </a:rPr>
              <a:t>valo</a:t>
            </a:r>
            <a:r>
              <a:rPr lang="en-US" sz="1600" b="0" u="none" strike="noStrike">
                <a:solidFill>
                  <a:srgbClr val="E3B54A"/>
                </a:solidFill>
                <a:effectLst/>
                <a:uFillTx/>
                <a:latin typeface="Public Sans"/>
                <a:ea typeface="Public Sans"/>
              </a:rPr>
              <a:t>r</a:t>
            </a:r>
            <a:r>
              <a:rPr lang="en-US" sz="1600" b="0" u="none" strike="noStrike">
                <a:solidFill>
                  <a:srgbClr val="E8EDF4"/>
                </a:solidFill>
                <a:effectLst/>
                <a:uFillTx/>
                <a:latin typeface="Public Sans"/>
                <a:ea typeface="Public Sans"/>
              </a:rPr>
              <a:t>.</a:t>
            </a:r>
            <a:endParaRPr lang="es-PE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20"/>
          <p:cNvSpPr/>
          <p:nvPr/>
        </p:nvSpPr>
        <p:spPr>
          <a:xfrm>
            <a:off x="812880" y="6289200"/>
            <a:ext cx="44103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9B6C8"/>
                </a:solidFill>
                <a:effectLst/>
                <a:uFillTx/>
                <a:latin typeface="Public Sans"/>
                <a:ea typeface="Public Sans"/>
              </a:rPr>
              <a:t>Anali</a:t>
            </a:r>
            <a:r>
              <a:rPr lang="en-US" sz="1200" b="0" u="none" strike="noStrike">
                <a:solidFill>
                  <a:srgbClr val="A9B6C8"/>
                </a:solidFill>
                <a:effectLst/>
                <a:uFillTx/>
                <a:latin typeface="Public Sans"/>
                <a:ea typeface="Public Sans"/>
              </a:rPr>
              <a:t>zador </a:t>
            </a:r>
            <a:r>
              <a:rPr lang="en-US" sz="1200" b="0" u="none" strike="noStrike">
                <a:solidFill>
                  <a:srgbClr val="A9B6C8"/>
                </a:solidFill>
                <a:effectLst/>
                <a:uFillTx/>
                <a:latin typeface="Public Sans"/>
                <a:ea typeface="Public Sans"/>
              </a:rPr>
              <a:t>de </a:t>
            </a:r>
            <a:r>
              <a:rPr lang="en-US" sz="1200" b="0" u="none" strike="noStrike">
                <a:solidFill>
                  <a:srgbClr val="A9B6C8"/>
                </a:solidFill>
                <a:effectLst/>
                <a:uFillTx/>
                <a:latin typeface="Public Sans"/>
                <a:ea typeface="Public Sans"/>
              </a:rPr>
              <a:t>apue</a:t>
            </a:r>
            <a:r>
              <a:rPr lang="en-US" sz="1200" b="0" u="none" strike="noStrike">
                <a:solidFill>
                  <a:srgbClr val="A9B6C8"/>
                </a:solidFill>
                <a:effectLst/>
                <a:uFillTx/>
                <a:latin typeface="Public Sans"/>
                <a:ea typeface="Public Sans"/>
              </a:rPr>
              <a:t>stas </a:t>
            </a:r>
            <a:r>
              <a:rPr lang="en-US" sz="1200" b="0" u="none" strike="noStrike">
                <a:solidFill>
                  <a:srgbClr val="A9B6C8"/>
                </a:solidFill>
                <a:effectLst/>
                <a:uFillTx/>
                <a:latin typeface="Public Sans"/>
                <a:ea typeface="Public Sans"/>
              </a:rPr>
              <a:t>de </a:t>
            </a:r>
            <a:r>
              <a:rPr lang="en-US" sz="1200" b="0" u="none" strike="noStrike">
                <a:solidFill>
                  <a:srgbClr val="A9B6C8"/>
                </a:solidFill>
                <a:effectLst/>
                <a:uFillTx/>
                <a:latin typeface="Public Sans"/>
                <a:ea typeface="Public Sans"/>
              </a:rPr>
              <a:t>fútbo</a:t>
            </a:r>
            <a:r>
              <a:rPr lang="en-US" sz="1200" b="0" u="none" strike="noStrike">
                <a:solidFill>
                  <a:srgbClr val="A9B6C8"/>
                </a:solidFill>
                <a:effectLst/>
                <a:uFillTx/>
                <a:latin typeface="Public Sans"/>
                <a:ea typeface="Public Sans"/>
              </a:rPr>
              <a:t>l con </a:t>
            </a:r>
            <a:r>
              <a:rPr lang="en-US" sz="1200" b="0" u="none" strike="noStrike">
                <a:solidFill>
                  <a:srgbClr val="A9B6C8"/>
                </a:solidFill>
                <a:effectLst/>
                <a:uFillTx/>
                <a:latin typeface="Public Sans"/>
                <a:ea typeface="Public Sans"/>
              </a:rPr>
              <a:t>micro</a:t>
            </a:r>
            <a:r>
              <a:rPr lang="en-US" sz="1200" b="0" u="none" strike="noStrike">
                <a:solidFill>
                  <a:srgbClr val="A9B6C8"/>
                </a:solidFill>
                <a:effectLst/>
                <a:uFillTx/>
                <a:latin typeface="Public Sans"/>
                <a:ea typeface="Public Sans"/>
              </a:rPr>
              <a:t>servic</a:t>
            </a:r>
            <a:r>
              <a:rPr lang="en-US" sz="1200" b="0" u="none" strike="noStrike">
                <a:solidFill>
                  <a:srgbClr val="A9B6C8"/>
                </a:solidFill>
                <a:effectLst/>
                <a:uFillTx/>
                <a:latin typeface="Public Sans"/>
                <a:ea typeface="Public Sans"/>
              </a:rPr>
              <a:t>ios</a:t>
            </a:r>
            <a:endParaRPr lang="es-PE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21"/>
          <p:cNvSpPr/>
          <p:nvPr/>
        </p:nvSpPr>
        <p:spPr>
          <a:xfrm>
            <a:off x="11237400" y="6289200"/>
            <a:ext cx="14148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r"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9B6C8"/>
                </a:solidFill>
                <a:effectLst/>
                <a:uFillTx/>
                <a:latin typeface="Public Sans"/>
                <a:ea typeface="Public Sans"/>
              </a:rPr>
              <a:t>2</a:t>
            </a:r>
            <a:endParaRPr lang="es-PE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0"/>
          <p:cNvSpPr/>
          <p:nvPr/>
        </p:nvSpPr>
        <p:spPr>
          <a:xfrm>
            <a:off x="0" y="0"/>
            <a:ext cx="151920" cy="6857640"/>
          </a:xfrm>
          <a:prstGeom prst="rect">
            <a:avLst/>
          </a:prstGeom>
          <a:solidFill>
            <a:srgbClr val="0E2A4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P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1"/>
          <p:cNvSpPr/>
          <p:nvPr/>
        </p:nvSpPr>
        <p:spPr>
          <a:xfrm>
            <a:off x="812880" y="812880"/>
            <a:ext cx="108831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1" u="none" spc="99" strike="noStrike">
                <a:solidFill>
                  <a:srgbClr val="8A6410"/>
                </a:solidFill>
                <a:effectLst/>
                <a:uFillTx/>
                <a:latin typeface="Public Sans"/>
                <a:ea typeface="Public Sans"/>
              </a:rPr>
              <a:t>1.2 – </a:t>
            </a:r>
            <a:r>
              <a:rPr lang="en-US" sz="1200" b="1" u="none" spc="99" strike="noStrike">
                <a:solidFill>
                  <a:srgbClr val="8A6410"/>
                </a:solidFill>
                <a:effectLst/>
                <a:uFillTx/>
                <a:latin typeface="Public Sans"/>
                <a:ea typeface="Public Sans"/>
              </a:rPr>
              <a:t>1.3 · </a:t>
            </a:r>
            <a:r>
              <a:rPr lang="en-US" sz="1200" b="1" u="none" spc="99" strike="noStrike">
                <a:solidFill>
                  <a:srgbClr val="8A6410"/>
                </a:solidFill>
                <a:effectLst/>
                <a:uFillTx/>
                <a:latin typeface="Public Sans"/>
                <a:ea typeface="Public Sans"/>
              </a:rPr>
              <a:t>PRO</a:t>
            </a:r>
            <a:r>
              <a:rPr lang="en-US" sz="1200" b="1" u="none" spc="99" strike="noStrike">
                <a:solidFill>
                  <a:srgbClr val="8A6410"/>
                </a:solidFill>
                <a:effectLst/>
                <a:uFillTx/>
                <a:latin typeface="Public Sans"/>
                <a:ea typeface="Public Sans"/>
              </a:rPr>
              <a:t>PÓSI</a:t>
            </a:r>
            <a:r>
              <a:rPr lang="en-US" sz="1200" b="1" u="none" spc="99" strike="noStrike">
                <a:solidFill>
                  <a:srgbClr val="8A6410"/>
                </a:solidFill>
                <a:effectLst/>
                <a:uFillTx/>
                <a:latin typeface="Public Sans"/>
                <a:ea typeface="Public Sans"/>
              </a:rPr>
              <a:t>TO Y </a:t>
            </a:r>
            <a:r>
              <a:rPr lang="en-US" sz="1200" b="1" u="none" spc="99" strike="noStrike">
                <a:solidFill>
                  <a:srgbClr val="8A6410"/>
                </a:solidFill>
                <a:effectLst/>
                <a:uFillTx/>
                <a:latin typeface="Public Sans"/>
                <a:ea typeface="Public Sans"/>
              </a:rPr>
              <a:t>OBJE</a:t>
            </a:r>
            <a:r>
              <a:rPr lang="en-US" sz="1200" b="1" u="none" spc="99" strike="noStrike">
                <a:solidFill>
                  <a:srgbClr val="8A6410"/>
                </a:solidFill>
                <a:effectLst/>
                <a:uFillTx/>
                <a:latin typeface="Public Sans"/>
                <a:ea typeface="Public Sans"/>
              </a:rPr>
              <a:t>TIVO</a:t>
            </a:r>
            <a:r>
              <a:rPr lang="en-US" sz="1200" b="1" u="none" spc="99" strike="noStrike">
                <a:solidFill>
                  <a:srgbClr val="8A6410"/>
                </a:solidFill>
                <a:effectLst/>
                <a:uFillTx/>
                <a:latin typeface="Public Sans"/>
                <a:ea typeface="Public Sans"/>
              </a:rPr>
              <a:t>S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812880" y="1102320"/>
            <a:ext cx="10883160" cy="43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220"/>
              </a:lnSpc>
              <a:buNone/>
              <a:tabLst>
                <a:tab pos="0" algn="l"/>
              </a:tabLst>
            </a:pPr>
            <a:r>
              <a:rPr lang="en-US" sz="2800" b="1" u="none" strike="noStrike">
                <a:solidFill>
                  <a:srgbClr val="0E2A4F"/>
                </a:solidFill>
                <a:effectLst/>
                <a:uFillTx/>
                <a:latin typeface="Libre Baskerville"/>
                <a:ea typeface="Libre Baskerville"/>
              </a:rPr>
              <a:t>Q</a:t>
            </a:r>
            <a:r>
              <a:rPr lang="en-US" sz="2800" b="1" u="none" strike="noStrike">
                <a:solidFill>
                  <a:srgbClr val="0E2A4F"/>
                </a:solidFill>
                <a:effectLst/>
                <a:uFillTx/>
                <a:latin typeface="Libre Baskerville"/>
                <a:ea typeface="Libre Baskerville"/>
              </a:rPr>
              <a:t>u</a:t>
            </a:r>
            <a:r>
              <a:rPr lang="en-US" sz="2800" b="1" u="none" strike="noStrike">
                <a:solidFill>
                  <a:srgbClr val="0E2A4F"/>
                </a:solidFill>
                <a:effectLst/>
                <a:uFillTx/>
                <a:latin typeface="Libre Baskerville"/>
                <a:ea typeface="Libre Baskerville"/>
              </a:rPr>
              <a:t>é </a:t>
            </a:r>
            <a:r>
              <a:rPr lang="en-US" sz="2800" b="1" u="none" strike="noStrike">
                <a:solidFill>
                  <a:srgbClr val="0E2A4F"/>
                </a:solidFill>
                <a:effectLst/>
                <a:uFillTx/>
                <a:latin typeface="Libre Baskerville"/>
                <a:ea typeface="Libre Baskerville"/>
              </a:rPr>
              <a:t>q</a:t>
            </a:r>
            <a:r>
              <a:rPr lang="en-US" sz="2800" b="1" u="none" strike="noStrike">
                <a:solidFill>
                  <a:srgbClr val="0E2A4F"/>
                </a:solidFill>
                <a:effectLst/>
                <a:uFillTx/>
                <a:latin typeface="Libre Baskerville"/>
                <a:ea typeface="Libre Baskerville"/>
              </a:rPr>
              <a:t>u</a:t>
            </a:r>
            <a:r>
              <a:rPr lang="en-US" sz="2800" b="1" u="none" strike="noStrike">
                <a:solidFill>
                  <a:srgbClr val="0E2A4F"/>
                </a:solidFill>
                <a:effectLst/>
                <a:uFillTx/>
                <a:latin typeface="Libre Baskerville"/>
                <a:ea typeface="Libre Baskerville"/>
              </a:rPr>
              <a:t>er</a:t>
            </a:r>
            <a:r>
              <a:rPr lang="en-US" sz="2800" b="1" u="none" strike="noStrike">
                <a:solidFill>
                  <a:srgbClr val="0E2A4F"/>
                </a:solidFill>
                <a:effectLst/>
                <a:uFillTx/>
                <a:latin typeface="Libre Baskerville"/>
                <a:ea typeface="Libre Baskerville"/>
              </a:rPr>
              <a:t>e</a:t>
            </a:r>
            <a:r>
              <a:rPr lang="en-US" sz="2800" b="1" u="none" strike="noStrike">
                <a:solidFill>
                  <a:srgbClr val="0E2A4F"/>
                </a:solidFill>
                <a:effectLst/>
                <a:uFillTx/>
                <a:latin typeface="Libre Baskerville"/>
                <a:ea typeface="Libre Baskerville"/>
              </a:rPr>
              <a:t>m</a:t>
            </a:r>
            <a:r>
              <a:rPr lang="en-US" sz="2800" b="1" u="none" strike="noStrike">
                <a:solidFill>
                  <a:srgbClr val="0E2A4F"/>
                </a:solidFill>
                <a:effectLst/>
                <a:uFillTx/>
                <a:latin typeface="Libre Baskerville"/>
                <a:ea typeface="Libre Baskerville"/>
              </a:rPr>
              <a:t>os </a:t>
            </a:r>
            <a:r>
              <a:rPr lang="en-US" sz="2800" b="1" u="none" strike="noStrike">
                <a:solidFill>
                  <a:srgbClr val="0E2A4F"/>
                </a:solidFill>
                <a:effectLst/>
                <a:uFillTx/>
                <a:latin typeface="Libre Baskerville"/>
                <a:ea typeface="Libre Baskerville"/>
              </a:rPr>
              <a:t>lo</a:t>
            </a:r>
            <a:r>
              <a:rPr lang="en-US" sz="2800" b="1" u="none" strike="noStrike">
                <a:solidFill>
                  <a:srgbClr val="0E2A4F"/>
                </a:solidFill>
                <a:effectLst/>
                <a:uFillTx/>
                <a:latin typeface="Libre Baskerville"/>
                <a:ea typeface="Libre Baskerville"/>
              </a:rPr>
              <a:t>gr</a:t>
            </a:r>
            <a:r>
              <a:rPr lang="en-US" sz="2800" b="1" u="none" strike="noStrike">
                <a:solidFill>
                  <a:srgbClr val="0E2A4F"/>
                </a:solidFill>
                <a:effectLst/>
                <a:uFillTx/>
                <a:latin typeface="Libre Baskerville"/>
                <a:ea typeface="Libre Baskerville"/>
              </a:rPr>
              <a:t>ar</a:t>
            </a:r>
            <a:endParaRPr lang="es-PE" sz="2800" b="0" u="none" strike="noStrike">
              <a:solidFill>
                <a:schemeClr val="dk1"/>
              </a:solidFill>
              <a:effectLst/>
              <a:uFillTx/>
              <a:latin typeface="Public Sans"/>
            </a:endParaRPr>
          </a:p>
        </p:txBody>
      </p:sp>
      <p:sp>
        <p:nvSpPr>
          <p:cNvPr id="50" name="Shape 3"/>
          <p:cNvSpPr/>
          <p:nvPr/>
        </p:nvSpPr>
        <p:spPr>
          <a:xfrm>
            <a:off x="812880" y="1815840"/>
            <a:ext cx="5101920" cy="4025520"/>
          </a:xfrm>
          <a:prstGeom prst="rect">
            <a:avLst/>
          </a:prstGeom>
          <a:solidFill>
            <a:srgbClr val="EEF2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P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4"/>
          <p:cNvSpPr/>
          <p:nvPr/>
        </p:nvSpPr>
        <p:spPr>
          <a:xfrm>
            <a:off x="838080" y="1815840"/>
            <a:ext cx="360" cy="4025880"/>
          </a:xfrm>
          <a:prstGeom prst="line">
            <a:avLst/>
          </a:prstGeom>
          <a:ln w="50800">
            <a:solidFill>
              <a:srgbClr val="0E2A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pPr/>
            <a:endParaRPr lang="es-P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5"/>
          <p:cNvSpPr/>
          <p:nvPr/>
        </p:nvSpPr>
        <p:spPr>
          <a:xfrm>
            <a:off x="1168560" y="2120760"/>
            <a:ext cx="457488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1" u="none" spc="99" strike="noStrike">
                <a:solidFill>
                  <a:srgbClr val="8A6410"/>
                </a:solidFill>
                <a:effectLst/>
                <a:uFillTx/>
                <a:latin typeface="Public Sans"/>
                <a:ea typeface="Public Sans"/>
              </a:rPr>
              <a:t>OBJE</a:t>
            </a:r>
            <a:r>
              <a:rPr lang="en-US" sz="1200" b="1" u="none" spc="99" strike="noStrike">
                <a:solidFill>
                  <a:srgbClr val="8A6410"/>
                </a:solidFill>
                <a:effectLst/>
                <a:uFillTx/>
                <a:latin typeface="Public Sans"/>
                <a:ea typeface="Public Sans"/>
              </a:rPr>
              <a:t>TIVO </a:t>
            </a:r>
            <a:r>
              <a:rPr lang="en-US" sz="1200" b="1" u="none" spc="99" strike="noStrike">
                <a:solidFill>
                  <a:srgbClr val="8A6410"/>
                </a:solidFill>
                <a:effectLst/>
                <a:uFillTx/>
                <a:latin typeface="Public Sans"/>
                <a:ea typeface="Public Sans"/>
              </a:rPr>
              <a:t>GEN</a:t>
            </a:r>
            <a:r>
              <a:rPr lang="en-US" sz="1200" b="1" u="none" spc="99" strike="noStrike">
                <a:solidFill>
                  <a:srgbClr val="8A6410"/>
                </a:solidFill>
                <a:effectLst/>
                <a:uFillTx/>
                <a:latin typeface="Public Sans"/>
                <a:ea typeface="Public Sans"/>
              </a:rPr>
              <a:t>ERAL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6"/>
          <p:cNvSpPr/>
          <p:nvPr/>
        </p:nvSpPr>
        <p:spPr>
          <a:xfrm>
            <a:off x="1168560" y="2486520"/>
            <a:ext cx="4574880" cy="19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551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0E2A4F"/>
                </a:solidFill>
                <a:effectLst/>
                <a:uFillTx/>
                <a:latin typeface="Libre Baskerville"/>
                <a:ea typeface="Libre Baskerville"/>
              </a:rPr>
              <a:t>Des</a:t>
            </a:r>
            <a:r>
              <a:rPr lang="en-US" sz="1700" b="0" u="none" strike="noStrike">
                <a:solidFill>
                  <a:srgbClr val="0E2A4F"/>
                </a:solidFill>
                <a:effectLst/>
                <a:uFillTx/>
                <a:latin typeface="Libre Baskerville"/>
                <a:ea typeface="Libre Baskerville"/>
              </a:rPr>
              <a:t>arr</a:t>
            </a:r>
            <a:r>
              <a:rPr lang="en-US" sz="1700" b="0" u="none" strike="noStrike">
                <a:solidFill>
                  <a:srgbClr val="0E2A4F"/>
                </a:solidFill>
                <a:effectLst/>
                <a:uFillTx/>
                <a:latin typeface="Libre Baskerville"/>
                <a:ea typeface="Libre Baskerville"/>
              </a:rPr>
              <a:t>olla</a:t>
            </a:r>
            <a:r>
              <a:rPr lang="en-US" sz="1700" b="0" u="none" strike="noStrike">
                <a:solidFill>
                  <a:srgbClr val="0E2A4F"/>
                </a:solidFill>
                <a:effectLst/>
                <a:uFillTx/>
                <a:latin typeface="Libre Baskerville"/>
                <a:ea typeface="Libre Baskerville"/>
              </a:rPr>
              <a:t>r </a:t>
            </a:r>
            <a:r>
              <a:rPr lang="en-US" sz="1700" b="0" u="none" strike="noStrike">
                <a:solidFill>
                  <a:srgbClr val="0E2A4F"/>
                </a:solidFill>
                <a:effectLst/>
                <a:uFillTx/>
                <a:latin typeface="Libre Baskerville"/>
                <a:ea typeface="Libre Baskerville"/>
              </a:rPr>
              <a:t>una </a:t>
            </a:r>
            <a:r>
              <a:rPr lang="en-US" sz="1700" b="0" u="none" strike="noStrike">
                <a:solidFill>
                  <a:srgbClr val="0E2A4F"/>
                </a:solidFill>
                <a:effectLst/>
                <a:uFillTx/>
                <a:latin typeface="Libre Baskerville"/>
                <a:ea typeface="Libre Baskerville"/>
              </a:rPr>
              <a:t>plat</a:t>
            </a:r>
            <a:r>
              <a:rPr lang="en-US" sz="1700" b="0" u="none" strike="noStrike">
                <a:solidFill>
                  <a:srgbClr val="0E2A4F"/>
                </a:solidFill>
                <a:effectLst/>
                <a:uFillTx/>
                <a:latin typeface="Libre Baskerville"/>
                <a:ea typeface="Libre Baskerville"/>
              </a:rPr>
              <a:t>afo</a:t>
            </a:r>
            <a:r>
              <a:rPr lang="en-US" sz="1700" b="0" u="none" strike="noStrike">
                <a:solidFill>
                  <a:srgbClr val="0E2A4F"/>
                </a:solidFill>
                <a:effectLst/>
                <a:uFillTx/>
                <a:latin typeface="Libre Baskerville"/>
                <a:ea typeface="Libre Baskerville"/>
              </a:rPr>
              <a:t>rm</a:t>
            </a:r>
            <a:r>
              <a:rPr lang="en-US" sz="1700" b="0" u="none" strike="noStrike">
                <a:solidFill>
                  <a:srgbClr val="0E2A4F"/>
                </a:solidFill>
                <a:effectLst/>
                <a:uFillTx/>
                <a:latin typeface="Libre Baskerville"/>
                <a:ea typeface="Libre Baskerville"/>
              </a:rPr>
              <a:t>a </a:t>
            </a:r>
            <a:r>
              <a:rPr lang="en-US" sz="1700" b="0" u="none" strike="noStrike">
                <a:solidFill>
                  <a:srgbClr val="0E2A4F"/>
                </a:solidFill>
                <a:effectLst/>
                <a:uFillTx/>
                <a:latin typeface="Libre Baskerville"/>
                <a:ea typeface="Libre Baskerville"/>
              </a:rPr>
              <a:t>we</a:t>
            </a:r>
            <a:r>
              <a:rPr lang="en-US" sz="1700" b="0" u="none" strike="noStrike">
                <a:solidFill>
                  <a:srgbClr val="0E2A4F"/>
                </a:solidFill>
                <a:effectLst/>
                <a:uFillTx/>
                <a:latin typeface="Libre Baskerville"/>
                <a:ea typeface="Libre Baskerville"/>
              </a:rPr>
              <a:t>b </a:t>
            </a:r>
            <a:r>
              <a:rPr lang="en-US" sz="1700" b="0" u="none" strike="noStrike">
                <a:solidFill>
                  <a:srgbClr val="0E2A4F"/>
                </a:solidFill>
                <a:effectLst/>
                <a:uFillTx/>
                <a:latin typeface="Libre Baskerville"/>
                <a:ea typeface="Libre Baskerville"/>
              </a:rPr>
              <a:t>bas</a:t>
            </a:r>
            <a:r>
              <a:rPr lang="en-US" sz="1700" b="0" u="none" strike="noStrike">
                <a:solidFill>
                  <a:srgbClr val="0E2A4F"/>
                </a:solidFill>
                <a:effectLst/>
                <a:uFillTx/>
                <a:latin typeface="Libre Baskerville"/>
                <a:ea typeface="Libre Baskerville"/>
              </a:rPr>
              <a:t>ada </a:t>
            </a:r>
            <a:r>
              <a:rPr lang="en-US" sz="1700" b="0" u="none" strike="noStrike">
                <a:solidFill>
                  <a:srgbClr val="0E2A4F"/>
                </a:solidFill>
                <a:effectLst/>
                <a:uFillTx/>
                <a:latin typeface="Libre Baskerville"/>
                <a:ea typeface="Libre Baskerville"/>
              </a:rPr>
              <a:t>en </a:t>
            </a:r>
            <a:r>
              <a:rPr lang="en-US" sz="1700" b="0" u="none" strike="noStrike">
                <a:solidFill>
                  <a:srgbClr val="0E2A4F"/>
                </a:solidFill>
                <a:effectLst/>
                <a:uFillTx/>
                <a:latin typeface="Libre Baskerville"/>
                <a:ea typeface="Libre Baskerville"/>
              </a:rPr>
              <a:t>mic</a:t>
            </a:r>
            <a:r>
              <a:rPr lang="en-US" sz="1700" b="0" u="none" strike="noStrike">
                <a:solidFill>
                  <a:srgbClr val="0E2A4F"/>
                </a:solidFill>
                <a:effectLst/>
                <a:uFillTx/>
                <a:latin typeface="Libre Baskerville"/>
                <a:ea typeface="Libre Baskerville"/>
              </a:rPr>
              <a:t>ros</a:t>
            </a:r>
            <a:r>
              <a:rPr lang="en-US" sz="1700" b="0" u="none" strike="noStrike">
                <a:solidFill>
                  <a:srgbClr val="0E2A4F"/>
                </a:solidFill>
                <a:effectLst/>
                <a:uFillTx/>
                <a:latin typeface="Libre Baskerville"/>
                <a:ea typeface="Libre Baskerville"/>
              </a:rPr>
              <a:t>ervi</a:t>
            </a:r>
            <a:r>
              <a:rPr lang="en-US" sz="1700" b="0" u="none" strike="noStrike">
                <a:solidFill>
                  <a:srgbClr val="0E2A4F"/>
                </a:solidFill>
                <a:effectLst/>
                <a:uFillTx/>
                <a:latin typeface="Libre Baskerville"/>
                <a:ea typeface="Libre Baskerville"/>
              </a:rPr>
              <a:t>cios </a:t>
            </a:r>
            <a:r>
              <a:rPr lang="en-US" sz="1700" b="0" u="none" strike="noStrike">
                <a:solidFill>
                  <a:srgbClr val="0E2A4F"/>
                </a:solidFill>
                <a:effectLst/>
                <a:uFillTx/>
                <a:latin typeface="Libre Baskerville"/>
                <a:ea typeface="Libre Baskerville"/>
              </a:rPr>
              <a:t>que </a:t>
            </a:r>
            <a:r>
              <a:rPr lang="en-US" sz="1700" b="0" u="none" strike="noStrike">
                <a:solidFill>
                  <a:srgbClr val="0E2A4F"/>
                </a:solidFill>
                <a:effectLst/>
                <a:uFillTx/>
                <a:latin typeface="Libre Baskerville"/>
                <a:ea typeface="Libre Baskerville"/>
              </a:rPr>
              <a:t>inte</a:t>
            </a:r>
            <a:r>
              <a:rPr lang="en-US" sz="1700" b="0" u="none" strike="noStrike">
                <a:solidFill>
                  <a:srgbClr val="0E2A4F"/>
                </a:solidFill>
                <a:effectLst/>
                <a:uFillTx/>
                <a:latin typeface="Libre Baskerville"/>
                <a:ea typeface="Libre Baskerville"/>
              </a:rPr>
              <a:t>gre </a:t>
            </a:r>
            <a:r>
              <a:rPr lang="en-US" sz="1700" b="0" u="none" strike="noStrike">
                <a:solidFill>
                  <a:srgbClr val="0E2A4F"/>
                </a:solidFill>
                <a:effectLst/>
                <a:uFillTx/>
                <a:latin typeface="Libre Baskerville"/>
                <a:ea typeface="Libre Baskerville"/>
              </a:rPr>
              <a:t>res</a:t>
            </a:r>
            <a:r>
              <a:rPr lang="en-US" sz="1700" b="0" u="none" strike="noStrike">
                <a:solidFill>
                  <a:srgbClr val="0E2A4F"/>
                </a:solidFill>
                <a:effectLst/>
                <a:uFillTx/>
                <a:latin typeface="Libre Baskerville"/>
                <a:ea typeface="Libre Baskerville"/>
              </a:rPr>
              <a:t>ulta</a:t>
            </a:r>
            <a:r>
              <a:rPr lang="en-US" sz="1700" b="0" u="none" strike="noStrike">
                <a:solidFill>
                  <a:srgbClr val="0E2A4F"/>
                </a:solidFill>
                <a:effectLst/>
                <a:uFillTx/>
                <a:latin typeface="Libre Baskerville"/>
                <a:ea typeface="Libre Baskerville"/>
              </a:rPr>
              <a:t>dos, </a:t>
            </a:r>
            <a:r>
              <a:rPr lang="en-US" sz="1700" b="0" u="none" strike="noStrike">
                <a:solidFill>
                  <a:srgbClr val="0E2A4F"/>
                </a:solidFill>
                <a:effectLst/>
                <a:uFillTx/>
                <a:latin typeface="Libre Baskerville"/>
                <a:ea typeface="Libre Baskerville"/>
              </a:rPr>
              <a:t>esta</a:t>
            </a:r>
            <a:r>
              <a:rPr lang="en-US" sz="1700" b="0" u="none" strike="noStrike">
                <a:solidFill>
                  <a:srgbClr val="0E2A4F"/>
                </a:solidFill>
                <a:effectLst/>
                <a:uFillTx/>
                <a:latin typeface="Libre Baskerville"/>
                <a:ea typeface="Libre Baskerville"/>
              </a:rPr>
              <a:t>díst</a:t>
            </a:r>
            <a:r>
              <a:rPr lang="en-US" sz="1700" b="0" u="none" strike="noStrike">
                <a:solidFill>
                  <a:srgbClr val="0E2A4F"/>
                </a:solidFill>
                <a:effectLst/>
                <a:uFillTx/>
                <a:latin typeface="Libre Baskerville"/>
                <a:ea typeface="Libre Baskerville"/>
              </a:rPr>
              <a:t>icas </a:t>
            </a:r>
            <a:r>
              <a:rPr lang="en-US" sz="1700" b="0" u="none" strike="noStrike">
                <a:solidFill>
                  <a:srgbClr val="0E2A4F"/>
                </a:solidFill>
                <a:effectLst/>
                <a:uFillTx/>
                <a:latin typeface="Libre Baskerville"/>
                <a:ea typeface="Libre Baskerville"/>
              </a:rPr>
              <a:t>y </a:t>
            </a:r>
            <a:r>
              <a:rPr lang="en-US" sz="1700" b="0" u="none" strike="noStrike">
                <a:solidFill>
                  <a:srgbClr val="0E2A4F"/>
                </a:solidFill>
                <a:effectLst/>
                <a:uFillTx/>
                <a:latin typeface="Libre Baskerville"/>
                <a:ea typeface="Libre Baskerville"/>
              </a:rPr>
              <a:t>cuo</a:t>
            </a:r>
            <a:r>
              <a:rPr lang="en-US" sz="1700" b="0" u="none" strike="noStrike">
                <a:solidFill>
                  <a:srgbClr val="0E2A4F"/>
                </a:solidFill>
                <a:effectLst/>
                <a:uFillTx/>
                <a:latin typeface="Libre Baskerville"/>
                <a:ea typeface="Libre Baskerville"/>
              </a:rPr>
              <a:t>tas </a:t>
            </a:r>
            <a:r>
              <a:rPr lang="en-US" sz="1700" b="0" u="none" strike="noStrike">
                <a:solidFill>
                  <a:srgbClr val="0E2A4F"/>
                </a:solidFill>
                <a:effectLst/>
                <a:uFillTx/>
                <a:latin typeface="Libre Baskerville"/>
                <a:ea typeface="Libre Baskerville"/>
              </a:rPr>
              <a:t>de </a:t>
            </a:r>
            <a:r>
              <a:rPr lang="en-US" sz="1700" b="0" u="none" strike="noStrike">
                <a:solidFill>
                  <a:srgbClr val="0E2A4F"/>
                </a:solidFill>
                <a:effectLst/>
                <a:uFillTx/>
                <a:latin typeface="Libre Baskerville"/>
                <a:ea typeface="Libre Baskerville"/>
              </a:rPr>
              <a:t>fút</a:t>
            </a:r>
            <a:r>
              <a:rPr lang="en-US" sz="1700" b="0" u="none" strike="noStrike">
                <a:solidFill>
                  <a:srgbClr val="0E2A4F"/>
                </a:solidFill>
                <a:effectLst/>
                <a:uFillTx/>
                <a:latin typeface="Libre Baskerville"/>
                <a:ea typeface="Libre Baskerville"/>
              </a:rPr>
              <a:t>bol, </a:t>
            </a:r>
            <a:r>
              <a:rPr lang="en-US" sz="1700" b="0" u="none" strike="noStrike">
                <a:solidFill>
                  <a:srgbClr val="0E2A4F"/>
                </a:solidFill>
                <a:effectLst/>
                <a:uFillTx/>
                <a:latin typeface="Libre Baskerville"/>
                <a:ea typeface="Libre Baskerville"/>
              </a:rPr>
              <a:t>calc</a:t>
            </a:r>
            <a:r>
              <a:rPr lang="en-US" sz="1700" b="0" u="none" strike="noStrike">
                <a:solidFill>
                  <a:srgbClr val="0E2A4F"/>
                </a:solidFill>
                <a:effectLst/>
                <a:uFillTx/>
                <a:latin typeface="Libre Baskerville"/>
                <a:ea typeface="Libre Baskerville"/>
              </a:rPr>
              <a:t>ule </a:t>
            </a:r>
            <a:r>
              <a:rPr lang="en-US" sz="1700" b="0" u="none" strike="noStrike">
                <a:solidFill>
                  <a:srgbClr val="0E2A4F"/>
                </a:solidFill>
                <a:effectLst/>
                <a:uFillTx/>
                <a:latin typeface="Libre Baskerville"/>
                <a:ea typeface="Libre Baskerville"/>
              </a:rPr>
              <a:t>pro</a:t>
            </a:r>
            <a:r>
              <a:rPr lang="en-US" sz="1700" b="0" u="none" strike="noStrike">
                <a:solidFill>
                  <a:srgbClr val="0E2A4F"/>
                </a:solidFill>
                <a:effectLst/>
                <a:uFillTx/>
                <a:latin typeface="Libre Baskerville"/>
                <a:ea typeface="Libre Baskerville"/>
              </a:rPr>
              <a:t>bab</a:t>
            </a:r>
            <a:r>
              <a:rPr lang="en-US" sz="1700" b="0" u="none" strike="noStrike">
                <a:solidFill>
                  <a:srgbClr val="0E2A4F"/>
                </a:solidFill>
                <a:effectLst/>
                <a:uFillTx/>
                <a:latin typeface="Libre Baskerville"/>
                <a:ea typeface="Libre Baskerville"/>
              </a:rPr>
              <a:t>ilid</a:t>
            </a:r>
            <a:r>
              <a:rPr lang="en-US" sz="1700" b="0" u="none" strike="noStrike">
                <a:solidFill>
                  <a:srgbClr val="0E2A4F"/>
                </a:solidFill>
                <a:effectLst/>
                <a:uFillTx/>
                <a:latin typeface="Libre Baskerville"/>
                <a:ea typeface="Libre Baskerville"/>
              </a:rPr>
              <a:t>ade</a:t>
            </a:r>
            <a:r>
              <a:rPr lang="en-US" sz="1700" b="0" u="none" strike="noStrike">
                <a:solidFill>
                  <a:srgbClr val="0E2A4F"/>
                </a:solidFill>
                <a:effectLst/>
                <a:uFillTx/>
                <a:latin typeface="Libre Baskerville"/>
                <a:ea typeface="Libre Baskerville"/>
              </a:rPr>
              <a:t>s </a:t>
            </a:r>
            <a:r>
              <a:rPr lang="en-US" sz="1700" b="0" u="none" strike="noStrike">
                <a:solidFill>
                  <a:srgbClr val="0E2A4F"/>
                </a:solidFill>
                <a:effectLst/>
                <a:uFillTx/>
                <a:latin typeface="Libre Baskerville"/>
                <a:ea typeface="Libre Baskerville"/>
              </a:rPr>
              <a:t>por </a:t>
            </a:r>
            <a:r>
              <a:rPr lang="en-US" sz="1700" b="0" u="none" strike="noStrike">
                <a:solidFill>
                  <a:srgbClr val="0E2A4F"/>
                </a:solidFill>
                <a:effectLst/>
                <a:uFillTx/>
                <a:latin typeface="Libre Baskerville"/>
                <a:ea typeface="Libre Baskerville"/>
              </a:rPr>
              <a:t>me</a:t>
            </a:r>
            <a:r>
              <a:rPr lang="en-US" sz="1700" b="0" u="none" strike="noStrike">
                <a:solidFill>
                  <a:srgbClr val="0E2A4F"/>
                </a:solidFill>
                <a:effectLst/>
                <a:uFillTx/>
                <a:latin typeface="Libre Baskerville"/>
                <a:ea typeface="Libre Baskerville"/>
              </a:rPr>
              <a:t>rca</a:t>
            </a:r>
            <a:r>
              <a:rPr lang="en-US" sz="1700" b="0" u="none" strike="noStrike">
                <a:solidFill>
                  <a:srgbClr val="0E2A4F"/>
                </a:solidFill>
                <a:effectLst/>
                <a:uFillTx/>
                <a:latin typeface="Libre Baskerville"/>
                <a:ea typeface="Libre Baskerville"/>
              </a:rPr>
              <a:t>do </a:t>
            </a:r>
            <a:r>
              <a:rPr lang="en-US" sz="1700" b="0" u="none" strike="noStrike">
                <a:solidFill>
                  <a:srgbClr val="0E2A4F"/>
                </a:solidFill>
                <a:effectLst/>
                <a:uFillTx/>
                <a:latin typeface="Libre Baskerville"/>
                <a:ea typeface="Libre Baskerville"/>
              </a:rPr>
              <a:t>y </a:t>
            </a:r>
            <a:r>
              <a:rPr lang="en-US" sz="1700" b="0" u="none" strike="noStrike">
                <a:solidFill>
                  <a:srgbClr val="0E2A4F"/>
                </a:solidFill>
                <a:effectLst/>
                <a:uFillTx/>
                <a:latin typeface="Libre Baskerville"/>
                <a:ea typeface="Libre Baskerville"/>
              </a:rPr>
              <a:t>rec</a:t>
            </a:r>
            <a:r>
              <a:rPr lang="en-US" sz="1700" b="0" u="none" strike="noStrike">
                <a:solidFill>
                  <a:srgbClr val="0E2A4F"/>
                </a:solidFill>
                <a:effectLst/>
                <a:uFillTx/>
                <a:latin typeface="Libre Baskerville"/>
                <a:ea typeface="Libre Baskerville"/>
              </a:rPr>
              <a:t>omi</a:t>
            </a:r>
            <a:r>
              <a:rPr lang="en-US" sz="1700" b="0" u="none" strike="noStrike">
                <a:solidFill>
                  <a:srgbClr val="0E2A4F"/>
                </a:solidFill>
                <a:effectLst/>
                <a:uFillTx/>
                <a:latin typeface="Libre Baskerville"/>
                <a:ea typeface="Libre Baskerville"/>
              </a:rPr>
              <a:t>end</a:t>
            </a:r>
            <a:r>
              <a:rPr lang="en-US" sz="1700" b="0" u="none" strike="noStrike">
                <a:solidFill>
                  <a:srgbClr val="0E2A4F"/>
                </a:solidFill>
                <a:effectLst/>
                <a:uFillTx/>
                <a:latin typeface="Libre Baskerville"/>
                <a:ea typeface="Libre Baskerville"/>
              </a:rPr>
              <a:t>e </a:t>
            </a:r>
            <a:r>
              <a:rPr lang="en-US" sz="1700" b="0" u="none" strike="noStrike">
                <a:solidFill>
                  <a:srgbClr val="0E2A4F"/>
                </a:solidFill>
                <a:effectLst/>
                <a:uFillTx/>
                <a:latin typeface="Libre Baskerville"/>
                <a:ea typeface="Libre Baskerville"/>
              </a:rPr>
              <a:t>apu</a:t>
            </a:r>
            <a:r>
              <a:rPr lang="en-US" sz="1700" b="0" u="none" strike="noStrike">
                <a:solidFill>
                  <a:srgbClr val="0E2A4F"/>
                </a:solidFill>
                <a:effectLst/>
                <a:uFillTx/>
                <a:latin typeface="Libre Baskerville"/>
                <a:ea typeface="Libre Baskerville"/>
              </a:rPr>
              <a:t>esta</a:t>
            </a:r>
            <a:r>
              <a:rPr lang="en-US" sz="1700" b="0" u="none" strike="noStrike">
                <a:solidFill>
                  <a:srgbClr val="0E2A4F"/>
                </a:solidFill>
                <a:effectLst/>
                <a:uFillTx/>
                <a:latin typeface="Libre Baskerville"/>
                <a:ea typeface="Libre Baskerville"/>
              </a:rPr>
              <a:t>s </a:t>
            </a:r>
            <a:r>
              <a:rPr lang="en-US" sz="1700" b="0" u="none" strike="noStrike">
                <a:solidFill>
                  <a:srgbClr val="0E2A4F"/>
                </a:solidFill>
                <a:effectLst/>
                <a:uFillTx/>
                <a:latin typeface="Libre Baskerville"/>
                <a:ea typeface="Libre Baskerville"/>
              </a:rPr>
              <a:t>con </a:t>
            </a:r>
            <a:r>
              <a:rPr lang="en-US" sz="1700" b="0" u="none" strike="noStrike">
                <a:solidFill>
                  <a:srgbClr val="0E2A4F"/>
                </a:solidFill>
                <a:effectLst/>
                <a:uFillTx/>
                <a:latin typeface="Libre Baskerville"/>
                <a:ea typeface="Libre Baskerville"/>
              </a:rPr>
              <a:t>val</a:t>
            </a:r>
            <a:r>
              <a:rPr lang="en-US" sz="1700" b="0" u="none" strike="noStrike">
                <a:solidFill>
                  <a:srgbClr val="0E2A4F"/>
                </a:solidFill>
                <a:effectLst/>
                <a:uFillTx/>
                <a:latin typeface="Libre Baskerville"/>
                <a:ea typeface="Libre Baskerville"/>
              </a:rPr>
              <a:t>or </a:t>
            </a:r>
            <a:r>
              <a:rPr lang="en-US" sz="1700" b="0" u="none" strike="noStrike">
                <a:solidFill>
                  <a:srgbClr val="0E2A4F"/>
                </a:solidFill>
                <a:effectLst/>
                <a:uFillTx/>
                <a:latin typeface="Libre Baskerville"/>
                <a:ea typeface="Libre Baskerville"/>
              </a:rPr>
              <a:t>esp</a:t>
            </a:r>
            <a:r>
              <a:rPr lang="en-US" sz="1700" b="0" u="none" strike="noStrike">
                <a:solidFill>
                  <a:srgbClr val="0E2A4F"/>
                </a:solidFill>
                <a:effectLst/>
                <a:uFillTx/>
                <a:latin typeface="Libre Baskerville"/>
                <a:ea typeface="Libre Baskerville"/>
              </a:rPr>
              <a:t>era</a:t>
            </a:r>
            <a:r>
              <a:rPr lang="en-US" sz="1700" b="0" u="none" strike="noStrike">
                <a:solidFill>
                  <a:srgbClr val="0E2A4F"/>
                </a:solidFill>
                <a:effectLst/>
                <a:uFillTx/>
                <a:latin typeface="Libre Baskerville"/>
                <a:ea typeface="Libre Baskerville"/>
              </a:rPr>
              <a:t>do </a:t>
            </a:r>
            <a:r>
              <a:rPr lang="en-US" sz="1700" b="0" u="none" strike="noStrike">
                <a:solidFill>
                  <a:srgbClr val="0E2A4F"/>
                </a:solidFill>
                <a:effectLst/>
                <a:uFillTx/>
                <a:latin typeface="Libre Baskerville"/>
                <a:ea typeface="Libre Baskerville"/>
              </a:rPr>
              <a:t>pos</a:t>
            </a:r>
            <a:r>
              <a:rPr lang="en-US" sz="1700" b="0" u="none" strike="noStrike">
                <a:solidFill>
                  <a:srgbClr val="0E2A4F"/>
                </a:solidFill>
                <a:effectLst/>
                <a:uFillTx/>
                <a:latin typeface="Libre Baskerville"/>
                <a:ea typeface="Libre Baskerville"/>
              </a:rPr>
              <a:t>itiv</a:t>
            </a:r>
            <a:r>
              <a:rPr lang="en-US" sz="1700" b="0" u="none" strike="noStrike">
                <a:solidFill>
                  <a:srgbClr val="0E2A4F"/>
                </a:solidFill>
                <a:effectLst/>
                <a:uFillTx/>
                <a:latin typeface="Libre Baskerville"/>
                <a:ea typeface="Libre Baskerville"/>
              </a:rPr>
              <a:t>o.</a:t>
            </a:r>
            <a:endParaRPr lang="es-PE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7"/>
          <p:cNvSpPr/>
          <p:nvPr/>
        </p:nvSpPr>
        <p:spPr>
          <a:xfrm>
            <a:off x="6270840" y="1815840"/>
            <a:ext cx="526140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1" u="none" spc="99" strike="noStrike">
                <a:solidFill>
                  <a:srgbClr val="8A6410"/>
                </a:solidFill>
                <a:effectLst/>
                <a:uFillTx/>
                <a:latin typeface="Public Sans"/>
                <a:ea typeface="Public Sans"/>
              </a:rPr>
              <a:t>OBJE</a:t>
            </a:r>
            <a:r>
              <a:rPr lang="en-US" sz="1200" b="1" u="none" spc="99" strike="noStrike">
                <a:solidFill>
                  <a:srgbClr val="8A6410"/>
                </a:solidFill>
                <a:effectLst/>
                <a:uFillTx/>
                <a:latin typeface="Public Sans"/>
                <a:ea typeface="Public Sans"/>
              </a:rPr>
              <a:t>TIVO</a:t>
            </a:r>
            <a:r>
              <a:rPr lang="en-US" sz="1200" b="1" u="none" spc="99" strike="noStrike">
                <a:solidFill>
                  <a:srgbClr val="8A6410"/>
                </a:solidFill>
                <a:effectLst/>
                <a:uFillTx/>
                <a:latin typeface="Public Sans"/>
                <a:ea typeface="Public Sans"/>
              </a:rPr>
              <a:t>S </a:t>
            </a:r>
            <a:r>
              <a:rPr lang="en-US" sz="1200" b="1" u="none" spc="99" strike="noStrike">
                <a:solidFill>
                  <a:srgbClr val="8A6410"/>
                </a:solidFill>
                <a:effectLst/>
                <a:uFillTx/>
                <a:latin typeface="Public Sans"/>
                <a:ea typeface="Public Sans"/>
              </a:rPr>
              <a:t>ESPE</a:t>
            </a:r>
            <a:r>
              <a:rPr lang="en-US" sz="1200" b="1" u="none" spc="99" strike="noStrike">
                <a:solidFill>
                  <a:srgbClr val="8A6410"/>
                </a:solidFill>
                <a:effectLst/>
                <a:uFillTx/>
                <a:latin typeface="Public Sans"/>
                <a:ea typeface="Public Sans"/>
              </a:rPr>
              <a:t>CÍFI</a:t>
            </a:r>
            <a:r>
              <a:rPr lang="en-US" sz="1200" b="1" u="none" spc="99" strike="noStrike">
                <a:solidFill>
                  <a:srgbClr val="8A6410"/>
                </a:solidFill>
                <a:effectLst/>
                <a:uFillTx/>
                <a:latin typeface="Public Sans"/>
                <a:ea typeface="Public Sans"/>
              </a:rPr>
              <a:t>COS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8"/>
          <p:cNvSpPr/>
          <p:nvPr/>
        </p:nvSpPr>
        <p:spPr>
          <a:xfrm>
            <a:off x="6303600" y="2156400"/>
            <a:ext cx="5220720" cy="25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221040" indent="-221040" defTabSz="914400">
              <a:lnSpc>
                <a:spcPts val="1959"/>
              </a:lnSpc>
              <a:buClr>
                <a:srgbClr val="1F2B3D"/>
              </a:buClr>
              <a:buFont typeface="OpenSymbol"/>
              <a:buAutoNum type="arabicPeriod"/>
            </a:pP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In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te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gr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ar 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d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e 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fo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r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m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a 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a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ut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o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m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át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ic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a 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y 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p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er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ió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di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ca 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lo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s 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d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at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os 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p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ú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bl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ic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os 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d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e 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fo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ot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b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all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-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d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at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a.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co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.u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k.</a:t>
            </a:r>
            <a:endParaRPr lang="es-P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1040" indent="-221040" defTabSz="914400">
              <a:lnSpc>
                <a:spcPts val="1959"/>
              </a:lnSpc>
              <a:buClr>
                <a:srgbClr val="1F2B3D"/>
              </a:buClr>
              <a:buFont typeface="OpenSymbol"/>
              <a:buAutoNum type="arabicPeriod"/>
            </a:pP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C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al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cu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la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r 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la 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pr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o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b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a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bi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li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d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a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d 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d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e 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1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X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2, 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g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ol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es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, 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a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m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b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os 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m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ar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ca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n, 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ta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rj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et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as 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y 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có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rn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er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s.</a:t>
            </a:r>
            <a:endParaRPr lang="es-P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1040" indent="-221040" defTabSz="914400">
              <a:lnSpc>
                <a:spcPts val="1959"/>
              </a:lnSpc>
              <a:buClr>
                <a:srgbClr val="1F2B3D"/>
              </a:buClr>
              <a:buFont typeface="OpenSymbol"/>
              <a:buAutoNum type="arabicPeriod"/>
            </a:pP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C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o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m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p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ar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ar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la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s 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co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n 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la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s 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cu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ot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as 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d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e 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la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s 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ca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sa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s 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y 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pr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o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p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o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n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er 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u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n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a 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a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p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u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es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ta 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d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el 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dí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a.</a:t>
            </a:r>
            <a:endParaRPr lang="es-P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1040" indent="-221040" defTabSz="914400">
              <a:lnSpc>
                <a:spcPts val="1959"/>
              </a:lnSpc>
              <a:buClr>
                <a:srgbClr val="1F2B3D"/>
              </a:buClr>
              <a:buFont typeface="OpenSymbol"/>
              <a:buAutoNum type="arabicPeriod"/>
            </a:pP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Q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u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e 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ca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d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a 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us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u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ar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io 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re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gi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st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re 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su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s 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a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p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u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es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ta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s 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y 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ve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a 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su 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re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n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di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m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ie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nt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o 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(R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O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I).</a:t>
            </a:r>
            <a:endParaRPr lang="es-P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1040" indent="-221040" defTabSz="914400">
              <a:lnSpc>
                <a:spcPts val="1959"/>
              </a:lnSpc>
              <a:buClr>
                <a:srgbClr val="1F2B3D"/>
              </a:buClr>
              <a:buFont typeface="OpenSymbol"/>
              <a:buAutoNum type="arabicPeriod"/>
            </a:pP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D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es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pl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e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g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ar 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lo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s 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9 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m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ic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ro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se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rv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ici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os 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co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n 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D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oc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ke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r 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C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o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m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p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os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e 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e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n 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u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n 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so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lo 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co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m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a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n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d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o.</a:t>
            </a:r>
            <a:endParaRPr lang="es-P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9"/>
          <p:cNvSpPr/>
          <p:nvPr/>
        </p:nvSpPr>
        <p:spPr>
          <a:xfrm>
            <a:off x="812880" y="6289200"/>
            <a:ext cx="44103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F6878"/>
                </a:solidFill>
                <a:effectLst/>
                <a:uFillTx/>
                <a:latin typeface="Public Sans"/>
                <a:ea typeface="Public Sans"/>
              </a:rPr>
              <a:t>Anali</a:t>
            </a:r>
            <a:r>
              <a:rPr lang="en-US" sz="1200" b="0" u="none" strike="noStrike">
                <a:solidFill>
                  <a:srgbClr val="5F6878"/>
                </a:solidFill>
                <a:effectLst/>
                <a:uFillTx/>
                <a:latin typeface="Public Sans"/>
                <a:ea typeface="Public Sans"/>
              </a:rPr>
              <a:t>zador </a:t>
            </a:r>
            <a:r>
              <a:rPr lang="en-US" sz="1200" b="0" u="none" strike="noStrike">
                <a:solidFill>
                  <a:srgbClr val="5F6878"/>
                </a:solidFill>
                <a:effectLst/>
                <a:uFillTx/>
                <a:latin typeface="Public Sans"/>
                <a:ea typeface="Public Sans"/>
              </a:rPr>
              <a:t>de </a:t>
            </a:r>
            <a:r>
              <a:rPr lang="en-US" sz="1200" b="0" u="none" strike="noStrike">
                <a:solidFill>
                  <a:srgbClr val="5F6878"/>
                </a:solidFill>
                <a:effectLst/>
                <a:uFillTx/>
                <a:latin typeface="Public Sans"/>
                <a:ea typeface="Public Sans"/>
              </a:rPr>
              <a:t>apue</a:t>
            </a:r>
            <a:r>
              <a:rPr lang="en-US" sz="1200" b="0" u="none" strike="noStrike">
                <a:solidFill>
                  <a:srgbClr val="5F6878"/>
                </a:solidFill>
                <a:effectLst/>
                <a:uFillTx/>
                <a:latin typeface="Public Sans"/>
                <a:ea typeface="Public Sans"/>
              </a:rPr>
              <a:t>stas </a:t>
            </a:r>
            <a:r>
              <a:rPr lang="en-US" sz="1200" b="0" u="none" strike="noStrike">
                <a:solidFill>
                  <a:srgbClr val="5F6878"/>
                </a:solidFill>
                <a:effectLst/>
                <a:uFillTx/>
                <a:latin typeface="Public Sans"/>
                <a:ea typeface="Public Sans"/>
              </a:rPr>
              <a:t>de </a:t>
            </a:r>
            <a:r>
              <a:rPr lang="en-US" sz="1200" b="0" u="none" strike="noStrike">
                <a:solidFill>
                  <a:srgbClr val="5F6878"/>
                </a:solidFill>
                <a:effectLst/>
                <a:uFillTx/>
                <a:latin typeface="Public Sans"/>
                <a:ea typeface="Public Sans"/>
              </a:rPr>
              <a:t>fútbo</a:t>
            </a:r>
            <a:r>
              <a:rPr lang="en-US" sz="1200" b="0" u="none" strike="noStrike">
                <a:solidFill>
                  <a:srgbClr val="5F6878"/>
                </a:solidFill>
                <a:effectLst/>
                <a:uFillTx/>
                <a:latin typeface="Public Sans"/>
                <a:ea typeface="Public Sans"/>
              </a:rPr>
              <a:t>l con </a:t>
            </a:r>
            <a:r>
              <a:rPr lang="en-US" sz="1200" b="0" u="none" strike="noStrike">
                <a:solidFill>
                  <a:srgbClr val="5F6878"/>
                </a:solidFill>
                <a:effectLst/>
                <a:uFillTx/>
                <a:latin typeface="Public Sans"/>
                <a:ea typeface="Public Sans"/>
              </a:rPr>
              <a:t>micro</a:t>
            </a:r>
            <a:r>
              <a:rPr lang="en-US" sz="1200" b="0" u="none" strike="noStrike">
                <a:solidFill>
                  <a:srgbClr val="5F6878"/>
                </a:solidFill>
                <a:effectLst/>
                <a:uFillTx/>
                <a:latin typeface="Public Sans"/>
                <a:ea typeface="Public Sans"/>
              </a:rPr>
              <a:t>servic</a:t>
            </a:r>
            <a:r>
              <a:rPr lang="en-US" sz="1200" b="0" u="none" strike="noStrike">
                <a:solidFill>
                  <a:srgbClr val="5F6878"/>
                </a:solidFill>
                <a:effectLst/>
                <a:uFillTx/>
                <a:latin typeface="Public Sans"/>
                <a:ea typeface="Public Sans"/>
              </a:rPr>
              <a:t>ios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10"/>
          <p:cNvSpPr/>
          <p:nvPr/>
        </p:nvSpPr>
        <p:spPr>
          <a:xfrm>
            <a:off x="11232360" y="6289200"/>
            <a:ext cx="14652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r"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F6878"/>
                </a:solidFill>
                <a:effectLst/>
                <a:uFillTx/>
                <a:latin typeface="Public Sans"/>
                <a:ea typeface="Public Sans"/>
              </a:rPr>
              <a:t>3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0"/>
          <p:cNvSpPr/>
          <p:nvPr/>
        </p:nvSpPr>
        <p:spPr>
          <a:xfrm>
            <a:off x="0" y="0"/>
            <a:ext cx="151920" cy="6857640"/>
          </a:xfrm>
          <a:prstGeom prst="rect">
            <a:avLst/>
          </a:prstGeom>
          <a:solidFill>
            <a:srgbClr val="0E2A4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P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1"/>
          <p:cNvSpPr/>
          <p:nvPr/>
        </p:nvSpPr>
        <p:spPr>
          <a:xfrm>
            <a:off x="812880" y="812880"/>
            <a:ext cx="108831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1" u="none" spc="99" strike="noStrike">
                <a:solidFill>
                  <a:srgbClr val="8A6410"/>
                </a:solidFill>
                <a:effectLst/>
                <a:uFillTx/>
                <a:latin typeface="Public Sans"/>
                <a:ea typeface="Public Sans"/>
              </a:rPr>
              <a:t>1.4 – </a:t>
            </a:r>
            <a:r>
              <a:rPr lang="en-US" sz="1200" b="1" u="none" spc="99" strike="noStrike">
                <a:solidFill>
                  <a:srgbClr val="8A6410"/>
                </a:solidFill>
                <a:effectLst/>
                <a:uFillTx/>
                <a:latin typeface="Public Sans"/>
                <a:ea typeface="Public Sans"/>
              </a:rPr>
              <a:t>1.5 · </a:t>
            </a:r>
            <a:r>
              <a:rPr lang="en-US" sz="1200" b="1" u="none" spc="99" strike="noStrike">
                <a:solidFill>
                  <a:srgbClr val="8A6410"/>
                </a:solidFill>
                <a:effectLst/>
                <a:uFillTx/>
                <a:latin typeface="Public Sans"/>
                <a:ea typeface="Public Sans"/>
              </a:rPr>
              <a:t>ALC</a:t>
            </a:r>
            <a:r>
              <a:rPr lang="en-US" sz="1200" b="1" u="none" spc="99" strike="noStrike">
                <a:solidFill>
                  <a:srgbClr val="8A6410"/>
                </a:solidFill>
                <a:effectLst/>
                <a:uFillTx/>
                <a:latin typeface="Public Sans"/>
                <a:ea typeface="Public Sans"/>
              </a:rPr>
              <a:t>ANC</a:t>
            </a:r>
            <a:r>
              <a:rPr lang="en-US" sz="1200" b="1" u="none" spc="99" strike="noStrike">
                <a:solidFill>
                  <a:srgbClr val="8A6410"/>
                </a:solidFill>
                <a:effectLst/>
                <a:uFillTx/>
                <a:latin typeface="Public Sans"/>
                <a:ea typeface="Public Sans"/>
              </a:rPr>
              <a:t>E, </a:t>
            </a:r>
            <a:r>
              <a:rPr lang="en-US" sz="1200" b="1" u="none" spc="99" strike="noStrike">
                <a:solidFill>
                  <a:srgbClr val="8A6410"/>
                </a:solidFill>
                <a:effectLst/>
                <a:uFillTx/>
                <a:latin typeface="Public Sans"/>
                <a:ea typeface="Public Sans"/>
              </a:rPr>
              <a:t>SUP</a:t>
            </a:r>
            <a:r>
              <a:rPr lang="en-US" sz="1200" b="1" u="none" spc="99" strike="noStrike">
                <a:solidFill>
                  <a:srgbClr val="8A6410"/>
                </a:solidFill>
                <a:effectLst/>
                <a:uFillTx/>
                <a:latin typeface="Public Sans"/>
                <a:ea typeface="Public Sans"/>
              </a:rPr>
              <a:t>UEST</a:t>
            </a:r>
            <a:r>
              <a:rPr lang="en-US" sz="1200" b="1" u="none" spc="99" strike="noStrike">
                <a:solidFill>
                  <a:srgbClr val="8A6410"/>
                </a:solidFill>
                <a:effectLst/>
                <a:uFillTx/>
                <a:latin typeface="Public Sans"/>
                <a:ea typeface="Public Sans"/>
              </a:rPr>
              <a:t>OS Y </a:t>
            </a:r>
            <a:r>
              <a:rPr lang="en-US" sz="1200" b="1" u="none" spc="99" strike="noStrike">
                <a:solidFill>
                  <a:srgbClr val="8A6410"/>
                </a:solidFill>
                <a:effectLst/>
                <a:uFillTx/>
                <a:latin typeface="Public Sans"/>
                <a:ea typeface="Public Sans"/>
              </a:rPr>
              <a:t>REST</a:t>
            </a:r>
            <a:r>
              <a:rPr lang="en-US" sz="1200" b="1" u="none" spc="99" strike="noStrike">
                <a:solidFill>
                  <a:srgbClr val="8A6410"/>
                </a:solidFill>
                <a:effectLst/>
                <a:uFillTx/>
                <a:latin typeface="Public Sans"/>
                <a:ea typeface="Public Sans"/>
              </a:rPr>
              <a:t>RICC</a:t>
            </a:r>
            <a:r>
              <a:rPr lang="en-US" sz="1200" b="1" u="none" spc="99" strike="noStrike">
                <a:solidFill>
                  <a:srgbClr val="8A6410"/>
                </a:solidFill>
                <a:effectLst/>
                <a:uFillTx/>
                <a:latin typeface="Public Sans"/>
                <a:ea typeface="Public Sans"/>
              </a:rPr>
              <a:t>ION</a:t>
            </a:r>
            <a:r>
              <a:rPr lang="en-US" sz="1200" b="1" u="none" spc="99" strike="noStrike">
                <a:solidFill>
                  <a:srgbClr val="8A6410"/>
                </a:solidFill>
                <a:effectLst/>
                <a:uFillTx/>
                <a:latin typeface="Public Sans"/>
                <a:ea typeface="Public Sans"/>
              </a:rPr>
              <a:t>ES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812880" y="1102320"/>
            <a:ext cx="10883160" cy="43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220"/>
              </a:lnSpc>
              <a:buNone/>
              <a:tabLst>
                <a:tab pos="0" algn="l"/>
              </a:tabLst>
            </a:pPr>
            <a:r>
              <a:rPr lang="en-US" sz="2800" b="1" u="none" strike="noStrike">
                <a:solidFill>
                  <a:srgbClr val="0E2A4F"/>
                </a:solidFill>
                <a:effectLst/>
                <a:uFillTx/>
                <a:latin typeface="Libre Baskerville"/>
                <a:ea typeface="Libre Baskerville"/>
              </a:rPr>
              <a:t>H</a:t>
            </a:r>
            <a:r>
              <a:rPr lang="en-US" sz="2800" b="1" u="none" strike="noStrike">
                <a:solidFill>
                  <a:srgbClr val="0E2A4F"/>
                </a:solidFill>
                <a:effectLst/>
                <a:uFillTx/>
                <a:latin typeface="Libre Baskerville"/>
                <a:ea typeface="Libre Baskerville"/>
              </a:rPr>
              <a:t>as</a:t>
            </a:r>
            <a:r>
              <a:rPr lang="en-US" sz="2800" b="1" u="none" strike="noStrike">
                <a:solidFill>
                  <a:srgbClr val="0E2A4F"/>
                </a:solidFill>
                <a:effectLst/>
                <a:uFillTx/>
                <a:latin typeface="Libre Baskerville"/>
                <a:ea typeface="Libre Baskerville"/>
              </a:rPr>
              <a:t>ta </a:t>
            </a:r>
            <a:r>
              <a:rPr lang="en-US" sz="2800" b="1" u="none" strike="noStrike">
                <a:solidFill>
                  <a:srgbClr val="0E2A4F"/>
                </a:solidFill>
                <a:effectLst/>
                <a:uFillTx/>
                <a:latin typeface="Libre Baskerville"/>
                <a:ea typeface="Libre Baskerville"/>
              </a:rPr>
              <a:t>d</a:t>
            </a:r>
            <a:r>
              <a:rPr lang="en-US" sz="2800" b="1" u="none" strike="noStrike">
                <a:solidFill>
                  <a:srgbClr val="0E2A4F"/>
                </a:solidFill>
                <a:effectLst/>
                <a:uFillTx/>
                <a:latin typeface="Libre Baskerville"/>
                <a:ea typeface="Libre Baskerville"/>
              </a:rPr>
              <a:t>ó</a:t>
            </a:r>
            <a:r>
              <a:rPr lang="en-US" sz="2800" b="1" u="none" strike="noStrike">
                <a:solidFill>
                  <a:srgbClr val="0E2A4F"/>
                </a:solidFill>
                <a:effectLst/>
                <a:uFillTx/>
                <a:latin typeface="Libre Baskerville"/>
                <a:ea typeface="Libre Baskerville"/>
              </a:rPr>
              <a:t>n</a:t>
            </a:r>
            <a:r>
              <a:rPr lang="en-US" sz="2800" b="1" u="none" strike="noStrike">
                <a:solidFill>
                  <a:srgbClr val="0E2A4F"/>
                </a:solidFill>
                <a:effectLst/>
                <a:uFillTx/>
                <a:latin typeface="Libre Baskerville"/>
                <a:ea typeface="Libre Baskerville"/>
              </a:rPr>
              <a:t>d</a:t>
            </a:r>
            <a:r>
              <a:rPr lang="en-US" sz="2800" b="1" u="none" strike="noStrike">
                <a:solidFill>
                  <a:srgbClr val="0E2A4F"/>
                </a:solidFill>
                <a:effectLst/>
                <a:uFillTx/>
                <a:latin typeface="Libre Baskerville"/>
                <a:ea typeface="Libre Baskerville"/>
              </a:rPr>
              <a:t>e </a:t>
            </a:r>
            <a:r>
              <a:rPr lang="en-US" sz="2800" b="1" u="none" strike="noStrike">
                <a:solidFill>
                  <a:srgbClr val="0E2A4F"/>
                </a:solidFill>
                <a:effectLst/>
                <a:uFillTx/>
                <a:latin typeface="Libre Baskerville"/>
                <a:ea typeface="Libre Baskerville"/>
              </a:rPr>
              <a:t>ll</a:t>
            </a:r>
            <a:r>
              <a:rPr lang="en-US" sz="2800" b="1" u="none" strike="noStrike">
                <a:solidFill>
                  <a:srgbClr val="0E2A4F"/>
                </a:solidFill>
                <a:effectLst/>
                <a:uFillTx/>
                <a:latin typeface="Libre Baskerville"/>
                <a:ea typeface="Libre Baskerville"/>
              </a:rPr>
              <a:t>eg</a:t>
            </a:r>
            <a:r>
              <a:rPr lang="en-US" sz="2800" b="1" u="none" strike="noStrike">
                <a:solidFill>
                  <a:srgbClr val="0E2A4F"/>
                </a:solidFill>
                <a:effectLst/>
                <a:uFillTx/>
                <a:latin typeface="Libre Baskerville"/>
                <a:ea typeface="Libre Baskerville"/>
              </a:rPr>
              <a:t>a </a:t>
            </a:r>
            <a:r>
              <a:rPr lang="en-US" sz="2800" b="1" u="none" strike="noStrike">
                <a:solidFill>
                  <a:srgbClr val="0E2A4F"/>
                </a:solidFill>
                <a:effectLst/>
                <a:uFillTx/>
                <a:latin typeface="Libre Baskerville"/>
                <a:ea typeface="Libre Baskerville"/>
              </a:rPr>
              <a:t>el </a:t>
            </a:r>
            <a:r>
              <a:rPr lang="en-US" sz="2800" b="1" u="none" strike="noStrike">
                <a:solidFill>
                  <a:srgbClr val="0E2A4F"/>
                </a:solidFill>
                <a:effectLst/>
                <a:uFillTx/>
                <a:latin typeface="Libre Baskerville"/>
                <a:ea typeface="Libre Baskerville"/>
              </a:rPr>
              <a:t>pr</a:t>
            </a:r>
            <a:r>
              <a:rPr lang="en-US" sz="2800" b="1" u="none" strike="noStrike">
                <a:solidFill>
                  <a:srgbClr val="0E2A4F"/>
                </a:solidFill>
                <a:effectLst/>
                <a:uFillTx/>
                <a:latin typeface="Libre Baskerville"/>
                <a:ea typeface="Libre Baskerville"/>
              </a:rPr>
              <a:t>oy</a:t>
            </a:r>
            <a:r>
              <a:rPr lang="en-US" sz="2800" b="1" u="none" strike="noStrike">
                <a:solidFill>
                  <a:srgbClr val="0E2A4F"/>
                </a:solidFill>
                <a:effectLst/>
                <a:uFillTx/>
                <a:latin typeface="Libre Baskerville"/>
                <a:ea typeface="Libre Baskerville"/>
              </a:rPr>
              <a:t>ec</a:t>
            </a:r>
            <a:r>
              <a:rPr lang="en-US" sz="2800" b="1" u="none" strike="noStrike">
                <a:solidFill>
                  <a:srgbClr val="0E2A4F"/>
                </a:solidFill>
                <a:effectLst/>
                <a:uFillTx/>
                <a:latin typeface="Libre Baskerville"/>
                <a:ea typeface="Libre Baskerville"/>
              </a:rPr>
              <a:t>to</a:t>
            </a:r>
            <a:endParaRPr lang="es-PE" sz="2800" b="0" u="none" strike="noStrike">
              <a:solidFill>
                <a:schemeClr val="dk1"/>
              </a:solidFill>
              <a:effectLst/>
              <a:uFillTx/>
              <a:latin typeface="Public Sans"/>
            </a:endParaRPr>
          </a:p>
        </p:txBody>
      </p:sp>
      <p:sp>
        <p:nvSpPr>
          <p:cNvPr id="61" name="Shape 3"/>
          <p:cNvSpPr/>
          <p:nvPr/>
        </p:nvSpPr>
        <p:spPr>
          <a:xfrm>
            <a:off x="816120" y="1819080"/>
            <a:ext cx="5149440" cy="2203920"/>
          </a:xfrm>
          <a:prstGeom prst="rect">
            <a:avLst/>
          </a:prstGeom>
          <a:solidFill>
            <a:srgbClr val="FFFEFB"/>
          </a:solidFill>
          <a:ln w="6350">
            <a:solidFill>
              <a:srgbClr val="DCE2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P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4"/>
          <p:cNvSpPr/>
          <p:nvPr/>
        </p:nvSpPr>
        <p:spPr>
          <a:xfrm>
            <a:off x="1073160" y="2076480"/>
            <a:ext cx="4774320" cy="29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16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E2A4F"/>
                </a:solidFill>
                <a:effectLst/>
                <a:uFillTx/>
                <a:latin typeface="Public Sans"/>
                <a:ea typeface="Public Sans"/>
              </a:rPr>
              <a:t>Incluye</a:t>
            </a:r>
            <a:endParaRPr lang="es-P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5"/>
          <p:cNvSpPr/>
          <p:nvPr/>
        </p:nvSpPr>
        <p:spPr>
          <a:xfrm>
            <a:off x="1157760" y="2477520"/>
            <a:ext cx="4682160" cy="131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69560" indent="-169560" defTabSz="914400">
              <a:lnSpc>
                <a:spcPts val="2030"/>
              </a:lnSpc>
              <a:buClr>
                <a:srgbClr val="1F2B3D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Premier League, LaLiga y Bundesliga</a:t>
            </a:r>
            <a:endParaRPr lang="es-P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9560" indent="-169560" defTabSz="914400">
              <a:lnSpc>
                <a:spcPts val="2030"/>
              </a:lnSpc>
              <a:buClr>
                <a:srgbClr val="1F2B3D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Temporada actual y la anterior</a:t>
            </a:r>
            <a:endParaRPr lang="es-P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9560" indent="-169560" defTabSz="914400">
              <a:lnSpc>
                <a:spcPts val="2030"/>
              </a:lnSpc>
              <a:buClr>
                <a:srgbClr val="1F2B3D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Solo apuestas antes del partido</a:t>
            </a:r>
            <a:endParaRPr lang="es-P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9560" indent="-169560" defTabSz="914400">
              <a:lnSpc>
                <a:spcPts val="2030"/>
              </a:lnSpc>
              <a:buClr>
                <a:srgbClr val="1F2B3D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1X2, goles, ambos marcan, tarjetas y córners</a:t>
            </a:r>
            <a:endParaRPr lang="es-P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9560" indent="-169560" defTabSz="914400">
              <a:lnSpc>
                <a:spcPts val="2030"/>
              </a:lnSpc>
              <a:buClr>
                <a:srgbClr val="1F2B3D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Cuotas de bet365 y Pinnacle; Betano a mano</a:t>
            </a:r>
            <a:endParaRPr lang="es-P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6"/>
          <p:cNvSpPr/>
          <p:nvPr/>
        </p:nvSpPr>
        <p:spPr>
          <a:xfrm>
            <a:off x="6226200" y="1819080"/>
            <a:ext cx="5149440" cy="2203920"/>
          </a:xfrm>
          <a:prstGeom prst="rect">
            <a:avLst/>
          </a:prstGeom>
          <a:solidFill>
            <a:srgbClr val="FFFEFB"/>
          </a:solidFill>
          <a:ln w="6350">
            <a:solidFill>
              <a:srgbClr val="DCE2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P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7"/>
          <p:cNvSpPr/>
          <p:nvPr/>
        </p:nvSpPr>
        <p:spPr>
          <a:xfrm>
            <a:off x="6483240" y="2076480"/>
            <a:ext cx="4774320" cy="29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16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E2A4F"/>
                </a:solidFill>
                <a:effectLst/>
                <a:uFillTx/>
                <a:latin typeface="Public Sans"/>
                <a:ea typeface="Public Sans"/>
              </a:rPr>
              <a:t>No incluye</a:t>
            </a:r>
            <a:endParaRPr lang="es-P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8"/>
          <p:cNvSpPr/>
          <p:nvPr/>
        </p:nvSpPr>
        <p:spPr>
          <a:xfrm>
            <a:off x="6567840" y="2477520"/>
            <a:ext cx="4682160" cy="105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69560" indent="-169560" defTabSz="914400">
              <a:lnSpc>
                <a:spcPts val="2030"/>
              </a:lnSpc>
              <a:buClr>
                <a:srgbClr val="1F2B3D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Champions League (no está en football-data)</a:t>
            </a:r>
            <a:endParaRPr lang="es-P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9560" indent="-169560" defTabSz="914400">
              <a:lnSpc>
                <a:spcPts val="2030"/>
              </a:lnSpc>
              <a:buClr>
                <a:srgbClr val="1F2B3D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Jugadores, alineaciones y lesiones</a:t>
            </a:r>
            <a:endParaRPr lang="es-P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9560" indent="-169560" defTabSz="914400">
              <a:lnSpc>
                <a:spcPts val="2030"/>
              </a:lnSpc>
              <a:buClr>
                <a:srgbClr val="1F2B3D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Hándicap asiático y apuestas en vivo</a:t>
            </a:r>
            <a:endParaRPr lang="es-P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9560" indent="-169560" defTabSz="914400">
              <a:lnSpc>
                <a:spcPts val="2030"/>
              </a:lnSpc>
              <a:buClr>
                <a:srgbClr val="1F2B3D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Apostar de verdad: el sistema solo recomienda</a:t>
            </a:r>
            <a:endParaRPr lang="es-P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9"/>
          <p:cNvSpPr/>
          <p:nvPr/>
        </p:nvSpPr>
        <p:spPr>
          <a:xfrm>
            <a:off x="812880" y="4331520"/>
            <a:ext cx="10566000" cy="604080"/>
          </a:xfrm>
          <a:prstGeom prst="rect">
            <a:avLst/>
          </a:prstGeom>
          <a:solidFill>
            <a:srgbClr val="EEF2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P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10"/>
          <p:cNvSpPr/>
          <p:nvPr/>
        </p:nvSpPr>
        <p:spPr>
          <a:xfrm>
            <a:off x="1066680" y="4527000"/>
            <a:ext cx="16833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1" u="none" spc="99" strike="noStrike">
                <a:solidFill>
                  <a:srgbClr val="8A6410"/>
                </a:solidFill>
                <a:effectLst/>
                <a:uFillTx/>
                <a:latin typeface="Public Sans"/>
                <a:ea typeface="Public Sans"/>
              </a:rPr>
              <a:t>RESTRICCIONES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11"/>
          <p:cNvSpPr/>
          <p:nvPr/>
        </p:nvSpPr>
        <p:spPr>
          <a:xfrm>
            <a:off x="2774520" y="4509360"/>
            <a:ext cx="6886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1 semana · 3 integrantes · presupuesto cero · árbitro solo en la Premier</a:t>
            </a:r>
            <a:endParaRPr lang="es-P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12"/>
          <p:cNvSpPr/>
          <p:nvPr/>
        </p:nvSpPr>
        <p:spPr>
          <a:xfrm>
            <a:off x="812880" y="6289200"/>
            <a:ext cx="44103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F6878"/>
                </a:solidFill>
                <a:effectLst/>
                <a:uFillTx/>
                <a:latin typeface="Public Sans"/>
                <a:ea typeface="Public Sans"/>
              </a:rPr>
              <a:t>Analizador de apuestas de fútbol con microservicios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13"/>
          <p:cNvSpPr/>
          <p:nvPr/>
        </p:nvSpPr>
        <p:spPr>
          <a:xfrm>
            <a:off x="11232720" y="6289200"/>
            <a:ext cx="1461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r"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F6878"/>
                </a:solidFill>
                <a:effectLst/>
                <a:uFillTx/>
                <a:latin typeface="Public Sans"/>
                <a:ea typeface="Public Sans"/>
              </a:rPr>
              <a:t>4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0"/>
          <p:cNvSpPr/>
          <p:nvPr/>
        </p:nvSpPr>
        <p:spPr>
          <a:xfrm>
            <a:off x="0" y="0"/>
            <a:ext cx="151920" cy="6857640"/>
          </a:xfrm>
          <a:prstGeom prst="rect">
            <a:avLst/>
          </a:prstGeom>
          <a:solidFill>
            <a:srgbClr val="0E2A4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P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1"/>
          <p:cNvSpPr/>
          <p:nvPr/>
        </p:nvSpPr>
        <p:spPr>
          <a:xfrm>
            <a:off x="812880" y="812880"/>
            <a:ext cx="108831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1" u="none" spc="99" strike="noStrike">
                <a:solidFill>
                  <a:srgbClr val="8A6410"/>
                </a:solidFill>
                <a:effectLst/>
                <a:uFillTx/>
                <a:latin typeface="Public Sans"/>
                <a:ea typeface="Public Sans"/>
              </a:rPr>
              <a:t>2 · METODOLOGÍA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812880" y="1102320"/>
            <a:ext cx="10883160" cy="43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220"/>
              </a:lnSpc>
              <a:buNone/>
              <a:tabLst>
                <a:tab pos="0" algn="l"/>
              </a:tabLst>
            </a:pPr>
            <a:r>
              <a:rPr lang="en-US" sz="2800" b="1" u="none" strike="noStrike">
                <a:solidFill>
                  <a:srgbClr val="0E2A4F"/>
                </a:solidFill>
                <a:effectLst/>
                <a:uFillTx/>
                <a:latin typeface="Libre Baskerville"/>
                <a:ea typeface="Libre Baskerville"/>
              </a:rPr>
              <a:t>Scrum adaptado a un sprint de 7 días</a:t>
            </a:r>
            <a:endParaRPr lang="es-PE" sz="2800" b="0" u="none" strike="noStrike">
              <a:solidFill>
                <a:schemeClr val="dk1"/>
              </a:solidFill>
              <a:effectLst/>
              <a:uFillTx/>
              <a:latin typeface="Public Sans"/>
            </a:endParaRPr>
          </a:p>
        </p:txBody>
      </p:sp>
      <p:sp>
        <p:nvSpPr>
          <p:cNvPr id="75" name="Shape 3"/>
          <p:cNvSpPr/>
          <p:nvPr/>
        </p:nvSpPr>
        <p:spPr>
          <a:xfrm>
            <a:off x="812880" y="1815840"/>
            <a:ext cx="2283480" cy="1919520"/>
          </a:xfrm>
          <a:prstGeom prst="rect">
            <a:avLst/>
          </a:prstGeom>
          <a:solidFill>
            <a:srgbClr val="FFFE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P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4"/>
          <p:cNvSpPr/>
          <p:nvPr/>
        </p:nvSpPr>
        <p:spPr>
          <a:xfrm>
            <a:off x="812520" y="1841400"/>
            <a:ext cx="2283840" cy="360"/>
          </a:xfrm>
          <a:prstGeom prst="line">
            <a:avLst/>
          </a:prstGeom>
          <a:ln w="50800">
            <a:solidFill>
              <a:srgbClr val="0E2A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s-P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5"/>
          <p:cNvSpPr/>
          <p:nvPr/>
        </p:nvSpPr>
        <p:spPr>
          <a:xfrm>
            <a:off x="1015920" y="2070000"/>
            <a:ext cx="19335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8A6410"/>
                </a:solidFill>
                <a:effectLst/>
                <a:uFillTx/>
                <a:latin typeface="Public Sans"/>
                <a:ea typeface="Public Sans"/>
              </a:rPr>
              <a:t>Mar 20 · mañana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6"/>
          <p:cNvSpPr/>
          <p:nvPr/>
        </p:nvSpPr>
        <p:spPr>
          <a:xfrm>
            <a:off x="1015920" y="2359440"/>
            <a:ext cx="193356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19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E2A4F"/>
                </a:solidFill>
                <a:effectLst/>
                <a:uFillTx/>
                <a:latin typeface="Public Sans"/>
                <a:ea typeface="Public Sans"/>
              </a:rPr>
              <a:t>Sprint Planning</a:t>
            </a:r>
            <a:endParaRPr lang="es-P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7"/>
          <p:cNvSpPr/>
          <p:nvPr/>
        </p:nvSpPr>
        <p:spPr>
          <a:xfrm>
            <a:off x="1015920" y="2679480"/>
            <a:ext cx="1933560" cy="66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E4A5C"/>
                </a:solidFill>
                <a:effectLst/>
                <a:uFillTx/>
                <a:latin typeface="Public Sans"/>
                <a:ea typeface="Public Sans"/>
              </a:rPr>
              <a:t>Leer el documento, acordar los contratos de API y repartir historias.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8"/>
          <p:cNvSpPr/>
          <p:nvPr/>
        </p:nvSpPr>
        <p:spPr>
          <a:xfrm>
            <a:off x="3198240" y="1815840"/>
            <a:ext cx="3409920" cy="1919520"/>
          </a:xfrm>
          <a:prstGeom prst="rect">
            <a:avLst/>
          </a:prstGeom>
          <a:solidFill>
            <a:srgbClr val="0E2A4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P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9"/>
          <p:cNvSpPr/>
          <p:nvPr/>
        </p:nvSpPr>
        <p:spPr>
          <a:xfrm>
            <a:off x="3197880" y="1841400"/>
            <a:ext cx="3410280" cy="360"/>
          </a:xfrm>
          <a:prstGeom prst="line">
            <a:avLst/>
          </a:prstGeom>
          <a:ln w="50800">
            <a:solidFill>
              <a:srgbClr val="C997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s-P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10"/>
          <p:cNvSpPr/>
          <p:nvPr/>
        </p:nvSpPr>
        <p:spPr>
          <a:xfrm>
            <a:off x="3401280" y="2070000"/>
            <a:ext cx="309348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3B54A"/>
                </a:solidFill>
                <a:effectLst/>
                <a:uFillTx/>
                <a:latin typeface="Public Sans"/>
                <a:ea typeface="Public Sans"/>
              </a:rPr>
              <a:t>Mar 20 → Dom 25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11"/>
          <p:cNvSpPr/>
          <p:nvPr/>
        </p:nvSpPr>
        <p:spPr>
          <a:xfrm>
            <a:off x="3401280" y="2359440"/>
            <a:ext cx="309348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19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BFAF6"/>
                </a:solidFill>
                <a:effectLst/>
                <a:uFillTx/>
                <a:latin typeface="Public Sans"/>
                <a:ea typeface="Public Sans"/>
              </a:rPr>
              <a:t>Ejecución</a:t>
            </a:r>
            <a:endParaRPr lang="es-P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12"/>
          <p:cNvSpPr/>
          <p:nvPr/>
        </p:nvSpPr>
        <p:spPr>
          <a:xfrm>
            <a:off x="3401280" y="2679480"/>
            <a:ext cx="3093480" cy="87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5D0DE"/>
                </a:solidFill>
                <a:effectLst/>
                <a:uFillTx/>
                <a:latin typeface="Public Sans"/>
                <a:ea typeface="Public Sans"/>
              </a:rPr>
              <a:t>Cada integrante desarrolla sus 3 microservicios. Desde el día 1 responden con datos fijos (mocks) que respetan el contrato; luego entra la lógica real.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13"/>
          <p:cNvSpPr/>
          <p:nvPr/>
        </p:nvSpPr>
        <p:spPr>
          <a:xfrm>
            <a:off x="6710040" y="1815840"/>
            <a:ext cx="2283480" cy="1919520"/>
          </a:xfrm>
          <a:prstGeom prst="rect">
            <a:avLst/>
          </a:prstGeom>
          <a:solidFill>
            <a:srgbClr val="FFFE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P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14"/>
          <p:cNvSpPr/>
          <p:nvPr/>
        </p:nvSpPr>
        <p:spPr>
          <a:xfrm>
            <a:off x="6709680" y="1841400"/>
            <a:ext cx="2283840" cy="360"/>
          </a:xfrm>
          <a:prstGeom prst="line">
            <a:avLst/>
          </a:prstGeom>
          <a:ln w="50800">
            <a:solidFill>
              <a:srgbClr val="0E2A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s-P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15"/>
          <p:cNvSpPr/>
          <p:nvPr/>
        </p:nvSpPr>
        <p:spPr>
          <a:xfrm>
            <a:off x="6913080" y="2070000"/>
            <a:ext cx="19335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8A6410"/>
                </a:solidFill>
                <a:effectLst/>
                <a:uFillTx/>
                <a:latin typeface="Public Sans"/>
                <a:ea typeface="Public Sans"/>
              </a:rPr>
              <a:t>Lun 26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16"/>
          <p:cNvSpPr/>
          <p:nvPr/>
        </p:nvSpPr>
        <p:spPr>
          <a:xfrm>
            <a:off x="6913080" y="2359440"/>
            <a:ext cx="193356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19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E2A4F"/>
                </a:solidFill>
                <a:effectLst/>
                <a:uFillTx/>
                <a:latin typeface="Public Sans"/>
                <a:ea typeface="Public Sans"/>
              </a:rPr>
              <a:t>Sprint Review</a:t>
            </a:r>
            <a:endParaRPr lang="es-P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17"/>
          <p:cNvSpPr/>
          <p:nvPr/>
        </p:nvSpPr>
        <p:spPr>
          <a:xfrm>
            <a:off x="6913080" y="2679480"/>
            <a:ext cx="1933560" cy="45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E4A5C"/>
                </a:solidFill>
                <a:effectLst/>
                <a:uFillTx/>
                <a:latin typeface="Public Sans"/>
                <a:ea typeface="Public Sans"/>
              </a:rPr>
              <a:t>Demostración completa con docker compose up.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18"/>
          <p:cNvSpPr/>
          <p:nvPr/>
        </p:nvSpPr>
        <p:spPr>
          <a:xfrm>
            <a:off x="9095400" y="1815840"/>
            <a:ext cx="2283480" cy="1919520"/>
          </a:xfrm>
          <a:prstGeom prst="rect">
            <a:avLst/>
          </a:prstGeom>
          <a:solidFill>
            <a:srgbClr val="FFFE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P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19"/>
          <p:cNvSpPr/>
          <p:nvPr/>
        </p:nvSpPr>
        <p:spPr>
          <a:xfrm>
            <a:off x="9095040" y="1841400"/>
            <a:ext cx="2283840" cy="360"/>
          </a:xfrm>
          <a:prstGeom prst="line">
            <a:avLst/>
          </a:prstGeom>
          <a:ln w="50800">
            <a:solidFill>
              <a:srgbClr val="0E2A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s-P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20"/>
          <p:cNvSpPr/>
          <p:nvPr/>
        </p:nvSpPr>
        <p:spPr>
          <a:xfrm>
            <a:off x="9298440" y="2070000"/>
            <a:ext cx="19335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8A6410"/>
                </a:solidFill>
                <a:effectLst/>
                <a:uFillTx/>
                <a:latin typeface="Public Sans"/>
                <a:ea typeface="Public Sans"/>
              </a:rPr>
              <a:t>Lun 26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21"/>
          <p:cNvSpPr/>
          <p:nvPr/>
        </p:nvSpPr>
        <p:spPr>
          <a:xfrm>
            <a:off x="9298440" y="2359440"/>
            <a:ext cx="193356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19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E2A4F"/>
                </a:solidFill>
                <a:effectLst/>
                <a:uFillTx/>
                <a:latin typeface="Public Sans"/>
                <a:ea typeface="Public Sans"/>
              </a:rPr>
              <a:t>Retrospectiva</a:t>
            </a:r>
            <a:endParaRPr lang="es-P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22"/>
          <p:cNvSpPr/>
          <p:nvPr/>
        </p:nvSpPr>
        <p:spPr>
          <a:xfrm>
            <a:off x="9298440" y="2679480"/>
            <a:ext cx="1933560" cy="45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E4A5C"/>
                </a:solidFill>
                <a:effectLst/>
                <a:uFillTx/>
                <a:latin typeface="Public Sans"/>
                <a:ea typeface="Public Sans"/>
              </a:rPr>
              <a:t>Qué funcionó y qué mejorar.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5" name="Image 0" descr="Clock"/>
          <p:cNvPicPr/>
          <p:nvPr/>
        </p:nvPicPr>
        <p:blipFill>
          <a:blip r:embed="rId1"/>
          <a:stretch/>
        </p:blipFill>
        <p:spPr>
          <a:xfrm>
            <a:off x="812880" y="4137120"/>
            <a:ext cx="304560" cy="304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6" name="Text 23"/>
          <p:cNvSpPr/>
          <p:nvPr/>
        </p:nvSpPr>
        <p:spPr>
          <a:xfrm>
            <a:off x="1244520" y="4165200"/>
            <a:ext cx="3829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Daily Scrum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 de 15 minutos cada noche</a:t>
            </a:r>
            <a:endParaRPr lang="es-P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7" name="Image 1" descr="Users"/>
          <p:cNvPicPr/>
          <p:nvPr/>
        </p:nvPicPr>
        <p:blipFill>
          <a:blip r:embed="rId2"/>
          <a:srcRect l="0" t="-472" r="0" b="-472"/>
          <a:stretch/>
        </p:blipFill>
        <p:spPr>
          <a:xfrm>
            <a:off x="6222960" y="4137120"/>
            <a:ext cx="301680" cy="304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8" name="Text 24"/>
          <p:cNvSpPr/>
          <p:nvPr/>
        </p:nvSpPr>
        <p:spPr>
          <a:xfrm>
            <a:off x="6652080" y="4040640"/>
            <a:ext cx="486864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Autonomía, respeto, responsabilidad, foco y transparencia</a:t>
            </a:r>
            <a:endParaRPr lang="es-P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25"/>
          <p:cNvSpPr/>
          <p:nvPr/>
        </p:nvSpPr>
        <p:spPr>
          <a:xfrm>
            <a:off x="812880" y="6289200"/>
            <a:ext cx="44103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F6878"/>
                </a:solidFill>
                <a:effectLst/>
                <a:uFillTx/>
                <a:latin typeface="Public Sans"/>
                <a:ea typeface="Public Sans"/>
              </a:rPr>
              <a:t>Analizador de apuestas de fútbol con microservicios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26"/>
          <p:cNvSpPr/>
          <p:nvPr/>
        </p:nvSpPr>
        <p:spPr>
          <a:xfrm>
            <a:off x="11230920" y="6289200"/>
            <a:ext cx="1479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r"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F6878"/>
                </a:solidFill>
                <a:effectLst/>
                <a:uFillTx/>
                <a:latin typeface="Public Sans"/>
                <a:ea typeface="Public Sans"/>
              </a:rPr>
              <a:t>5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0"/>
          <p:cNvSpPr/>
          <p:nvPr/>
        </p:nvSpPr>
        <p:spPr>
          <a:xfrm>
            <a:off x="0" y="0"/>
            <a:ext cx="151920" cy="6857640"/>
          </a:xfrm>
          <a:prstGeom prst="rect">
            <a:avLst/>
          </a:prstGeom>
          <a:solidFill>
            <a:srgbClr val="0E2A4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P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1"/>
          <p:cNvSpPr/>
          <p:nvPr/>
        </p:nvSpPr>
        <p:spPr>
          <a:xfrm>
            <a:off x="812880" y="812880"/>
            <a:ext cx="108831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1" u="none" spc="99" strike="noStrike">
                <a:solidFill>
                  <a:srgbClr val="8A6410"/>
                </a:solidFill>
                <a:effectLst/>
                <a:uFillTx/>
                <a:latin typeface="Public Sans"/>
                <a:ea typeface="Public Sans"/>
              </a:rPr>
              <a:t>3 · PERSONAS Y ROLES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812880" y="1102320"/>
            <a:ext cx="10883160" cy="43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220"/>
              </a:lnSpc>
              <a:buNone/>
              <a:tabLst>
                <a:tab pos="0" algn="l"/>
              </a:tabLst>
            </a:pPr>
            <a:r>
              <a:rPr lang="en-US" sz="2800" b="1" u="none" strike="noStrike">
                <a:solidFill>
                  <a:srgbClr val="0E2A4F"/>
                </a:solidFill>
                <a:effectLst/>
                <a:uFillTx/>
                <a:latin typeface="Libre Baskerville"/>
                <a:ea typeface="Libre Baskerville"/>
              </a:rPr>
              <a:t>Cada integrante es dueño de 3 microservicios</a:t>
            </a:r>
            <a:endParaRPr lang="es-PE" sz="2800" b="0" u="none" strike="noStrike">
              <a:solidFill>
                <a:schemeClr val="dk1"/>
              </a:solidFill>
              <a:effectLst/>
              <a:uFillTx/>
              <a:latin typeface="Public Sans"/>
            </a:endParaRPr>
          </a:p>
        </p:txBody>
      </p:sp>
      <p:sp>
        <p:nvSpPr>
          <p:cNvPr id="104" name="Shape 3"/>
          <p:cNvSpPr/>
          <p:nvPr/>
        </p:nvSpPr>
        <p:spPr>
          <a:xfrm>
            <a:off x="816120" y="1819080"/>
            <a:ext cx="3380040" cy="2855520"/>
          </a:xfrm>
          <a:prstGeom prst="rect">
            <a:avLst/>
          </a:prstGeom>
          <a:solidFill>
            <a:srgbClr val="FFFEFB"/>
          </a:solidFill>
          <a:ln w="6350">
            <a:solidFill>
              <a:srgbClr val="DCE2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P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4"/>
          <p:cNvSpPr/>
          <p:nvPr/>
        </p:nvSpPr>
        <p:spPr>
          <a:xfrm>
            <a:off x="1073160" y="2076480"/>
            <a:ext cx="295164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1" u="none" spc="99" strike="noStrike">
                <a:solidFill>
                  <a:srgbClr val="8A6410"/>
                </a:solidFill>
                <a:effectLst/>
                <a:uFillTx/>
                <a:latin typeface="Public Sans"/>
                <a:ea typeface="Public Sans"/>
              </a:rPr>
              <a:t>DATOS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5"/>
          <p:cNvSpPr/>
          <p:nvPr/>
        </p:nvSpPr>
        <p:spPr>
          <a:xfrm>
            <a:off x="1073160" y="2391120"/>
            <a:ext cx="2951640" cy="55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081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E2A4F"/>
                </a:solidFill>
                <a:effectLst/>
                <a:uFillTx/>
                <a:latin typeface="Libre Baskerville"/>
                <a:ea typeface="Libre Baskerville"/>
              </a:rPr>
              <a:t>Marquina Diaz, Joseph Jonnier</a:t>
            </a:r>
            <a:endParaRPr lang="es-P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6"/>
          <p:cNvSpPr/>
          <p:nvPr/>
        </p:nvSpPr>
        <p:spPr>
          <a:xfrm>
            <a:off x="1073160" y="3021120"/>
            <a:ext cx="2951640" cy="66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E4A5C"/>
                </a:solidFill>
                <a:effectLst/>
                <a:uFillTx/>
                <a:latin typeface="Public Sans"/>
                <a:ea typeface="Public Sans"/>
              </a:rPr>
              <a:t>Ligas, equipos, árbitros y partidos. Descarga de los CSV y cálculo de promedios.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7"/>
          <p:cNvSpPr/>
          <p:nvPr/>
        </p:nvSpPr>
        <p:spPr>
          <a:xfrm>
            <a:off x="1073160" y="3762720"/>
            <a:ext cx="1087560" cy="289080"/>
          </a:xfrm>
          <a:prstGeom prst="roundRect">
            <a:avLst>
              <a:gd name="adj" fmla="val 17546"/>
            </a:avLst>
          </a:prstGeom>
          <a:solidFill>
            <a:srgbClr val="EEF2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rmAutofit/>
          </a:bodyPr>
          <a:p>
            <a:pPr algn="ctr"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E2A4F"/>
                </a:solidFill>
                <a:effectLst/>
                <a:uFillTx/>
                <a:latin typeface="Public Sans"/>
                <a:ea typeface="Public Sans"/>
              </a:rPr>
              <a:t>ms-catalogo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8"/>
          <p:cNvSpPr/>
          <p:nvPr/>
        </p:nvSpPr>
        <p:spPr>
          <a:xfrm>
            <a:off x="2237400" y="3762720"/>
            <a:ext cx="997560" cy="289080"/>
          </a:xfrm>
          <a:prstGeom prst="roundRect">
            <a:avLst>
              <a:gd name="adj" fmla="val 17546"/>
            </a:avLst>
          </a:prstGeom>
          <a:solidFill>
            <a:srgbClr val="EEF2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rmAutofit/>
          </a:bodyPr>
          <a:p>
            <a:pPr algn="ctr"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E2A4F"/>
                </a:solidFill>
                <a:effectLst/>
                <a:uFillTx/>
                <a:latin typeface="Public Sans"/>
                <a:ea typeface="Public Sans"/>
              </a:rPr>
              <a:t>ms-ingesta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9"/>
          <p:cNvSpPr/>
          <p:nvPr/>
        </p:nvSpPr>
        <p:spPr>
          <a:xfrm>
            <a:off x="1073160" y="4128480"/>
            <a:ext cx="1324080" cy="289080"/>
          </a:xfrm>
          <a:prstGeom prst="roundRect">
            <a:avLst>
              <a:gd name="adj" fmla="val 17546"/>
            </a:avLst>
          </a:prstGeom>
          <a:solidFill>
            <a:srgbClr val="EEF2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rmAutofit/>
          </a:bodyPr>
          <a:p>
            <a:pPr algn="ctr"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E2A4F"/>
                </a:solidFill>
                <a:effectLst/>
                <a:uFillTx/>
                <a:latin typeface="Public Sans"/>
                <a:ea typeface="Public Sans"/>
              </a:rPr>
              <a:t>ms-estadisticas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10"/>
          <p:cNvSpPr/>
          <p:nvPr/>
        </p:nvSpPr>
        <p:spPr>
          <a:xfrm>
            <a:off x="4405680" y="1819080"/>
            <a:ext cx="3380040" cy="2855520"/>
          </a:xfrm>
          <a:prstGeom prst="rect">
            <a:avLst/>
          </a:prstGeom>
          <a:solidFill>
            <a:srgbClr val="FFFEFB"/>
          </a:solidFill>
          <a:ln w="6350">
            <a:solidFill>
              <a:srgbClr val="DCE2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P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11"/>
          <p:cNvSpPr/>
          <p:nvPr/>
        </p:nvSpPr>
        <p:spPr>
          <a:xfrm>
            <a:off x="4663080" y="2076480"/>
            <a:ext cx="295164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1" u="none" spc="99" strike="noStrike">
                <a:solidFill>
                  <a:srgbClr val="8A6410"/>
                </a:solidFill>
                <a:effectLst/>
                <a:uFillTx/>
                <a:latin typeface="Public Sans"/>
                <a:ea typeface="Public Sans"/>
              </a:rPr>
              <a:t>MODELO Y VALOR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12"/>
          <p:cNvSpPr/>
          <p:nvPr/>
        </p:nvSpPr>
        <p:spPr>
          <a:xfrm>
            <a:off x="4663080" y="2391120"/>
            <a:ext cx="2951640" cy="28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081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E2A4F"/>
                </a:solidFill>
                <a:effectLst/>
                <a:uFillTx/>
                <a:latin typeface="Libre Baskerville"/>
                <a:ea typeface="Libre Baskerville"/>
              </a:rPr>
              <a:t>Lima Cora, Guillermo</a:t>
            </a:r>
            <a:endParaRPr lang="es-P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13"/>
          <p:cNvSpPr/>
          <p:nvPr/>
        </p:nvSpPr>
        <p:spPr>
          <a:xfrm>
            <a:off x="4663080" y="2756880"/>
            <a:ext cx="2951640" cy="66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E4A5C"/>
                </a:solidFill>
                <a:effectLst/>
                <a:uFillTx/>
                <a:latin typeface="Public Sans"/>
                <a:ea typeface="Public Sans"/>
              </a:rPr>
              <a:t>Cuotas y margen. Modelo de Poisson, valor esperado, apuesta del día y seguimiento.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14"/>
          <p:cNvSpPr/>
          <p:nvPr/>
        </p:nvSpPr>
        <p:spPr>
          <a:xfrm>
            <a:off x="4663080" y="3498480"/>
            <a:ext cx="948240" cy="289080"/>
          </a:xfrm>
          <a:prstGeom prst="roundRect">
            <a:avLst>
              <a:gd name="adj" fmla="val 17546"/>
            </a:avLst>
          </a:prstGeom>
          <a:solidFill>
            <a:srgbClr val="EEF2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rmAutofit/>
          </a:bodyPr>
          <a:p>
            <a:pPr algn="ctr"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E2A4F"/>
                </a:solidFill>
                <a:effectLst/>
                <a:uFillTx/>
                <a:latin typeface="Public Sans"/>
                <a:ea typeface="Public Sans"/>
              </a:rPr>
              <a:t>ms-cuotas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15"/>
          <p:cNvSpPr/>
          <p:nvPr/>
        </p:nvSpPr>
        <p:spPr>
          <a:xfrm>
            <a:off x="5688000" y="3498480"/>
            <a:ext cx="1378440" cy="289080"/>
          </a:xfrm>
          <a:prstGeom prst="roundRect">
            <a:avLst>
              <a:gd name="adj" fmla="val 17546"/>
            </a:avLst>
          </a:prstGeom>
          <a:solidFill>
            <a:srgbClr val="EEF2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rmAutofit/>
          </a:bodyPr>
          <a:p>
            <a:pPr algn="ctr"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E2A4F"/>
                </a:solidFill>
                <a:effectLst/>
                <a:uFillTx/>
                <a:latin typeface="Public Sans"/>
                <a:ea typeface="Public Sans"/>
              </a:rPr>
              <a:t>ms-predicciones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16"/>
          <p:cNvSpPr/>
          <p:nvPr/>
        </p:nvSpPr>
        <p:spPr>
          <a:xfrm>
            <a:off x="4663080" y="3864240"/>
            <a:ext cx="1118520" cy="289080"/>
          </a:xfrm>
          <a:prstGeom prst="roundRect">
            <a:avLst>
              <a:gd name="adj" fmla="val 17546"/>
            </a:avLst>
          </a:prstGeom>
          <a:solidFill>
            <a:srgbClr val="EEF2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rmAutofit/>
          </a:bodyPr>
          <a:p>
            <a:pPr algn="ctr"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E2A4F"/>
                </a:solidFill>
                <a:effectLst/>
                <a:uFillTx/>
                <a:latin typeface="Public Sans"/>
                <a:ea typeface="Public Sans"/>
              </a:rPr>
              <a:t>ms-apuestas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17"/>
          <p:cNvSpPr/>
          <p:nvPr/>
        </p:nvSpPr>
        <p:spPr>
          <a:xfrm>
            <a:off x="7995600" y="1819080"/>
            <a:ext cx="3380040" cy="2855520"/>
          </a:xfrm>
          <a:prstGeom prst="rect">
            <a:avLst/>
          </a:prstGeom>
          <a:solidFill>
            <a:srgbClr val="FFFEFB"/>
          </a:solidFill>
          <a:ln w="6350">
            <a:solidFill>
              <a:srgbClr val="DCE2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P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18"/>
          <p:cNvSpPr/>
          <p:nvPr/>
        </p:nvSpPr>
        <p:spPr>
          <a:xfrm>
            <a:off x="8252640" y="2076480"/>
            <a:ext cx="295164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1" u="none" spc="99" strike="noStrike">
                <a:solidFill>
                  <a:srgbClr val="8A6410"/>
                </a:solidFill>
                <a:effectLst/>
                <a:uFillTx/>
                <a:latin typeface="Public Sans"/>
                <a:ea typeface="Public Sans"/>
              </a:rPr>
              <a:t>PLATAFORMA · SCRUM MASTER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19"/>
          <p:cNvSpPr/>
          <p:nvPr/>
        </p:nvSpPr>
        <p:spPr>
          <a:xfrm>
            <a:off x="8252640" y="2391120"/>
            <a:ext cx="2951640" cy="55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081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E2A4F"/>
                </a:solidFill>
                <a:effectLst/>
                <a:uFillTx/>
                <a:latin typeface="Libre Baskerville"/>
                <a:ea typeface="Libre Baskerville"/>
              </a:rPr>
              <a:t>Tenazoa Nuñez, Renzo Fares</a:t>
            </a:r>
            <a:endParaRPr lang="es-P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20"/>
          <p:cNvSpPr/>
          <p:nvPr/>
        </p:nvSpPr>
        <p:spPr>
          <a:xfrm>
            <a:off x="8252640" y="3021120"/>
            <a:ext cx="2951640" cy="66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E4A5C"/>
                </a:solidFill>
                <a:effectLst/>
                <a:uFillTx/>
                <a:latin typeface="Public Sans"/>
                <a:ea typeface="Public Sans"/>
              </a:rPr>
              <a:t>Eureka, Gateway y seguridad JWT, cuentas, interfaz web y docker-compose final.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21"/>
          <p:cNvSpPr/>
          <p:nvPr/>
        </p:nvSpPr>
        <p:spPr>
          <a:xfrm>
            <a:off x="8252640" y="3762720"/>
            <a:ext cx="1384920" cy="289080"/>
          </a:xfrm>
          <a:prstGeom prst="roundRect">
            <a:avLst>
              <a:gd name="adj" fmla="val 17546"/>
            </a:avLst>
          </a:prstGeom>
          <a:solidFill>
            <a:srgbClr val="EEF2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rmAutofit/>
          </a:bodyPr>
          <a:p>
            <a:pPr algn="ctr"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E2A4F"/>
                </a:solidFill>
                <a:effectLst/>
                <a:uFillTx/>
                <a:latin typeface="Public Sans"/>
                <a:ea typeface="Public Sans"/>
              </a:rPr>
              <a:t>discovery-server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22"/>
          <p:cNvSpPr/>
          <p:nvPr/>
        </p:nvSpPr>
        <p:spPr>
          <a:xfrm>
            <a:off x="9714240" y="3762720"/>
            <a:ext cx="1069200" cy="289080"/>
          </a:xfrm>
          <a:prstGeom prst="roundRect">
            <a:avLst>
              <a:gd name="adj" fmla="val 17546"/>
            </a:avLst>
          </a:prstGeom>
          <a:solidFill>
            <a:srgbClr val="EEF2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rmAutofit/>
          </a:bodyPr>
          <a:p>
            <a:pPr algn="ctr"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E2A4F"/>
                </a:solidFill>
                <a:effectLst/>
                <a:uFillTx/>
                <a:latin typeface="Public Sans"/>
                <a:ea typeface="Public Sans"/>
              </a:rPr>
              <a:t>api-gateway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23"/>
          <p:cNvSpPr/>
          <p:nvPr/>
        </p:nvSpPr>
        <p:spPr>
          <a:xfrm>
            <a:off x="8252640" y="4128480"/>
            <a:ext cx="1072800" cy="289080"/>
          </a:xfrm>
          <a:prstGeom prst="roundRect">
            <a:avLst>
              <a:gd name="adj" fmla="val 17546"/>
            </a:avLst>
          </a:prstGeom>
          <a:solidFill>
            <a:srgbClr val="EEF2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rmAutofit/>
          </a:bodyPr>
          <a:p>
            <a:pPr algn="ctr"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E2A4F"/>
                </a:solidFill>
                <a:effectLst/>
                <a:uFillTx/>
                <a:latin typeface="Public Sans"/>
                <a:ea typeface="Public Sans"/>
              </a:rPr>
              <a:t>ms-usuarios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24"/>
          <p:cNvSpPr/>
          <p:nvPr/>
        </p:nvSpPr>
        <p:spPr>
          <a:xfrm>
            <a:off x="9402120" y="4128480"/>
            <a:ext cx="943200" cy="289080"/>
          </a:xfrm>
          <a:prstGeom prst="roundRect">
            <a:avLst>
              <a:gd name="adj" fmla="val 17546"/>
            </a:avLst>
          </a:prstGeom>
          <a:solidFill>
            <a:srgbClr val="FAEED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rmAutofit/>
          </a:bodyPr>
          <a:p>
            <a:pPr algn="ctr"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33806"/>
                </a:solidFill>
                <a:effectLst/>
                <a:uFillTx/>
                <a:latin typeface="Public Sans"/>
                <a:ea typeface="Public Sans"/>
              </a:rPr>
              <a:t>+ web-app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25"/>
          <p:cNvSpPr/>
          <p:nvPr/>
        </p:nvSpPr>
        <p:spPr>
          <a:xfrm>
            <a:off x="812880" y="498312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Product Owner y QA rotan entre los tres: cada uno prueba los servicios de otro compañero.</a:t>
            </a:r>
            <a:endParaRPr lang="es-P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26"/>
          <p:cNvSpPr/>
          <p:nvPr/>
        </p:nvSpPr>
        <p:spPr>
          <a:xfrm>
            <a:off x="812880" y="6289200"/>
            <a:ext cx="44103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F6878"/>
                </a:solidFill>
                <a:effectLst/>
                <a:uFillTx/>
                <a:latin typeface="Public Sans"/>
                <a:ea typeface="Public Sans"/>
              </a:rPr>
              <a:t>Analizador de apuestas de fútbol con microservicios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27"/>
          <p:cNvSpPr/>
          <p:nvPr/>
        </p:nvSpPr>
        <p:spPr>
          <a:xfrm>
            <a:off x="11233440" y="6289200"/>
            <a:ext cx="14544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r"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F6878"/>
                </a:solidFill>
                <a:effectLst/>
                <a:uFillTx/>
                <a:latin typeface="Public Sans"/>
                <a:ea typeface="Public Sans"/>
              </a:rPr>
              <a:t>6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Shape 0"/>
          <p:cNvSpPr/>
          <p:nvPr/>
        </p:nvSpPr>
        <p:spPr>
          <a:xfrm>
            <a:off x="0" y="0"/>
            <a:ext cx="151920" cy="6857640"/>
          </a:xfrm>
          <a:prstGeom prst="rect">
            <a:avLst/>
          </a:prstGeom>
          <a:solidFill>
            <a:srgbClr val="0E2A4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P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1"/>
          <p:cNvSpPr/>
          <p:nvPr/>
        </p:nvSpPr>
        <p:spPr>
          <a:xfrm>
            <a:off x="812880" y="812880"/>
            <a:ext cx="108831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1" u="none" spc="99" strike="noStrike">
                <a:solidFill>
                  <a:srgbClr val="8A6410"/>
                </a:solidFill>
                <a:effectLst/>
                <a:uFillTx/>
                <a:latin typeface="Public Sans"/>
                <a:ea typeface="Public Sans"/>
              </a:rPr>
              <a:t>4.1 · HISTORIA DE USUARIO CENTRAL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812880" y="1102320"/>
            <a:ext cx="10883160" cy="43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220"/>
              </a:lnSpc>
              <a:buNone/>
              <a:tabLst>
                <a:tab pos="0" algn="l"/>
              </a:tabLst>
            </a:pPr>
            <a:r>
              <a:rPr lang="en-US" sz="2800" b="1" u="none" strike="noStrike">
                <a:solidFill>
                  <a:srgbClr val="0E2A4F"/>
                </a:solidFill>
                <a:effectLst/>
                <a:uFillTx/>
                <a:latin typeface="Libre Baskerville"/>
                <a:ea typeface="Libre Baskerville"/>
              </a:rPr>
              <a:t>Lo que necesita el apostador</a:t>
            </a:r>
            <a:endParaRPr lang="es-PE" sz="2800" b="0" u="none" strike="noStrike">
              <a:solidFill>
                <a:schemeClr val="dk1"/>
              </a:solidFill>
              <a:effectLst/>
              <a:uFillTx/>
              <a:latin typeface="Public Sans"/>
            </a:endParaRPr>
          </a:p>
        </p:txBody>
      </p:sp>
      <p:sp>
        <p:nvSpPr>
          <p:cNvPr id="132" name="Shape 3"/>
          <p:cNvSpPr/>
          <p:nvPr/>
        </p:nvSpPr>
        <p:spPr>
          <a:xfrm>
            <a:off x="838080" y="1815840"/>
            <a:ext cx="360" cy="1130400"/>
          </a:xfrm>
          <a:prstGeom prst="line">
            <a:avLst/>
          </a:prstGeom>
          <a:ln w="50800">
            <a:solidFill>
              <a:srgbClr val="C997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pPr/>
            <a:endParaRPr lang="es-P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4"/>
          <p:cNvSpPr/>
          <p:nvPr/>
        </p:nvSpPr>
        <p:spPr>
          <a:xfrm>
            <a:off x="1117440" y="1866960"/>
            <a:ext cx="10202760" cy="105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701"/>
              </a:lnSpc>
              <a:tabLst>
                <a:tab pos="0" algn="l"/>
              </a:tabLst>
            </a:pPr>
            <a:r>
              <a:rPr lang="en-US" sz="1800" b="0" i="1" u="none" strike="noStrike">
                <a:solidFill>
                  <a:srgbClr val="0E2A4F"/>
                </a:solidFill>
                <a:effectLst/>
                <a:uFillTx/>
                <a:latin typeface="Libre Baskerville"/>
                <a:ea typeface="Libre Baskerville"/>
              </a:rPr>
              <a:t>“Como apostador, quiero ver los partidos de la fecha con la probabilidad que estima el sistema para cada mercado y compararla con la cuota de mi casa, para saber qué apuestas tienen valor y cuál es la apuesta del día.”</a:t>
            </a:r>
            <a:endParaRPr lang="es-P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5"/>
          <p:cNvSpPr/>
          <p:nvPr/>
        </p:nvSpPr>
        <p:spPr>
          <a:xfrm>
            <a:off x="812880" y="3251160"/>
            <a:ext cx="108831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1" u="none" spc="99" strike="noStrike">
                <a:solidFill>
                  <a:srgbClr val="8A6410"/>
                </a:solidFill>
                <a:effectLst/>
                <a:uFillTx/>
                <a:latin typeface="Public Sans"/>
                <a:ea typeface="Public Sans"/>
              </a:rPr>
              <a:t>CRITERIOS DE ACEPTACIÓN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6"/>
          <p:cNvSpPr/>
          <p:nvPr/>
        </p:nvSpPr>
        <p:spPr>
          <a:xfrm>
            <a:off x="812880" y="3591360"/>
            <a:ext cx="5219280" cy="766440"/>
          </a:xfrm>
          <a:prstGeom prst="rect">
            <a:avLst/>
          </a:prstGeom>
          <a:solidFill>
            <a:srgbClr val="EEF2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P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6" name="Image 0" descr="Check"/>
          <p:cNvPicPr/>
          <p:nvPr/>
        </p:nvPicPr>
        <p:blipFill>
          <a:blip r:embed="rId1"/>
          <a:stretch/>
        </p:blipFill>
        <p:spPr>
          <a:xfrm>
            <a:off x="1015920" y="3848040"/>
            <a:ext cx="253800" cy="253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7" name="Text 7"/>
          <p:cNvSpPr/>
          <p:nvPr/>
        </p:nvSpPr>
        <p:spPr>
          <a:xfrm>
            <a:off x="1397160" y="3859200"/>
            <a:ext cx="4393080" cy="25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82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Partidos de las 3 ligas, filtrables por fecha y liga</a:t>
            </a:r>
            <a:endParaRPr lang="es-P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8"/>
          <p:cNvSpPr/>
          <p:nvPr/>
        </p:nvSpPr>
        <p:spPr>
          <a:xfrm>
            <a:off x="6159600" y="3591360"/>
            <a:ext cx="5219280" cy="766440"/>
          </a:xfrm>
          <a:prstGeom prst="rect">
            <a:avLst/>
          </a:prstGeom>
          <a:solidFill>
            <a:srgbClr val="EEF2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P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9" name="Image 1" descr="Check"/>
          <p:cNvPicPr/>
          <p:nvPr/>
        </p:nvPicPr>
        <p:blipFill>
          <a:blip r:embed="rId2"/>
          <a:srcRect l="0" t="-378" r="0" b="-378"/>
          <a:stretch/>
        </p:blipFill>
        <p:spPr>
          <a:xfrm>
            <a:off x="6362640" y="3848040"/>
            <a:ext cx="251640" cy="253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0" name="Text 9"/>
          <p:cNvSpPr/>
          <p:nvPr/>
        </p:nvSpPr>
        <p:spPr>
          <a:xfrm>
            <a:off x="6741720" y="3744000"/>
            <a:ext cx="4566960" cy="48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82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Probabilidad y cuota justa por mercado, con su explicación</a:t>
            </a:r>
            <a:endParaRPr lang="es-P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10"/>
          <p:cNvSpPr/>
          <p:nvPr/>
        </p:nvSpPr>
        <p:spPr>
          <a:xfrm>
            <a:off x="812880" y="4485240"/>
            <a:ext cx="5219280" cy="766440"/>
          </a:xfrm>
          <a:prstGeom prst="rect">
            <a:avLst/>
          </a:prstGeom>
          <a:solidFill>
            <a:srgbClr val="EEF2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P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2" name="Image 2" descr="Check"/>
          <p:cNvPicPr/>
          <p:nvPr/>
        </p:nvPicPr>
        <p:blipFill>
          <a:blip r:embed="rId3"/>
          <a:stretch/>
        </p:blipFill>
        <p:spPr>
          <a:xfrm>
            <a:off x="1015920" y="4741920"/>
            <a:ext cx="253800" cy="253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3" name="Text 11"/>
          <p:cNvSpPr/>
          <p:nvPr/>
        </p:nvSpPr>
        <p:spPr>
          <a:xfrm>
            <a:off x="1397160" y="4753440"/>
            <a:ext cx="4635000" cy="25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82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Al ingresar una cuota: valor esperado y stake sugerido</a:t>
            </a:r>
            <a:endParaRPr lang="es-P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12"/>
          <p:cNvSpPr/>
          <p:nvPr/>
        </p:nvSpPr>
        <p:spPr>
          <a:xfrm>
            <a:off x="6159600" y="4485240"/>
            <a:ext cx="5219280" cy="766440"/>
          </a:xfrm>
          <a:prstGeom prst="rect">
            <a:avLst/>
          </a:prstGeom>
          <a:solidFill>
            <a:srgbClr val="EEF2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P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5" name="Image 3" descr="Check"/>
          <p:cNvPicPr/>
          <p:nvPr/>
        </p:nvPicPr>
        <p:blipFill>
          <a:blip r:embed="rId4"/>
          <a:srcRect l="0" t="-94" r="0" b="-94"/>
          <a:stretch/>
        </p:blipFill>
        <p:spPr>
          <a:xfrm>
            <a:off x="6362640" y="4741920"/>
            <a:ext cx="253080" cy="253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6" name="Text 13"/>
          <p:cNvSpPr/>
          <p:nvPr/>
        </p:nvSpPr>
        <p:spPr>
          <a:xfrm>
            <a:off x="6743160" y="4637880"/>
            <a:ext cx="4565520" cy="48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82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Si nada cumple los umbrales: “Hoy no hay apuesta del día”</a:t>
            </a:r>
            <a:endParaRPr lang="es-P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14"/>
          <p:cNvSpPr/>
          <p:nvPr/>
        </p:nvSpPr>
        <p:spPr>
          <a:xfrm>
            <a:off x="812880" y="6289200"/>
            <a:ext cx="44103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F6878"/>
                </a:solidFill>
                <a:effectLst/>
                <a:uFillTx/>
                <a:latin typeface="Public Sans"/>
                <a:ea typeface="Public Sans"/>
              </a:rPr>
              <a:t>Analizador de apuestas de fútbol con microservicios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15"/>
          <p:cNvSpPr/>
          <p:nvPr/>
        </p:nvSpPr>
        <p:spPr>
          <a:xfrm>
            <a:off x="11236680" y="6289200"/>
            <a:ext cx="14184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r"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F6878"/>
                </a:solidFill>
                <a:effectLst/>
                <a:uFillTx/>
                <a:latin typeface="Public Sans"/>
                <a:ea typeface="Public Sans"/>
              </a:rPr>
              <a:t>7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Shape 0"/>
          <p:cNvSpPr/>
          <p:nvPr/>
        </p:nvSpPr>
        <p:spPr>
          <a:xfrm>
            <a:off x="0" y="0"/>
            <a:ext cx="151920" cy="6857640"/>
          </a:xfrm>
          <a:prstGeom prst="rect">
            <a:avLst/>
          </a:prstGeom>
          <a:solidFill>
            <a:srgbClr val="0E2A4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P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1"/>
          <p:cNvSpPr/>
          <p:nvPr/>
        </p:nvSpPr>
        <p:spPr>
          <a:xfrm>
            <a:off x="812880" y="812880"/>
            <a:ext cx="108831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1" u="none" spc="99" strike="noStrike">
                <a:solidFill>
                  <a:srgbClr val="8A6410"/>
                </a:solidFill>
                <a:effectLst/>
                <a:uFillTx/>
                <a:latin typeface="Public Sans"/>
                <a:ea typeface="Public Sans"/>
              </a:rPr>
              <a:t>4.2 · ACTORES Y CASOS DE USO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812880" y="1102320"/>
            <a:ext cx="10883160" cy="43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220"/>
              </a:lnSpc>
              <a:buNone/>
              <a:tabLst>
                <a:tab pos="0" algn="l"/>
              </a:tabLst>
            </a:pPr>
            <a:r>
              <a:rPr lang="en-US" sz="2800" b="1" u="none" strike="noStrike">
                <a:solidFill>
                  <a:srgbClr val="0E2A4F"/>
                </a:solidFill>
                <a:effectLst/>
                <a:uFillTx/>
                <a:latin typeface="Libre Baskerville"/>
                <a:ea typeface="Libre Baskerville"/>
              </a:rPr>
              <a:t>4 actores, 10 casos de uso</a:t>
            </a:r>
            <a:endParaRPr lang="es-PE" sz="2800" b="0" u="none" strike="noStrike">
              <a:solidFill>
                <a:schemeClr val="dk1"/>
              </a:solidFill>
              <a:effectLst/>
              <a:uFillTx/>
              <a:latin typeface="Public Sans"/>
            </a:endParaRPr>
          </a:p>
        </p:txBody>
      </p:sp>
      <p:graphicFrame>
        <p:nvGraphicFramePr>
          <p:cNvPr id="152" name="Table 0"/>
          <p:cNvGraphicFramePr/>
          <p:nvPr/>
        </p:nvGraphicFramePr>
        <p:xfrm>
          <a:off x="825480" y="1778040"/>
          <a:ext cx="6946560" cy="3657960"/>
        </p:xfrm>
        <a:graphic>
          <a:graphicData uri="http://schemas.openxmlformats.org/drawingml/2006/table">
            <a:tbl>
              <a:tblPr/>
              <a:tblGrid>
                <a:gridCol w="1945080"/>
                <a:gridCol w="5001480"/>
              </a:tblGrid>
              <a:tr h="332280"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BFAF6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Actor</a:t>
                      </a:r>
                      <a:endParaRPr lang="es-PE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8C7C4"/>
                      </a:solidFill>
                      <a:prstDash val="solid"/>
                    </a:lnL>
                    <a:lnR w="12240">
                      <a:solidFill>
                        <a:srgbClr val="0F2542"/>
                      </a:solidFill>
                      <a:prstDash val="solid"/>
                    </a:lnR>
                    <a:lnT w="12240">
                      <a:solidFill>
                        <a:srgbClr val="C8C7C4"/>
                      </a:solidFill>
                      <a:prstDash val="solid"/>
                    </a:lnT>
                    <a:lnB w="12240">
                      <a:solidFill>
                        <a:srgbClr val="0F2542"/>
                      </a:solidFill>
                      <a:prstDash val="solid"/>
                    </a:lnB>
                    <a:solidFill>
                      <a:srgbClr val="0E2A4F"/>
                    </a:solidFill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BFAF6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Caso de uso</a:t>
                      </a:r>
                      <a:endParaRPr lang="es-PE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0F2542"/>
                      </a:solidFill>
                      <a:prstDash val="solid"/>
                    </a:lnL>
                    <a:lnR w="12240">
                      <a:solidFill>
                        <a:srgbClr val="0F2542"/>
                      </a:solidFill>
                      <a:prstDash val="solid"/>
                    </a:lnR>
                    <a:lnT w="12240">
                      <a:solidFill>
                        <a:srgbClr val="C8C7C4"/>
                      </a:solidFill>
                      <a:prstDash val="solid"/>
                    </a:lnT>
                    <a:lnB w="12240">
                      <a:solidFill>
                        <a:srgbClr val="0F2542"/>
                      </a:solidFill>
                      <a:prstDash val="solid"/>
                    </a:lnB>
                    <a:solidFill>
                      <a:srgbClr val="0E2A4F"/>
                    </a:solidFill>
                  </a:tcPr>
                </a:tc>
              </a:tr>
              <a:tr h="332280"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Visitante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8C7C4"/>
                      </a:solidFill>
                      <a:prstDash val="solid"/>
                    </a:lnL>
                    <a:lnR w="12240">
                      <a:solidFill>
                        <a:srgbClr val="C8C7C4"/>
                      </a:solidFill>
                      <a:prstDash val="solid"/>
                    </a:lnR>
                    <a:lnT w="12240">
                      <a:solidFill>
                        <a:srgbClr val="0F2542"/>
                      </a:solidFill>
                      <a:prstDash val="solid"/>
                    </a:lnT>
                    <a:lnB w="12240">
                      <a:solidFill>
                        <a:srgbClr val="C8C7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CU-01 Crear cuenta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8C7C4"/>
                      </a:solidFill>
                      <a:prstDash val="solid"/>
                    </a:lnL>
                    <a:lnR w="12240">
                      <a:solidFill>
                        <a:srgbClr val="C8C7C4"/>
                      </a:solidFill>
                      <a:prstDash val="solid"/>
                    </a:lnR>
                    <a:lnT w="12240">
                      <a:solidFill>
                        <a:srgbClr val="0F2542"/>
                      </a:solidFill>
                      <a:prstDash val="solid"/>
                    </a:lnT>
                    <a:lnB w="12240">
                      <a:solidFill>
                        <a:srgbClr val="C8C7C4"/>
                      </a:solidFill>
                      <a:prstDash val="solid"/>
                    </a:lnB>
                    <a:noFill/>
                  </a:tcPr>
                </a:tc>
              </a:tr>
              <a:tr h="332280"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Apostador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8C7C4"/>
                      </a:solidFill>
                      <a:prstDash val="solid"/>
                    </a:lnL>
                    <a:lnR w="12240">
                      <a:solidFill>
                        <a:srgbClr val="BEC1C5"/>
                      </a:solidFill>
                      <a:prstDash val="solid"/>
                    </a:lnR>
                    <a:lnT w="12240">
                      <a:solidFill>
                        <a:srgbClr val="C8C7C4"/>
                      </a:solidFill>
                      <a:prstDash val="solid"/>
                    </a:lnT>
                    <a:lnB w="12240">
                      <a:solidFill>
                        <a:srgbClr val="BEC1C5"/>
                      </a:solidFill>
                      <a:prstDash val="soli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CU-02 Iniciar sesión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BEC1C5"/>
                      </a:solidFill>
                      <a:prstDash val="solid"/>
                    </a:lnL>
                    <a:lnR w="12240">
                      <a:solidFill>
                        <a:srgbClr val="BEC1C5"/>
                      </a:solidFill>
                      <a:prstDash val="solid"/>
                    </a:lnR>
                    <a:lnT w="12240">
                      <a:solidFill>
                        <a:srgbClr val="C8C7C4"/>
                      </a:solidFill>
                      <a:prstDash val="solid"/>
                    </a:lnT>
                    <a:lnB w="12240">
                      <a:solidFill>
                        <a:srgbClr val="BEC1C5"/>
                      </a:solidFill>
                      <a:prstDash val="solid"/>
                    </a:lnB>
                    <a:solidFill>
                      <a:srgbClr val="EEF2F7"/>
                    </a:solidFill>
                  </a:tcPr>
                </a:tc>
              </a:tr>
              <a:tr h="332280"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Apostador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8C7C4"/>
                      </a:solidFill>
                      <a:prstDash val="solid"/>
                    </a:lnL>
                    <a:lnR w="12240">
                      <a:solidFill>
                        <a:srgbClr val="C8C7C4"/>
                      </a:solidFill>
                      <a:prstDash val="solid"/>
                    </a:lnR>
                    <a:lnT w="12240">
                      <a:solidFill>
                        <a:srgbClr val="BEC1C5"/>
                      </a:solidFill>
                      <a:prstDash val="solid"/>
                    </a:lnT>
                    <a:lnB w="12240">
                      <a:solidFill>
                        <a:srgbClr val="C8C7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CU-03 Consultar partidos por fecha y liga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8C7C4"/>
                      </a:solidFill>
                      <a:prstDash val="solid"/>
                    </a:lnL>
                    <a:lnR w="12240">
                      <a:solidFill>
                        <a:srgbClr val="C8C7C4"/>
                      </a:solidFill>
                      <a:prstDash val="solid"/>
                    </a:lnR>
                    <a:lnT w="12240">
                      <a:solidFill>
                        <a:srgbClr val="BEC1C5"/>
                      </a:solidFill>
                      <a:prstDash val="solid"/>
                    </a:lnT>
                    <a:lnB w="12240">
                      <a:solidFill>
                        <a:srgbClr val="C8C7C4"/>
                      </a:solidFill>
                      <a:prstDash val="solid"/>
                    </a:lnB>
                    <a:noFill/>
                  </a:tcPr>
                </a:tc>
              </a:tr>
              <a:tr h="332280"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Apostador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8C7C4"/>
                      </a:solidFill>
                      <a:prstDash val="solid"/>
                    </a:lnL>
                    <a:lnR w="12240">
                      <a:solidFill>
                        <a:srgbClr val="C7BEAE"/>
                      </a:solidFill>
                      <a:prstDash val="solid"/>
                    </a:lnR>
                    <a:lnT w="12240">
                      <a:solidFill>
                        <a:srgbClr val="C8C7C4"/>
                      </a:solidFill>
                      <a:prstDash val="solid"/>
                    </a:lnT>
                    <a:lnB w="12240">
                      <a:solidFill>
                        <a:srgbClr val="C7BEAE"/>
                      </a:solidFill>
                      <a:prstDash val="solid"/>
                    </a:lnB>
                    <a:solidFill>
                      <a:srgbClr val="FAEEDA"/>
                    </a:solidFill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CU-04 Analizar un partido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7BEAE"/>
                      </a:solidFill>
                      <a:prstDash val="solid"/>
                    </a:lnL>
                    <a:lnR w="12240">
                      <a:solidFill>
                        <a:srgbClr val="C7BEAE"/>
                      </a:solidFill>
                      <a:prstDash val="solid"/>
                    </a:lnR>
                    <a:lnT w="12240">
                      <a:solidFill>
                        <a:srgbClr val="C8C7C4"/>
                      </a:solidFill>
                      <a:prstDash val="solid"/>
                    </a:lnT>
                    <a:lnB w="12240">
                      <a:solidFill>
                        <a:srgbClr val="C7BEAE"/>
                      </a:solidFill>
                      <a:prstDash val="solid"/>
                    </a:lnB>
                    <a:solidFill>
                      <a:srgbClr val="FAEEDA"/>
                    </a:solidFill>
                  </a:tcPr>
                </a:tc>
              </a:tr>
              <a:tr h="332280"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Apostador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8C7C4"/>
                      </a:solidFill>
                      <a:prstDash val="solid"/>
                    </a:lnL>
                    <a:lnR w="12240">
                      <a:solidFill>
                        <a:srgbClr val="C8C7C4"/>
                      </a:solidFill>
                      <a:prstDash val="solid"/>
                    </a:lnR>
                    <a:lnT w="12240">
                      <a:solidFill>
                        <a:srgbClr val="C7BEAE"/>
                      </a:solidFill>
                      <a:prstDash val="solid"/>
                    </a:lnT>
                    <a:lnB w="12240">
                      <a:solidFill>
                        <a:srgbClr val="C8C7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CU-05 Evaluar una cuota (valor esperado)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8C7C4"/>
                      </a:solidFill>
                      <a:prstDash val="solid"/>
                    </a:lnL>
                    <a:lnR w="12240">
                      <a:solidFill>
                        <a:srgbClr val="C8C7C4"/>
                      </a:solidFill>
                      <a:prstDash val="solid"/>
                    </a:lnR>
                    <a:lnT w="12240">
                      <a:solidFill>
                        <a:srgbClr val="C7BEAE"/>
                      </a:solidFill>
                      <a:prstDash val="solid"/>
                    </a:lnT>
                    <a:lnB w="12240">
                      <a:solidFill>
                        <a:srgbClr val="C8C7C4"/>
                      </a:solidFill>
                      <a:prstDash val="solid"/>
                    </a:lnB>
                    <a:noFill/>
                  </a:tcPr>
                </a:tc>
              </a:tr>
              <a:tr h="332280"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Apostador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8C7C4"/>
                      </a:solidFill>
                      <a:prstDash val="solid"/>
                    </a:lnL>
                    <a:lnR w="12240">
                      <a:solidFill>
                        <a:srgbClr val="C7BEAE"/>
                      </a:solidFill>
                      <a:prstDash val="solid"/>
                    </a:lnR>
                    <a:lnT w="12240">
                      <a:solidFill>
                        <a:srgbClr val="C8C7C4"/>
                      </a:solidFill>
                      <a:prstDash val="solid"/>
                    </a:lnT>
                    <a:lnB w="12240">
                      <a:solidFill>
                        <a:srgbClr val="C7BEAE"/>
                      </a:solidFill>
                      <a:prstDash val="solid"/>
                    </a:lnB>
                    <a:solidFill>
                      <a:srgbClr val="FAEEDA"/>
                    </a:solidFill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CU-06 Consultar la apuesta del día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7BEAE"/>
                      </a:solidFill>
                      <a:prstDash val="solid"/>
                    </a:lnL>
                    <a:lnR w="12240">
                      <a:solidFill>
                        <a:srgbClr val="C7BEAE"/>
                      </a:solidFill>
                      <a:prstDash val="solid"/>
                    </a:lnR>
                    <a:lnT w="12240">
                      <a:solidFill>
                        <a:srgbClr val="C8C7C4"/>
                      </a:solidFill>
                      <a:prstDash val="solid"/>
                    </a:lnT>
                    <a:lnB w="12240">
                      <a:solidFill>
                        <a:srgbClr val="C7BEAE"/>
                      </a:solidFill>
                      <a:prstDash val="solid"/>
                    </a:lnB>
                    <a:solidFill>
                      <a:srgbClr val="FAEEDA"/>
                    </a:solidFill>
                  </a:tcPr>
                </a:tc>
              </a:tr>
              <a:tr h="332280"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Apostador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8C7C4"/>
                      </a:solidFill>
                      <a:prstDash val="solid"/>
                    </a:lnL>
                    <a:lnR w="12240">
                      <a:solidFill>
                        <a:srgbClr val="C8C7C4"/>
                      </a:solidFill>
                      <a:prstDash val="solid"/>
                    </a:lnR>
                    <a:lnT w="12240">
                      <a:solidFill>
                        <a:srgbClr val="C7BEAE"/>
                      </a:solidFill>
                      <a:prstDash val="solid"/>
                    </a:lnT>
                    <a:lnB w="12240">
                      <a:solidFill>
                        <a:srgbClr val="C8C7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CU-07 Registrar una apuesta y ver rendimiento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8C7C4"/>
                      </a:solidFill>
                      <a:prstDash val="solid"/>
                    </a:lnL>
                    <a:lnR w="12240">
                      <a:solidFill>
                        <a:srgbClr val="C8C7C4"/>
                      </a:solidFill>
                      <a:prstDash val="solid"/>
                    </a:lnR>
                    <a:lnT w="12240">
                      <a:solidFill>
                        <a:srgbClr val="C7BEAE"/>
                      </a:solidFill>
                      <a:prstDash val="solid"/>
                    </a:lnT>
                    <a:lnB w="12240">
                      <a:solidFill>
                        <a:srgbClr val="C8C7C4"/>
                      </a:solidFill>
                      <a:prstDash val="solid"/>
                    </a:lnB>
                    <a:noFill/>
                  </a:tcPr>
                </a:tc>
              </a:tr>
              <a:tr h="332280"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Apostador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8C7C4"/>
                      </a:solidFill>
                      <a:prstDash val="solid"/>
                    </a:lnL>
                    <a:lnR w="12240">
                      <a:solidFill>
                        <a:srgbClr val="BEC1C5"/>
                      </a:solidFill>
                      <a:prstDash val="solid"/>
                    </a:lnR>
                    <a:lnT w="12240">
                      <a:solidFill>
                        <a:srgbClr val="C8C7C4"/>
                      </a:solidFill>
                      <a:prstDash val="solid"/>
                    </a:lnT>
                    <a:lnB w="12240">
                      <a:solidFill>
                        <a:srgbClr val="BEC1C5"/>
                      </a:solidFill>
                      <a:prstDash val="soli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CU-08 Registrar cuotas de Betano a mano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BEC1C5"/>
                      </a:solidFill>
                      <a:prstDash val="solid"/>
                    </a:lnL>
                    <a:lnR w="12240">
                      <a:solidFill>
                        <a:srgbClr val="BEC1C5"/>
                      </a:solidFill>
                      <a:prstDash val="solid"/>
                    </a:lnR>
                    <a:lnT w="12240">
                      <a:solidFill>
                        <a:srgbClr val="C8C7C4"/>
                      </a:solidFill>
                      <a:prstDash val="solid"/>
                    </a:lnT>
                    <a:lnB w="12240">
                      <a:solidFill>
                        <a:srgbClr val="BEC1C5"/>
                      </a:solidFill>
                      <a:prstDash val="solid"/>
                    </a:lnB>
                    <a:solidFill>
                      <a:srgbClr val="EEF2F7"/>
                    </a:solidFill>
                  </a:tcPr>
                </a:tc>
              </a:tr>
              <a:tr h="332280"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Administrador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8C7C4"/>
                      </a:solidFill>
                      <a:prstDash val="solid"/>
                    </a:lnL>
                    <a:lnR w="12240">
                      <a:solidFill>
                        <a:srgbClr val="C8C7C4"/>
                      </a:solidFill>
                      <a:prstDash val="solid"/>
                    </a:lnR>
                    <a:lnT w="12240">
                      <a:solidFill>
                        <a:srgbClr val="BEC1C5"/>
                      </a:solidFill>
                      <a:prstDash val="solid"/>
                    </a:lnT>
                    <a:lnB w="12240">
                      <a:solidFill>
                        <a:srgbClr val="C8C7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CU-09 Lanzar la ingesta y ver su historial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8C7C4"/>
                      </a:solidFill>
                      <a:prstDash val="solid"/>
                    </a:lnL>
                    <a:lnR w="12240">
                      <a:solidFill>
                        <a:srgbClr val="C8C7C4"/>
                      </a:solidFill>
                      <a:prstDash val="solid"/>
                    </a:lnR>
                    <a:lnT w="12240">
                      <a:solidFill>
                        <a:srgbClr val="BEC1C5"/>
                      </a:solidFill>
                      <a:prstDash val="solid"/>
                    </a:lnT>
                    <a:lnB w="12240">
                      <a:solidFill>
                        <a:srgbClr val="C8C7C4"/>
                      </a:solidFill>
                      <a:prstDash val="solid"/>
                    </a:lnB>
                    <a:noFill/>
                  </a:tcPr>
                </a:tc>
              </a:tr>
              <a:tr h="332280"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Sistema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8C7C4"/>
                      </a:solidFill>
                      <a:prstDash val="solid"/>
                    </a:lnL>
                    <a:lnR w="12240">
                      <a:solidFill>
                        <a:srgbClr val="C7BEAE"/>
                      </a:solidFill>
                      <a:prstDash val="solid"/>
                    </a:lnR>
                    <a:lnT w="12240">
                      <a:solidFill>
                        <a:srgbClr val="C8C7C4"/>
                      </a:solidFill>
                      <a:prstDash val="solid"/>
                    </a:lnT>
                    <a:lnB w="12240">
                      <a:solidFill>
                        <a:srgbClr val="C7BEAE"/>
                      </a:solidFill>
                      <a:prstDash val="solid"/>
                    </a:lnB>
                    <a:solidFill>
                      <a:srgbClr val="FAEEDA"/>
                    </a:solidFill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CU-10 Ingesta programada y liquidación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7BEAE"/>
                      </a:solidFill>
                      <a:prstDash val="solid"/>
                    </a:lnL>
                    <a:lnR w="12240">
                      <a:solidFill>
                        <a:srgbClr val="C7BEAE"/>
                      </a:solidFill>
                      <a:prstDash val="solid"/>
                    </a:lnR>
                    <a:lnT w="12240">
                      <a:solidFill>
                        <a:srgbClr val="C8C7C4"/>
                      </a:solidFill>
                      <a:prstDash val="solid"/>
                    </a:lnT>
                    <a:lnB w="12240">
                      <a:solidFill>
                        <a:srgbClr val="C7BEAE"/>
                      </a:solidFill>
                      <a:prstDash val="solid"/>
                    </a:lnB>
                    <a:solidFill>
                      <a:srgbClr val="FAEEDA"/>
                    </a:solidFill>
                  </a:tcPr>
                </a:tc>
              </a:tr>
            </a:tbl>
          </a:graphicData>
        </a:graphic>
      </p:graphicFrame>
      <p:sp>
        <p:nvSpPr>
          <p:cNvPr id="153" name="Text 3"/>
          <p:cNvSpPr/>
          <p:nvPr/>
        </p:nvSpPr>
        <p:spPr>
          <a:xfrm>
            <a:off x="8077320" y="1765080"/>
            <a:ext cx="34005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1" u="none" spc="99" strike="noStrike">
                <a:solidFill>
                  <a:srgbClr val="8A6410"/>
                </a:solidFill>
                <a:effectLst/>
                <a:uFillTx/>
                <a:latin typeface="Public Sans"/>
                <a:ea typeface="Public Sans"/>
              </a:rPr>
              <a:t>CASOS PRINCIPALES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4"/>
          <p:cNvSpPr/>
          <p:nvPr/>
        </p:nvSpPr>
        <p:spPr>
          <a:xfrm>
            <a:off x="8080200" y="2108520"/>
            <a:ext cx="3295440" cy="950760"/>
          </a:xfrm>
          <a:prstGeom prst="rect">
            <a:avLst/>
          </a:prstGeom>
          <a:solidFill>
            <a:srgbClr val="FFFEFB"/>
          </a:solidFill>
          <a:ln w="6350">
            <a:solidFill>
              <a:srgbClr val="DCE2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P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5"/>
          <p:cNvSpPr/>
          <p:nvPr/>
        </p:nvSpPr>
        <p:spPr>
          <a:xfrm>
            <a:off x="8236080" y="2264400"/>
            <a:ext cx="307368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E2A4F"/>
                </a:solidFill>
                <a:effectLst/>
                <a:uFillTx/>
                <a:latin typeface="Public Sans"/>
                <a:ea typeface="Public Sans"/>
              </a:rPr>
              <a:t>CU-04 Analizar</a:t>
            </a:r>
            <a:endParaRPr lang="es-P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6"/>
          <p:cNvSpPr/>
          <p:nvPr/>
        </p:nvSpPr>
        <p:spPr>
          <a:xfrm>
            <a:off x="8236080" y="2477520"/>
            <a:ext cx="3073680" cy="45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E4A5C"/>
                </a:solidFill>
                <a:effectLst/>
                <a:uFillTx/>
                <a:latin typeface="Public Sans"/>
                <a:ea typeface="Public Sans"/>
              </a:rPr>
              <a:t>Predicciones pide equipos a catálogo y promedios a estadísticas, y aplica Poisson.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7"/>
          <p:cNvSpPr/>
          <p:nvPr/>
        </p:nvSpPr>
        <p:spPr>
          <a:xfrm>
            <a:off x="8080200" y="3193200"/>
            <a:ext cx="3295440" cy="950760"/>
          </a:xfrm>
          <a:prstGeom prst="rect">
            <a:avLst/>
          </a:prstGeom>
          <a:solidFill>
            <a:srgbClr val="FFFEFB"/>
          </a:solidFill>
          <a:ln w="6350">
            <a:solidFill>
              <a:srgbClr val="DCE2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P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8"/>
          <p:cNvSpPr/>
          <p:nvPr/>
        </p:nvSpPr>
        <p:spPr>
          <a:xfrm>
            <a:off x="8236080" y="3348720"/>
            <a:ext cx="307368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E2A4F"/>
                </a:solidFill>
                <a:effectLst/>
                <a:uFillTx/>
                <a:latin typeface="Public Sans"/>
                <a:ea typeface="Public Sans"/>
              </a:rPr>
              <a:t>CU-06 Apuesta del día</a:t>
            </a:r>
            <a:endParaRPr lang="es-P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9"/>
          <p:cNvSpPr/>
          <p:nvPr/>
        </p:nvSpPr>
        <p:spPr>
          <a:xfrm>
            <a:off x="8236080" y="3562200"/>
            <a:ext cx="3073680" cy="45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E4A5C"/>
                </a:solidFill>
                <a:effectLst/>
                <a:uFillTx/>
                <a:latin typeface="Public Sans"/>
                <a:ea typeface="Public Sans"/>
              </a:rPr>
              <a:t>Evalúa cada partido, mercado y cuota, y elige el mayor valor esperado.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10"/>
          <p:cNvSpPr/>
          <p:nvPr/>
        </p:nvSpPr>
        <p:spPr>
          <a:xfrm>
            <a:off x="8080200" y="4277520"/>
            <a:ext cx="3295440" cy="950760"/>
          </a:xfrm>
          <a:prstGeom prst="rect">
            <a:avLst/>
          </a:prstGeom>
          <a:solidFill>
            <a:srgbClr val="FFFEFB"/>
          </a:solidFill>
          <a:ln w="6350">
            <a:solidFill>
              <a:srgbClr val="DCE2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P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11"/>
          <p:cNvSpPr/>
          <p:nvPr/>
        </p:nvSpPr>
        <p:spPr>
          <a:xfrm>
            <a:off x="8236080" y="4433040"/>
            <a:ext cx="307368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E2A4F"/>
                </a:solidFill>
                <a:effectLst/>
                <a:uFillTx/>
                <a:latin typeface="Public Sans"/>
                <a:ea typeface="Public Sans"/>
              </a:rPr>
              <a:t>CU-10 Ingesta</a:t>
            </a:r>
            <a:endParaRPr lang="es-P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12"/>
          <p:cNvSpPr/>
          <p:nvPr/>
        </p:nvSpPr>
        <p:spPr>
          <a:xfrm>
            <a:off x="8236080" y="4646520"/>
            <a:ext cx="3073680" cy="45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E4A5C"/>
                </a:solidFill>
                <a:effectLst/>
                <a:uFillTx/>
                <a:latin typeface="Public Sans"/>
                <a:ea typeface="Public Sans"/>
              </a:rPr>
              <a:t>05:00 descarga los CSV; 06:00 liquida las apuestas pendientes.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13"/>
          <p:cNvSpPr/>
          <p:nvPr/>
        </p:nvSpPr>
        <p:spPr>
          <a:xfrm>
            <a:off x="812880" y="6289200"/>
            <a:ext cx="44103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F6878"/>
                </a:solidFill>
                <a:effectLst/>
                <a:uFillTx/>
                <a:latin typeface="Public Sans"/>
                <a:ea typeface="Public Sans"/>
              </a:rPr>
              <a:t>Analizador de apuestas de fútbol con microservicios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14"/>
          <p:cNvSpPr/>
          <p:nvPr/>
        </p:nvSpPr>
        <p:spPr>
          <a:xfrm>
            <a:off x="11229840" y="6289200"/>
            <a:ext cx="14904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r"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F6878"/>
                </a:solidFill>
                <a:effectLst/>
                <a:uFillTx/>
                <a:latin typeface="Public Sans"/>
                <a:ea typeface="Public Sans"/>
              </a:rPr>
              <a:t>8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Shape 0"/>
          <p:cNvSpPr/>
          <p:nvPr/>
        </p:nvSpPr>
        <p:spPr>
          <a:xfrm>
            <a:off x="0" y="0"/>
            <a:ext cx="151920" cy="6857640"/>
          </a:xfrm>
          <a:prstGeom prst="rect">
            <a:avLst/>
          </a:prstGeom>
          <a:solidFill>
            <a:srgbClr val="0E2A4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P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1"/>
          <p:cNvSpPr/>
          <p:nvPr/>
        </p:nvSpPr>
        <p:spPr>
          <a:xfrm>
            <a:off x="812880" y="812880"/>
            <a:ext cx="108831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1" u="none" spc="99" strike="noStrike">
                <a:solidFill>
                  <a:srgbClr val="8A6410"/>
                </a:solidFill>
                <a:effectLst/>
                <a:uFillTx/>
                <a:latin typeface="Public Sans"/>
                <a:ea typeface="Public Sans"/>
              </a:rPr>
              <a:t>4.3 · REQUERIMIENTOS FUNCIONALES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812880" y="1102320"/>
            <a:ext cx="10883160" cy="43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220"/>
              </a:lnSpc>
              <a:buNone/>
              <a:tabLst>
                <a:tab pos="0" algn="l"/>
              </a:tabLst>
            </a:pPr>
            <a:r>
              <a:rPr lang="en-US" sz="2800" b="1" u="none" strike="noStrike">
                <a:solidFill>
                  <a:srgbClr val="0E2A4F"/>
                </a:solidFill>
                <a:effectLst/>
                <a:uFillTx/>
                <a:latin typeface="Libre Baskerville"/>
                <a:ea typeface="Libre Baskerville"/>
              </a:rPr>
              <a:t>16 requerimientos, repartidos por servicio</a:t>
            </a:r>
            <a:endParaRPr lang="es-PE" sz="2800" b="0" u="none" strike="noStrike">
              <a:solidFill>
                <a:schemeClr val="dk1"/>
              </a:solidFill>
              <a:effectLst/>
              <a:uFillTx/>
              <a:latin typeface="Public Sans"/>
            </a:endParaRPr>
          </a:p>
        </p:txBody>
      </p:sp>
      <p:graphicFrame>
        <p:nvGraphicFramePr>
          <p:cNvPr id="168" name="Table 0"/>
          <p:cNvGraphicFramePr/>
          <p:nvPr/>
        </p:nvGraphicFramePr>
        <p:xfrm>
          <a:off x="825480" y="1778040"/>
          <a:ext cx="10553400" cy="2660400"/>
        </p:xfrm>
        <a:graphic>
          <a:graphicData uri="http://schemas.openxmlformats.org/drawingml/2006/table">
            <a:tbl>
              <a:tblPr/>
              <a:tblGrid>
                <a:gridCol w="2110680"/>
                <a:gridCol w="1793880"/>
                <a:gridCol w="6648480"/>
              </a:tblGrid>
              <a:tr h="332280"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BFAF6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Microservicio</a:t>
                      </a:r>
                      <a:endParaRPr lang="es-PE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8C7C4"/>
                      </a:solidFill>
                      <a:prstDash val="solid"/>
                    </a:lnL>
                    <a:lnR w="12240">
                      <a:solidFill>
                        <a:srgbClr val="0F2542"/>
                      </a:solidFill>
                      <a:prstDash val="solid"/>
                    </a:lnR>
                    <a:lnT w="12240">
                      <a:solidFill>
                        <a:srgbClr val="C8C7C4"/>
                      </a:solidFill>
                      <a:prstDash val="solid"/>
                    </a:lnT>
                    <a:lnB w="12240">
                      <a:solidFill>
                        <a:srgbClr val="0F2542"/>
                      </a:solidFill>
                      <a:prstDash val="solid"/>
                    </a:lnB>
                    <a:solidFill>
                      <a:srgbClr val="0E2A4F"/>
                    </a:solidFill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BFAF6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Requerimientos</a:t>
                      </a:r>
                      <a:endParaRPr lang="es-PE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0F2542"/>
                      </a:solidFill>
                      <a:prstDash val="solid"/>
                    </a:lnL>
                    <a:lnR w="12240">
                      <a:solidFill>
                        <a:srgbClr val="0F2542"/>
                      </a:solidFill>
                      <a:prstDash val="solid"/>
                    </a:lnR>
                    <a:lnT w="12240">
                      <a:solidFill>
                        <a:srgbClr val="C8C7C4"/>
                      </a:solidFill>
                      <a:prstDash val="solid"/>
                    </a:lnT>
                    <a:lnB w="12240">
                      <a:solidFill>
                        <a:srgbClr val="0F2542"/>
                      </a:solidFill>
                      <a:prstDash val="solid"/>
                    </a:lnB>
                    <a:solidFill>
                      <a:srgbClr val="0E2A4F"/>
                    </a:solidFill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BFAF6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Qué cubren</a:t>
                      </a:r>
                      <a:endParaRPr lang="es-PE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0F2542"/>
                      </a:solidFill>
                      <a:prstDash val="solid"/>
                    </a:lnL>
                    <a:lnR w="12240">
                      <a:solidFill>
                        <a:srgbClr val="0F2542"/>
                      </a:solidFill>
                      <a:prstDash val="solid"/>
                    </a:lnR>
                    <a:lnT w="12240">
                      <a:solidFill>
                        <a:srgbClr val="C8C7C4"/>
                      </a:solidFill>
                      <a:prstDash val="solid"/>
                    </a:lnT>
                    <a:lnB w="12240">
                      <a:solidFill>
                        <a:srgbClr val="0F2542"/>
                      </a:solidFill>
                      <a:prstDash val="solid"/>
                    </a:lnB>
                    <a:solidFill>
                      <a:srgbClr val="0E2A4F"/>
                    </a:solidFill>
                  </a:tcPr>
                </a:tc>
              </a:tr>
              <a:tr h="332280"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ms-usuarios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8C7C4"/>
                      </a:solidFill>
                      <a:prstDash val="solid"/>
                    </a:lnL>
                    <a:lnR w="12240">
                      <a:solidFill>
                        <a:srgbClr val="C8C7C4"/>
                      </a:solidFill>
                      <a:prstDash val="solid"/>
                    </a:lnR>
                    <a:lnT w="12240">
                      <a:solidFill>
                        <a:srgbClr val="0F2542"/>
                      </a:solidFill>
                      <a:prstDash val="solid"/>
                    </a:lnT>
                    <a:lnB w="12240">
                      <a:solidFill>
                        <a:srgbClr val="C8C7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RF-01, 02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8C7C4"/>
                      </a:solidFill>
                      <a:prstDash val="solid"/>
                    </a:lnL>
                    <a:lnR w="12240">
                      <a:solidFill>
                        <a:srgbClr val="C8C7C4"/>
                      </a:solidFill>
                      <a:prstDash val="solid"/>
                    </a:lnR>
                    <a:lnT w="12240">
                      <a:solidFill>
                        <a:srgbClr val="0F2542"/>
                      </a:solidFill>
                      <a:prstDash val="solid"/>
                    </a:lnT>
                    <a:lnB w="12240">
                      <a:solidFill>
                        <a:srgbClr val="C8C7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Registro con BCrypt e inicio de sesión con JWT y rol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8C7C4"/>
                      </a:solidFill>
                      <a:prstDash val="solid"/>
                    </a:lnL>
                    <a:lnR w="12240">
                      <a:solidFill>
                        <a:srgbClr val="C8C7C4"/>
                      </a:solidFill>
                      <a:prstDash val="solid"/>
                    </a:lnR>
                    <a:lnT w="12240">
                      <a:solidFill>
                        <a:srgbClr val="0F2542"/>
                      </a:solidFill>
                      <a:prstDash val="solid"/>
                    </a:lnT>
                    <a:lnB w="12240">
                      <a:solidFill>
                        <a:srgbClr val="C8C7C4"/>
                      </a:solidFill>
                      <a:prstDash val="solid"/>
                    </a:lnB>
                    <a:noFill/>
                  </a:tcPr>
                </a:tc>
              </a:tr>
              <a:tr h="332280"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ms-ingesta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8C7C4"/>
                      </a:solidFill>
                      <a:prstDash val="solid"/>
                    </a:lnL>
                    <a:lnR w="12240">
                      <a:solidFill>
                        <a:srgbClr val="BEC1C5"/>
                      </a:solidFill>
                      <a:prstDash val="solid"/>
                    </a:lnR>
                    <a:lnT w="12240">
                      <a:solidFill>
                        <a:srgbClr val="C8C7C4"/>
                      </a:solidFill>
                      <a:prstDash val="solid"/>
                    </a:lnT>
                    <a:lnB w="12240">
                      <a:solidFill>
                        <a:srgbClr val="BEC1C5"/>
                      </a:solidFill>
                      <a:prstDash val="soli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RF-03, 04, 16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BEC1C5"/>
                      </a:solidFill>
                      <a:prstDash val="solid"/>
                    </a:lnL>
                    <a:lnR w="12240">
                      <a:solidFill>
                        <a:srgbClr val="BEC1C5"/>
                      </a:solidFill>
                      <a:prstDash val="solid"/>
                    </a:lnR>
                    <a:lnT w="12240">
                      <a:solidFill>
                        <a:srgbClr val="C8C7C4"/>
                      </a:solidFill>
                      <a:prstDash val="solid"/>
                    </a:lnT>
                    <a:lnB w="12240">
                      <a:solidFill>
                        <a:srgbClr val="BEC1C5"/>
                      </a:solidFill>
                      <a:prstDash val="soli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Descarga de temporadas y próximos partidos; historial de ejecuciones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BEC1C5"/>
                      </a:solidFill>
                      <a:prstDash val="solid"/>
                    </a:lnL>
                    <a:lnR w="12240">
                      <a:solidFill>
                        <a:srgbClr val="BEC1C5"/>
                      </a:solidFill>
                      <a:prstDash val="solid"/>
                    </a:lnR>
                    <a:lnT w="12240">
                      <a:solidFill>
                        <a:srgbClr val="C8C7C4"/>
                      </a:solidFill>
                      <a:prstDash val="solid"/>
                    </a:lnT>
                    <a:lnB w="12240">
                      <a:solidFill>
                        <a:srgbClr val="BEC1C5"/>
                      </a:solidFill>
                      <a:prstDash val="solid"/>
                    </a:lnB>
                    <a:solidFill>
                      <a:srgbClr val="EEF2F7"/>
                    </a:solidFill>
                  </a:tcPr>
                </a:tc>
              </a:tr>
              <a:tr h="332280"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ms-catalogo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8C7C4"/>
                      </a:solidFill>
                      <a:prstDash val="solid"/>
                    </a:lnL>
                    <a:lnR w="12240">
                      <a:solidFill>
                        <a:srgbClr val="C8C7C4"/>
                      </a:solidFill>
                      <a:prstDash val="solid"/>
                    </a:lnR>
                    <a:lnT w="12240">
                      <a:solidFill>
                        <a:srgbClr val="BEC1C5"/>
                      </a:solidFill>
                      <a:prstDash val="solid"/>
                    </a:lnT>
                    <a:lnB w="12240">
                      <a:solidFill>
                        <a:srgbClr val="C8C7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RF-05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8C7C4"/>
                      </a:solidFill>
                      <a:prstDash val="solid"/>
                    </a:lnL>
                    <a:lnR w="12240">
                      <a:solidFill>
                        <a:srgbClr val="C8C7C4"/>
                      </a:solidFill>
                      <a:prstDash val="solid"/>
                    </a:lnR>
                    <a:lnT w="12240">
                      <a:solidFill>
                        <a:srgbClr val="BEC1C5"/>
                      </a:solidFill>
                      <a:prstDash val="solid"/>
                    </a:lnT>
                    <a:lnB w="12240">
                      <a:solidFill>
                        <a:srgbClr val="C8C7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Ligas, equipos y partidos por fecha, liga y estado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8C7C4"/>
                      </a:solidFill>
                      <a:prstDash val="solid"/>
                    </a:lnL>
                    <a:lnR w="12240">
                      <a:solidFill>
                        <a:srgbClr val="C8C7C4"/>
                      </a:solidFill>
                      <a:prstDash val="solid"/>
                    </a:lnR>
                    <a:lnT w="12240">
                      <a:solidFill>
                        <a:srgbClr val="BEC1C5"/>
                      </a:solidFill>
                      <a:prstDash val="solid"/>
                    </a:lnT>
                    <a:lnB w="12240">
                      <a:solidFill>
                        <a:srgbClr val="C8C7C4"/>
                      </a:solidFill>
                      <a:prstDash val="solid"/>
                    </a:lnB>
                    <a:noFill/>
                  </a:tcPr>
                </a:tc>
              </a:tr>
              <a:tr h="332280"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ms-estadisticas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8C7C4"/>
                      </a:solidFill>
                      <a:prstDash val="solid"/>
                    </a:lnL>
                    <a:lnR w="12240">
                      <a:solidFill>
                        <a:srgbClr val="BEC1C5"/>
                      </a:solidFill>
                      <a:prstDash val="solid"/>
                    </a:lnR>
                    <a:lnT w="12240">
                      <a:solidFill>
                        <a:srgbClr val="C8C7C4"/>
                      </a:solidFill>
                      <a:prstDash val="solid"/>
                    </a:lnT>
                    <a:lnB w="12240">
                      <a:solidFill>
                        <a:srgbClr val="BEC1C5"/>
                      </a:solidFill>
                      <a:prstDash val="soli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RF-06, 07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BEC1C5"/>
                      </a:solidFill>
                      <a:prstDash val="solid"/>
                    </a:lnL>
                    <a:lnR w="12240">
                      <a:solidFill>
                        <a:srgbClr val="BEC1C5"/>
                      </a:solidFill>
                      <a:prstDash val="solid"/>
                    </a:lnR>
                    <a:lnT w="12240">
                      <a:solidFill>
                        <a:srgbClr val="C8C7C4"/>
                      </a:solidFill>
                      <a:prstDash val="solid"/>
                    </a:lnT>
                    <a:lnB w="12240">
                      <a:solidFill>
                        <a:srgbClr val="BEC1C5"/>
                      </a:solidFill>
                      <a:prstDash val="soli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Promedios a favor y en contra; perfil del árbitro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BEC1C5"/>
                      </a:solidFill>
                      <a:prstDash val="solid"/>
                    </a:lnL>
                    <a:lnR w="12240">
                      <a:solidFill>
                        <a:srgbClr val="BEC1C5"/>
                      </a:solidFill>
                      <a:prstDash val="solid"/>
                    </a:lnR>
                    <a:lnT w="12240">
                      <a:solidFill>
                        <a:srgbClr val="C8C7C4"/>
                      </a:solidFill>
                      <a:prstDash val="solid"/>
                    </a:lnT>
                    <a:lnB w="12240">
                      <a:solidFill>
                        <a:srgbClr val="BEC1C5"/>
                      </a:solidFill>
                      <a:prstDash val="solid"/>
                    </a:lnB>
                    <a:solidFill>
                      <a:srgbClr val="EEF2F7"/>
                    </a:solidFill>
                  </a:tcPr>
                </a:tc>
              </a:tr>
              <a:tr h="332280"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ms-predicciones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8C7C4"/>
                      </a:solidFill>
                      <a:prstDash val="solid"/>
                    </a:lnL>
                    <a:lnR w="12240">
                      <a:solidFill>
                        <a:srgbClr val="C8C7C4"/>
                      </a:solidFill>
                      <a:prstDash val="solid"/>
                    </a:lnR>
                    <a:lnT w="12240">
                      <a:solidFill>
                        <a:srgbClr val="BEC1C5"/>
                      </a:solidFill>
                      <a:prstDash val="solid"/>
                    </a:lnT>
                    <a:lnB w="12240">
                      <a:solidFill>
                        <a:srgbClr val="C8C7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RF-08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8C7C4"/>
                      </a:solidFill>
                      <a:prstDash val="solid"/>
                    </a:lnL>
                    <a:lnR w="12240">
                      <a:solidFill>
                        <a:srgbClr val="C8C7C4"/>
                      </a:solidFill>
                      <a:prstDash val="solid"/>
                    </a:lnR>
                    <a:lnT w="12240">
                      <a:solidFill>
                        <a:srgbClr val="BEC1C5"/>
                      </a:solidFill>
                      <a:prstDash val="solid"/>
                    </a:lnT>
                    <a:lnB w="12240">
                      <a:solidFill>
                        <a:srgbClr val="C8C7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Probabilidad y cuota justa de cada mercado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8C7C4"/>
                      </a:solidFill>
                      <a:prstDash val="solid"/>
                    </a:lnL>
                    <a:lnR w="12240">
                      <a:solidFill>
                        <a:srgbClr val="C8C7C4"/>
                      </a:solidFill>
                      <a:prstDash val="solid"/>
                    </a:lnR>
                    <a:lnT w="12240">
                      <a:solidFill>
                        <a:srgbClr val="BEC1C5"/>
                      </a:solidFill>
                      <a:prstDash val="solid"/>
                    </a:lnT>
                    <a:lnB w="12240">
                      <a:solidFill>
                        <a:srgbClr val="C8C7C4"/>
                      </a:solidFill>
                      <a:prstDash val="solid"/>
                    </a:lnB>
                    <a:noFill/>
                  </a:tcPr>
                </a:tc>
              </a:tr>
              <a:tr h="332280"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ms-cuotas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8C7C4"/>
                      </a:solidFill>
                      <a:prstDash val="solid"/>
                    </a:lnL>
                    <a:lnR w="12240">
                      <a:solidFill>
                        <a:srgbClr val="BEC1C5"/>
                      </a:solidFill>
                      <a:prstDash val="solid"/>
                    </a:lnR>
                    <a:lnT w="12240">
                      <a:solidFill>
                        <a:srgbClr val="C8C7C4"/>
                      </a:solidFill>
                      <a:prstDash val="solid"/>
                    </a:lnT>
                    <a:lnB w="12240">
                      <a:solidFill>
                        <a:srgbClr val="BEC1C5"/>
                      </a:solidFill>
                      <a:prstDash val="soli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RF-09, 10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BEC1C5"/>
                      </a:solidFill>
                      <a:prstDash val="solid"/>
                    </a:lnL>
                    <a:lnR w="12240">
                      <a:solidFill>
                        <a:srgbClr val="BEC1C5"/>
                      </a:solidFill>
                      <a:prstDash val="solid"/>
                    </a:lnR>
                    <a:lnT w="12240">
                      <a:solidFill>
                        <a:srgbClr val="C8C7C4"/>
                      </a:solidFill>
                      <a:prstDash val="solid"/>
                    </a:lnT>
                    <a:lnB w="12240">
                      <a:solidFill>
                        <a:srgbClr val="BEC1C5"/>
                      </a:solidFill>
                      <a:prstDash val="soli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Cuotas, margen, probabilidades sin margen y Betano a mano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BEC1C5"/>
                      </a:solidFill>
                      <a:prstDash val="solid"/>
                    </a:lnL>
                    <a:lnR w="12240">
                      <a:solidFill>
                        <a:srgbClr val="BEC1C5"/>
                      </a:solidFill>
                      <a:prstDash val="solid"/>
                    </a:lnR>
                    <a:lnT w="12240">
                      <a:solidFill>
                        <a:srgbClr val="C8C7C4"/>
                      </a:solidFill>
                      <a:prstDash val="solid"/>
                    </a:lnT>
                    <a:lnB w="12240">
                      <a:solidFill>
                        <a:srgbClr val="BEC1C5"/>
                      </a:solidFill>
                      <a:prstDash val="solid"/>
                    </a:lnB>
                    <a:solidFill>
                      <a:srgbClr val="EEF2F7"/>
                    </a:solidFill>
                  </a:tcPr>
                </a:tc>
              </a:tr>
              <a:tr h="332280"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ms-apuestas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8C7C4"/>
                      </a:solidFill>
                      <a:prstDash val="solid"/>
                    </a:lnL>
                    <a:lnR w="12240">
                      <a:solidFill>
                        <a:srgbClr val="C8C7C4"/>
                      </a:solidFill>
                      <a:prstDash val="solid"/>
                    </a:lnR>
                    <a:lnT w="12240">
                      <a:solidFill>
                        <a:srgbClr val="BEC1C5"/>
                      </a:solidFill>
                      <a:prstDash val="solid"/>
                    </a:lnT>
                    <a:lnB w="12240">
                      <a:solidFill>
                        <a:srgbClr val="C8C7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RF-11 a 15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8C7C4"/>
                      </a:solidFill>
                      <a:prstDash val="solid"/>
                    </a:lnL>
                    <a:lnR w="12240">
                      <a:solidFill>
                        <a:srgbClr val="C8C7C4"/>
                      </a:solidFill>
                      <a:prstDash val="solid"/>
                    </a:lnR>
                    <a:lnT w="12240">
                      <a:solidFill>
                        <a:srgbClr val="BEC1C5"/>
                      </a:solidFill>
                      <a:prstDash val="solid"/>
                    </a:lnT>
                    <a:lnB w="12240">
                      <a:solidFill>
                        <a:srgbClr val="C8C7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Valor esperado, Kelly, apuesta del día, mis apuestas, liquidación y ROI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8C7C4"/>
                      </a:solidFill>
                      <a:prstDash val="solid"/>
                    </a:lnL>
                    <a:lnR w="12240">
                      <a:solidFill>
                        <a:srgbClr val="C8C7C4"/>
                      </a:solidFill>
                      <a:prstDash val="solid"/>
                    </a:lnR>
                    <a:lnT w="12240">
                      <a:solidFill>
                        <a:srgbClr val="BEC1C5"/>
                      </a:solidFill>
                      <a:prstDash val="solid"/>
                    </a:lnT>
                    <a:lnB w="12240">
                      <a:solidFill>
                        <a:srgbClr val="C8C7C4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69" name="Shape 3"/>
          <p:cNvSpPr/>
          <p:nvPr/>
        </p:nvSpPr>
        <p:spPr>
          <a:xfrm>
            <a:off x="812880" y="4692600"/>
            <a:ext cx="10566000" cy="604080"/>
          </a:xfrm>
          <a:prstGeom prst="rect">
            <a:avLst/>
          </a:prstGeom>
          <a:solidFill>
            <a:srgbClr val="0E2A4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P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4"/>
          <p:cNvSpPr/>
          <p:nvPr/>
        </p:nvSpPr>
        <p:spPr>
          <a:xfrm>
            <a:off x="1066680" y="4888080"/>
            <a:ext cx="55800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1" u="none" spc="99" strike="noStrike">
                <a:solidFill>
                  <a:srgbClr val="E3B54A"/>
                </a:solidFill>
                <a:effectLst/>
                <a:uFillTx/>
                <a:latin typeface="Public Sans"/>
                <a:ea typeface="Public Sans"/>
              </a:rPr>
              <a:t>RF-12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5"/>
          <p:cNvSpPr/>
          <p:nvPr/>
        </p:nvSpPr>
        <p:spPr>
          <a:xfrm>
            <a:off x="1837080" y="4870440"/>
            <a:ext cx="8292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BFAF6"/>
                </a:solidFill>
                <a:effectLst/>
                <a:uFillTx/>
                <a:latin typeface="Public Sans"/>
                <a:ea typeface="Public Sans"/>
              </a:rPr>
              <a:t>Apuesta del día: cuota entre </a:t>
            </a:r>
            <a:r>
              <a:rPr lang="en-US" sz="1400" b="1" u="none" strike="noStrike">
                <a:solidFill>
                  <a:srgbClr val="FBFAF6"/>
                </a:solidFill>
                <a:effectLst/>
                <a:uFillTx/>
                <a:latin typeface="Public Sans"/>
                <a:ea typeface="Public Sans"/>
              </a:rPr>
              <a:t>1.50 y 2.60</a:t>
            </a:r>
            <a:r>
              <a:rPr lang="en-US" sz="1400" b="0" u="none" strike="noStrike">
                <a:solidFill>
                  <a:srgbClr val="FBFAF6"/>
                </a:solidFill>
                <a:effectLst/>
                <a:uFillTx/>
                <a:latin typeface="Public Sans"/>
                <a:ea typeface="Public Sans"/>
              </a:rPr>
              <a:t>, probabilidad </a:t>
            </a:r>
            <a:r>
              <a:rPr lang="en-US" sz="1400" b="1" u="none" strike="noStrike">
                <a:solidFill>
                  <a:srgbClr val="FBFAF6"/>
                </a:solidFill>
                <a:effectLst/>
                <a:uFillTx/>
                <a:latin typeface="Public Sans"/>
                <a:ea typeface="Public Sans"/>
              </a:rPr>
              <a:t>≥ 42 %</a:t>
            </a:r>
            <a:r>
              <a:rPr lang="en-US" sz="1400" b="0" u="none" strike="noStrike">
                <a:solidFill>
                  <a:srgbClr val="FBFAF6"/>
                </a:solidFill>
                <a:effectLst/>
                <a:uFillTx/>
                <a:latin typeface="Public Sans"/>
                <a:ea typeface="Public Sans"/>
              </a:rPr>
              <a:t> y valor esperado </a:t>
            </a:r>
            <a:r>
              <a:rPr lang="en-US" sz="1400" b="1" u="none" strike="noStrike">
                <a:solidFill>
                  <a:srgbClr val="FBFAF6"/>
                </a:solidFill>
                <a:effectLst/>
                <a:uFillTx/>
                <a:latin typeface="Public Sans"/>
                <a:ea typeface="Public Sans"/>
              </a:rPr>
              <a:t>≥ 3 %</a:t>
            </a:r>
            <a:endParaRPr lang="es-P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6"/>
          <p:cNvSpPr/>
          <p:nvPr/>
        </p:nvSpPr>
        <p:spPr>
          <a:xfrm>
            <a:off x="812880" y="6289200"/>
            <a:ext cx="44103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F6878"/>
                </a:solidFill>
                <a:effectLst/>
                <a:uFillTx/>
                <a:latin typeface="Public Sans"/>
                <a:ea typeface="Public Sans"/>
              </a:rPr>
              <a:t>Analizador de apuestas de fútbol con microservicios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7"/>
          <p:cNvSpPr/>
          <p:nvPr/>
        </p:nvSpPr>
        <p:spPr>
          <a:xfrm>
            <a:off x="11233080" y="6289200"/>
            <a:ext cx="14580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r"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F6878"/>
                </a:solidFill>
                <a:effectLst/>
                <a:uFillTx/>
                <a:latin typeface="Public Sans"/>
                <a:ea typeface="Public Sans"/>
              </a:rPr>
              <a:t>9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Shape 0"/>
          <p:cNvSpPr/>
          <p:nvPr/>
        </p:nvSpPr>
        <p:spPr>
          <a:xfrm>
            <a:off x="0" y="0"/>
            <a:ext cx="151920" cy="6857640"/>
          </a:xfrm>
          <a:prstGeom prst="rect">
            <a:avLst/>
          </a:prstGeom>
          <a:solidFill>
            <a:srgbClr val="0E2A4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P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1"/>
          <p:cNvSpPr/>
          <p:nvPr/>
        </p:nvSpPr>
        <p:spPr>
          <a:xfrm>
            <a:off x="812880" y="812880"/>
            <a:ext cx="108831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1" u="none" spc="99" strike="noStrike">
                <a:solidFill>
                  <a:srgbClr val="8A6410"/>
                </a:solidFill>
                <a:effectLst/>
                <a:uFillTx/>
                <a:latin typeface="Public Sans"/>
                <a:ea typeface="Public Sans"/>
              </a:rPr>
              <a:t>4.3 · REQUERIMIENTOS NO FUNCIONALES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812880" y="1102320"/>
            <a:ext cx="10883160" cy="43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220"/>
              </a:lnSpc>
              <a:buNone/>
              <a:tabLst>
                <a:tab pos="0" algn="l"/>
              </a:tabLst>
            </a:pPr>
            <a:r>
              <a:rPr lang="en-US" sz="2800" b="1" u="none" strike="noStrike">
                <a:solidFill>
                  <a:srgbClr val="0E2A4F"/>
                </a:solidFill>
                <a:effectLst/>
                <a:uFillTx/>
                <a:latin typeface="Libre Baskerville"/>
                <a:ea typeface="Libre Baskerville"/>
              </a:rPr>
              <a:t>Las reglas que debe cumplir la arquitectura</a:t>
            </a:r>
            <a:endParaRPr lang="es-PE" sz="2800" b="0" u="none" strike="noStrike">
              <a:solidFill>
                <a:schemeClr val="dk1"/>
              </a:solidFill>
              <a:effectLst/>
              <a:uFillTx/>
              <a:latin typeface="Public Sans"/>
            </a:endParaRPr>
          </a:p>
        </p:txBody>
      </p:sp>
      <p:sp>
        <p:nvSpPr>
          <p:cNvPr id="177" name="Shape 3"/>
          <p:cNvSpPr/>
          <p:nvPr/>
        </p:nvSpPr>
        <p:spPr>
          <a:xfrm>
            <a:off x="812880" y="1815840"/>
            <a:ext cx="2545920" cy="1335600"/>
          </a:xfrm>
          <a:prstGeom prst="rect">
            <a:avLst/>
          </a:prstGeom>
          <a:solidFill>
            <a:srgbClr val="FFFE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P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4"/>
          <p:cNvSpPr/>
          <p:nvPr/>
        </p:nvSpPr>
        <p:spPr>
          <a:xfrm>
            <a:off x="990720" y="1993680"/>
            <a:ext cx="225612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8A6410"/>
                </a:solidFill>
                <a:effectLst/>
                <a:uFillTx/>
                <a:latin typeface="Public Sans"/>
                <a:ea typeface="Public Sans"/>
              </a:rPr>
              <a:t>RNF-01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5"/>
          <p:cNvSpPr/>
          <p:nvPr/>
        </p:nvSpPr>
        <p:spPr>
          <a:xfrm>
            <a:off x="990720" y="2270520"/>
            <a:ext cx="225612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E2A4F"/>
                </a:solidFill>
                <a:effectLst/>
                <a:uFillTx/>
                <a:latin typeface="Public Sans"/>
                <a:ea typeface="Public Sans"/>
              </a:rPr>
              <a:t>Arquitectura</a:t>
            </a:r>
            <a:endParaRPr lang="es-P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6"/>
          <p:cNvSpPr/>
          <p:nvPr/>
        </p:nvSpPr>
        <p:spPr>
          <a:xfrm>
            <a:off x="990720" y="2547360"/>
            <a:ext cx="2256120" cy="45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E4A5C"/>
                </a:solidFill>
                <a:effectLst/>
                <a:uFillTx/>
                <a:latin typeface="Public Sans"/>
                <a:ea typeface="Public Sans"/>
              </a:rPr>
              <a:t>Servicios en Eureka; un solo punto de entrada: el gateway.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7"/>
          <p:cNvSpPr/>
          <p:nvPr/>
        </p:nvSpPr>
        <p:spPr>
          <a:xfrm>
            <a:off x="3486240" y="1815840"/>
            <a:ext cx="2545920" cy="1335600"/>
          </a:xfrm>
          <a:prstGeom prst="rect">
            <a:avLst/>
          </a:prstGeom>
          <a:solidFill>
            <a:srgbClr val="FFFE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P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8"/>
          <p:cNvSpPr/>
          <p:nvPr/>
        </p:nvSpPr>
        <p:spPr>
          <a:xfrm>
            <a:off x="3664080" y="1993680"/>
            <a:ext cx="225612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8A6410"/>
                </a:solidFill>
                <a:effectLst/>
                <a:uFillTx/>
                <a:latin typeface="Public Sans"/>
                <a:ea typeface="Public Sans"/>
              </a:rPr>
              <a:t>RNF-02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9"/>
          <p:cNvSpPr/>
          <p:nvPr/>
        </p:nvSpPr>
        <p:spPr>
          <a:xfrm>
            <a:off x="3664080" y="2270520"/>
            <a:ext cx="225612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E2A4F"/>
                </a:solidFill>
                <a:effectLst/>
                <a:uFillTx/>
                <a:latin typeface="Public Sans"/>
                <a:ea typeface="Public Sans"/>
              </a:rPr>
              <a:t>Datos</a:t>
            </a:r>
            <a:endParaRPr lang="es-P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10"/>
          <p:cNvSpPr/>
          <p:nvPr/>
        </p:nvSpPr>
        <p:spPr>
          <a:xfrm>
            <a:off x="3664080" y="2547360"/>
            <a:ext cx="2256120" cy="45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E4A5C"/>
                </a:solidFill>
                <a:effectLst/>
                <a:uFillTx/>
                <a:latin typeface="Public Sans"/>
                <a:ea typeface="Public Sans"/>
              </a:rPr>
              <a:t>Una BD por servicio; nadie lee la BD de otro.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11"/>
          <p:cNvSpPr/>
          <p:nvPr/>
        </p:nvSpPr>
        <p:spPr>
          <a:xfrm>
            <a:off x="6159600" y="1815840"/>
            <a:ext cx="2545920" cy="1335600"/>
          </a:xfrm>
          <a:prstGeom prst="rect">
            <a:avLst/>
          </a:prstGeom>
          <a:solidFill>
            <a:srgbClr val="FFFE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P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12"/>
          <p:cNvSpPr/>
          <p:nvPr/>
        </p:nvSpPr>
        <p:spPr>
          <a:xfrm>
            <a:off x="6337440" y="1993680"/>
            <a:ext cx="225612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8A6410"/>
                </a:solidFill>
                <a:effectLst/>
                <a:uFillTx/>
                <a:latin typeface="Public Sans"/>
                <a:ea typeface="Public Sans"/>
              </a:rPr>
              <a:t>RNF-03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13"/>
          <p:cNvSpPr/>
          <p:nvPr/>
        </p:nvSpPr>
        <p:spPr>
          <a:xfrm>
            <a:off x="6337440" y="2270520"/>
            <a:ext cx="225612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E2A4F"/>
                </a:solidFill>
                <a:effectLst/>
                <a:uFillTx/>
                <a:latin typeface="Public Sans"/>
                <a:ea typeface="Public Sans"/>
              </a:rPr>
              <a:t>Seguridad</a:t>
            </a:r>
            <a:endParaRPr lang="es-P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14"/>
          <p:cNvSpPr/>
          <p:nvPr/>
        </p:nvSpPr>
        <p:spPr>
          <a:xfrm>
            <a:off x="6337440" y="2547360"/>
            <a:ext cx="2256120" cy="45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E4A5C"/>
                </a:solidFill>
                <a:effectLst/>
                <a:uFillTx/>
                <a:latin typeface="Public Sans"/>
                <a:ea typeface="Public Sans"/>
              </a:rPr>
              <a:t>JWT en el gateway, roles y /interno/** oculto.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15"/>
          <p:cNvSpPr/>
          <p:nvPr/>
        </p:nvSpPr>
        <p:spPr>
          <a:xfrm>
            <a:off x="8832960" y="1815840"/>
            <a:ext cx="2545920" cy="1335600"/>
          </a:xfrm>
          <a:prstGeom prst="rect">
            <a:avLst/>
          </a:prstGeom>
          <a:solidFill>
            <a:srgbClr val="FFFE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P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16"/>
          <p:cNvSpPr/>
          <p:nvPr/>
        </p:nvSpPr>
        <p:spPr>
          <a:xfrm>
            <a:off x="9010800" y="1993680"/>
            <a:ext cx="225612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8A6410"/>
                </a:solidFill>
                <a:effectLst/>
                <a:uFillTx/>
                <a:latin typeface="Public Sans"/>
                <a:ea typeface="Public Sans"/>
              </a:rPr>
              <a:t>RNF-04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17"/>
          <p:cNvSpPr/>
          <p:nvPr/>
        </p:nvSpPr>
        <p:spPr>
          <a:xfrm>
            <a:off x="9010800" y="2270520"/>
            <a:ext cx="225612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E2A4F"/>
                </a:solidFill>
                <a:effectLst/>
                <a:uFillTx/>
                <a:latin typeface="Public Sans"/>
                <a:ea typeface="Public Sans"/>
              </a:rPr>
              <a:t>Resiliencia</a:t>
            </a:r>
            <a:endParaRPr lang="es-P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18"/>
          <p:cNvSpPr/>
          <p:nvPr/>
        </p:nvSpPr>
        <p:spPr>
          <a:xfrm>
            <a:off x="9010800" y="2547360"/>
            <a:ext cx="2256120" cy="45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E4A5C"/>
                </a:solidFill>
                <a:effectLst/>
                <a:uFillTx/>
                <a:latin typeface="Public Sans"/>
                <a:ea typeface="Public Sans"/>
              </a:rPr>
              <a:t>Si un servicio cae, error controlado, nunca un 500.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19"/>
          <p:cNvSpPr/>
          <p:nvPr/>
        </p:nvSpPr>
        <p:spPr>
          <a:xfrm>
            <a:off x="812880" y="3278880"/>
            <a:ext cx="2545920" cy="1548720"/>
          </a:xfrm>
          <a:prstGeom prst="rect">
            <a:avLst/>
          </a:prstGeom>
          <a:solidFill>
            <a:srgbClr val="FFFE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P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20"/>
          <p:cNvSpPr/>
          <p:nvPr/>
        </p:nvSpPr>
        <p:spPr>
          <a:xfrm>
            <a:off x="990720" y="3456720"/>
            <a:ext cx="225612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8A6410"/>
                </a:solidFill>
                <a:effectLst/>
                <a:uFillTx/>
                <a:latin typeface="Public Sans"/>
                <a:ea typeface="Public Sans"/>
              </a:rPr>
              <a:t>RNF-05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21"/>
          <p:cNvSpPr/>
          <p:nvPr/>
        </p:nvSpPr>
        <p:spPr>
          <a:xfrm>
            <a:off x="990720" y="3733560"/>
            <a:ext cx="225612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E2A4F"/>
                </a:solidFill>
                <a:effectLst/>
                <a:uFillTx/>
                <a:latin typeface="Public Sans"/>
                <a:ea typeface="Public Sans"/>
              </a:rPr>
              <a:t>Despliegue</a:t>
            </a:r>
            <a:endParaRPr lang="es-P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22"/>
          <p:cNvSpPr/>
          <p:nvPr/>
        </p:nvSpPr>
        <p:spPr>
          <a:xfrm>
            <a:off x="990720" y="4010400"/>
            <a:ext cx="2256120" cy="45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E4A5C"/>
                </a:solidFill>
                <a:effectLst/>
                <a:uFillTx/>
                <a:latin typeface="Public Sans"/>
                <a:ea typeface="Public Sans"/>
              </a:rPr>
              <a:t>Todo con docker compose up --build.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Shape 23"/>
          <p:cNvSpPr/>
          <p:nvPr/>
        </p:nvSpPr>
        <p:spPr>
          <a:xfrm>
            <a:off x="3486240" y="3278880"/>
            <a:ext cx="2545920" cy="1548720"/>
          </a:xfrm>
          <a:prstGeom prst="rect">
            <a:avLst/>
          </a:prstGeom>
          <a:solidFill>
            <a:srgbClr val="FFFE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P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24"/>
          <p:cNvSpPr/>
          <p:nvPr/>
        </p:nvSpPr>
        <p:spPr>
          <a:xfrm>
            <a:off x="3664080" y="3456720"/>
            <a:ext cx="225612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8A6410"/>
                </a:solidFill>
                <a:effectLst/>
                <a:uFillTx/>
                <a:latin typeface="Public Sans"/>
                <a:ea typeface="Public Sans"/>
              </a:rPr>
              <a:t>RNF-06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25"/>
          <p:cNvSpPr/>
          <p:nvPr/>
        </p:nvSpPr>
        <p:spPr>
          <a:xfrm>
            <a:off x="3664080" y="3733560"/>
            <a:ext cx="225612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E2A4F"/>
                </a:solidFill>
                <a:effectLst/>
                <a:uFillTx/>
                <a:latin typeface="Public Sans"/>
                <a:ea typeface="Public Sans"/>
              </a:rPr>
              <a:t>Rendimiento</a:t>
            </a:r>
            <a:endParaRPr lang="es-P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26"/>
          <p:cNvSpPr/>
          <p:nvPr/>
        </p:nvSpPr>
        <p:spPr>
          <a:xfrm>
            <a:off x="3664080" y="4010400"/>
            <a:ext cx="2256120" cy="45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E4A5C"/>
                </a:solidFill>
                <a:effectLst/>
                <a:uFillTx/>
                <a:latin typeface="Public Sans"/>
                <a:ea typeface="Public Sans"/>
              </a:rPr>
              <a:t>Análisis de un partido en menos de 2 s.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27"/>
          <p:cNvSpPr/>
          <p:nvPr/>
        </p:nvSpPr>
        <p:spPr>
          <a:xfrm>
            <a:off x="6159600" y="3278880"/>
            <a:ext cx="2545920" cy="1548720"/>
          </a:xfrm>
          <a:prstGeom prst="rect">
            <a:avLst/>
          </a:prstGeom>
          <a:solidFill>
            <a:srgbClr val="FFFE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P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28"/>
          <p:cNvSpPr/>
          <p:nvPr/>
        </p:nvSpPr>
        <p:spPr>
          <a:xfrm>
            <a:off x="6337440" y="3456720"/>
            <a:ext cx="225612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8A6410"/>
                </a:solidFill>
                <a:effectLst/>
                <a:uFillTx/>
                <a:latin typeface="Public Sans"/>
                <a:ea typeface="Public Sans"/>
              </a:rPr>
              <a:t>RNF-07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29"/>
          <p:cNvSpPr/>
          <p:nvPr/>
        </p:nvSpPr>
        <p:spPr>
          <a:xfrm>
            <a:off x="6337440" y="3733560"/>
            <a:ext cx="225612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E2A4F"/>
                </a:solidFill>
                <a:effectLst/>
                <a:uFillTx/>
                <a:latin typeface="Public Sans"/>
                <a:ea typeface="Public Sans"/>
              </a:rPr>
              <a:t>Documentación</a:t>
            </a:r>
            <a:endParaRPr lang="es-P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30"/>
          <p:cNvSpPr/>
          <p:nvPr/>
        </p:nvSpPr>
        <p:spPr>
          <a:xfrm>
            <a:off x="6337440" y="4010400"/>
            <a:ext cx="2256120" cy="45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E4A5C"/>
                </a:solidFill>
                <a:effectLst/>
                <a:uFillTx/>
                <a:latin typeface="Public Sans"/>
                <a:ea typeface="Public Sans"/>
              </a:rPr>
              <a:t>Cada servicio publica su API en Swagger.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Shape 31"/>
          <p:cNvSpPr/>
          <p:nvPr/>
        </p:nvSpPr>
        <p:spPr>
          <a:xfrm>
            <a:off x="8832960" y="3278880"/>
            <a:ext cx="2545920" cy="1548720"/>
          </a:xfrm>
          <a:prstGeom prst="rect">
            <a:avLst/>
          </a:prstGeom>
          <a:solidFill>
            <a:srgbClr val="0E2A4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P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32"/>
          <p:cNvSpPr/>
          <p:nvPr/>
        </p:nvSpPr>
        <p:spPr>
          <a:xfrm>
            <a:off x="9010800" y="3456720"/>
            <a:ext cx="225612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3B54A"/>
                </a:solidFill>
                <a:effectLst/>
                <a:uFillTx/>
                <a:latin typeface="Public Sans"/>
                <a:ea typeface="Public Sans"/>
              </a:rPr>
              <a:t>RNF-08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33"/>
          <p:cNvSpPr/>
          <p:nvPr/>
        </p:nvSpPr>
        <p:spPr>
          <a:xfrm>
            <a:off x="9010800" y="3733560"/>
            <a:ext cx="225612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BFAF6"/>
                </a:solidFill>
                <a:effectLst/>
                <a:uFillTx/>
                <a:latin typeface="Public Sans"/>
                <a:ea typeface="Public Sans"/>
              </a:rPr>
              <a:t>Honestidad</a:t>
            </a:r>
            <a:endParaRPr lang="es-P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34"/>
          <p:cNvSpPr/>
          <p:nvPr/>
        </p:nvSpPr>
        <p:spPr>
          <a:xfrm>
            <a:off x="9010800" y="4010400"/>
            <a:ext cx="2256120" cy="66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5D0DE"/>
                </a:solidFill>
                <a:effectLst/>
                <a:uFillTx/>
                <a:latin typeface="Public Sans"/>
                <a:ea typeface="Public Sans"/>
              </a:rPr>
              <a:t>Probabilidades y valor esperado, nunca “apuestas seguras”.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35"/>
          <p:cNvSpPr/>
          <p:nvPr/>
        </p:nvSpPr>
        <p:spPr>
          <a:xfrm>
            <a:off x="812880" y="6289200"/>
            <a:ext cx="44103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F6878"/>
                </a:solidFill>
                <a:effectLst/>
                <a:uFillTx/>
                <a:latin typeface="Public Sans"/>
                <a:ea typeface="Public Sans"/>
              </a:rPr>
              <a:t>Analizador de apuestas de fútbol con microservicios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36"/>
          <p:cNvSpPr/>
          <p:nvPr/>
        </p:nvSpPr>
        <p:spPr>
          <a:xfrm>
            <a:off x="11172960" y="6289200"/>
            <a:ext cx="20592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r"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F6878"/>
                </a:solidFill>
                <a:effectLst/>
                <a:uFillTx/>
                <a:latin typeface="Public Sans"/>
                <a:ea typeface="Public Sans"/>
              </a:rPr>
              <a:t>10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Shape 0"/>
          <p:cNvSpPr/>
          <p:nvPr/>
        </p:nvSpPr>
        <p:spPr>
          <a:xfrm>
            <a:off x="0" y="0"/>
            <a:ext cx="151920" cy="6857640"/>
          </a:xfrm>
          <a:prstGeom prst="rect">
            <a:avLst/>
          </a:prstGeom>
          <a:solidFill>
            <a:srgbClr val="0E2A4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P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1"/>
          <p:cNvSpPr/>
          <p:nvPr/>
        </p:nvSpPr>
        <p:spPr>
          <a:xfrm>
            <a:off x="812880" y="812880"/>
            <a:ext cx="108831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1" u="none" spc="99" strike="noStrike">
                <a:solidFill>
                  <a:srgbClr val="8A6410"/>
                </a:solidFill>
                <a:effectLst/>
                <a:uFillTx/>
                <a:latin typeface="Public Sans"/>
                <a:ea typeface="Public Sans"/>
              </a:rPr>
              <a:t>4.4 · HISTORIAS DE USUARIO Y SPRINT BACKLOG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PlaceHolder 1"/>
          <p:cNvSpPr>
            <a:spLocks noGrp="1"/>
          </p:cNvSpPr>
          <p:nvPr>
            <p:ph type="title"/>
          </p:nvPr>
        </p:nvSpPr>
        <p:spPr>
          <a:xfrm>
            <a:off x="812880" y="1102320"/>
            <a:ext cx="10883160" cy="43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220"/>
              </a:lnSpc>
              <a:buNone/>
              <a:tabLst>
                <a:tab pos="0" algn="l"/>
              </a:tabLst>
            </a:pPr>
            <a:r>
              <a:rPr lang="en-US" sz="2800" b="1" u="none" strike="noStrike">
                <a:solidFill>
                  <a:srgbClr val="0E2A4F"/>
                </a:solidFill>
                <a:effectLst/>
                <a:uFillTx/>
                <a:latin typeface="Libre Baskerville"/>
                <a:ea typeface="Libre Baskerville"/>
              </a:rPr>
              <a:t>9 historias, 3 por integrante, 73 puntos</a:t>
            </a:r>
            <a:endParaRPr lang="es-PE" sz="2800" b="0" u="none" strike="noStrike">
              <a:solidFill>
                <a:schemeClr val="dk1"/>
              </a:solidFill>
              <a:effectLst/>
              <a:uFillTx/>
              <a:latin typeface="Public Sans"/>
            </a:endParaRPr>
          </a:p>
        </p:txBody>
      </p:sp>
      <p:graphicFrame>
        <p:nvGraphicFramePr>
          <p:cNvPr id="214" name="Table 0"/>
          <p:cNvGraphicFramePr/>
          <p:nvPr/>
        </p:nvGraphicFramePr>
        <p:xfrm>
          <a:off x="825480" y="1778040"/>
          <a:ext cx="10553400" cy="3325320"/>
        </p:xfrm>
        <a:graphic>
          <a:graphicData uri="http://schemas.openxmlformats.org/drawingml/2006/table">
            <a:tbl>
              <a:tblPr/>
              <a:tblGrid>
                <a:gridCol w="1055160"/>
                <a:gridCol w="6332040"/>
                <a:gridCol w="1055160"/>
                <a:gridCol w="2110680"/>
              </a:tblGrid>
              <a:tr h="332280"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BFAF6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ID</a:t>
                      </a:r>
                      <a:endParaRPr lang="es-PE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8C7C4"/>
                      </a:solidFill>
                      <a:prstDash val="solid"/>
                    </a:lnL>
                    <a:lnR w="12240">
                      <a:solidFill>
                        <a:srgbClr val="0F2542"/>
                      </a:solidFill>
                      <a:prstDash val="solid"/>
                    </a:lnR>
                    <a:lnT w="12240">
                      <a:solidFill>
                        <a:srgbClr val="C8C7C4"/>
                      </a:solidFill>
                      <a:prstDash val="solid"/>
                    </a:lnT>
                    <a:lnB w="12240">
                      <a:solidFill>
                        <a:srgbClr val="0F2542"/>
                      </a:solidFill>
                      <a:prstDash val="solid"/>
                    </a:lnB>
                    <a:solidFill>
                      <a:srgbClr val="0E2A4F"/>
                    </a:solidFill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BFAF6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Historia</a:t>
                      </a:r>
                      <a:endParaRPr lang="es-PE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0F2542"/>
                      </a:solidFill>
                      <a:prstDash val="solid"/>
                    </a:lnL>
                    <a:lnR w="12240">
                      <a:solidFill>
                        <a:srgbClr val="0F2542"/>
                      </a:solidFill>
                      <a:prstDash val="solid"/>
                    </a:lnR>
                    <a:lnT w="12240">
                      <a:solidFill>
                        <a:srgbClr val="C8C7C4"/>
                      </a:solidFill>
                      <a:prstDash val="solid"/>
                    </a:lnT>
                    <a:lnB w="12240">
                      <a:solidFill>
                        <a:srgbClr val="0F2542"/>
                      </a:solidFill>
                      <a:prstDash val="solid"/>
                    </a:lnB>
                    <a:solidFill>
                      <a:srgbClr val="0E2A4F"/>
                    </a:solidFill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algn="ctr"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BFAF6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Puntos</a:t>
                      </a:r>
                      <a:endParaRPr lang="es-PE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0F2542"/>
                      </a:solidFill>
                      <a:prstDash val="solid"/>
                    </a:lnL>
                    <a:lnR w="12240">
                      <a:solidFill>
                        <a:srgbClr val="0F2542"/>
                      </a:solidFill>
                      <a:prstDash val="solid"/>
                    </a:lnR>
                    <a:lnT w="12240">
                      <a:solidFill>
                        <a:srgbClr val="C8C7C4"/>
                      </a:solidFill>
                      <a:prstDash val="solid"/>
                    </a:lnT>
                    <a:lnB w="12240">
                      <a:solidFill>
                        <a:srgbClr val="0F2542"/>
                      </a:solidFill>
                      <a:prstDash val="solid"/>
                    </a:lnB>
                    <a:solidFill>
                      <a:srgbClr val="0E2A4F"/>
                    </a:solidFill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BFAF6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Responsable</a:t>
                      </a:r>
                      <a:endParaRPr lang="es-PE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0F2542"/>
                      </a:solidFill>
                      <a:prstDash val="solid"/>
                    </a:lnL>
                    <a:lnR w="12240">
                      <a:solidFill>
                        <a:srgbClr val="0F2542"/>
                      </a:solidFill>
                      <a:prstDash val="solid"/>
                    </a:lnR>
                    <a:lnT w="12240">
                      <a:solidFill>
                        <a:srgbClr val="C8C7C4"/>
                      </a:solidFill>
                      <a:prstDash val="solid"/>
                    </a:lnT>
                    <a:lnB w="12240">
                      <a:solidFill>
                        <a:srgbClr val="0F2542"/>
                      </a:solidFill>
                      <a:prstDash val="solid"/>
                    </a:lnB>
                    <a:solidFill>
                      <a:srgbClr val="0E2A4F"/>
                    </a:solidFill>
                  </a:tcPr>
                </a:tc>
              </a:tr>
              <a:tr h="332280"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HU-01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8C7C4"/>
                      </a:solidFill>
                      <a:prstDash val="solid"/>
                    </a:lnL>
                    <a:lnR w="12240">
                      <a:solidFill>
                        <a:srgbClr val="C8C7C4"/>
                      </a:solidFill>
                      <a:prstDash val="solid"/>
                    </a:lnR>
                    <a:lnT w="12240">
                      <a:solidFill>
                        <a:srgbClr val="0F2542"/>
                      </a:solidFill>
                      <a:prstDash val="solid"/>
                    </a:lnT>
                    <a:lnB w="12240">
                      <a:solidFill>
                        <a:srgbClr val="C8C7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Descargar los CSV de football-data y repartir sus datos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8C7C4"/>
                      </a:solidFill>
                      <a:prstDash val="solid"/>
                    </a:lnL>
                    <a:lnR w="12240">
                      <a:solidFill>
                        <a:srgbClr val="C8C7C4"/>
                      </a:solidFill>
                      <a:prstDash val="solid"/>
                    </a:lnR>
                    <a:lnT w="12240">
                      <a:solidFill>
                        <a:srgbClr val="0F2542"/>
                      </a:solidFill>
                      <a:prstDash val="solid"/>
                    </a:lnT>
                    <a:lnB w="12240">
                      <a:solidFill>
                        <a:srgbClr val="C8C7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algn="ctr"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8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8C7C4"/>
                      </a:solidFill>
                      <a:prstDash val="solid"/>
                    </a:lnL>
                    <a:lnR w="12240">
                      <a:solidFill>
                        <a:srgbClr val="C8C7C4"/>
                      </a:solidFill>
                      <a:prstDash val="solid"/>
                    </a:lnR>
                    <a:lnT w="12240">
                      <a:solidFill>
                        <a:srgbClr val="0F2542"/>
                      </a:solidFill>
                      <a:prstDash val="solid"/>
                    </a:lnT>
                    <a:lnB w="12240">
                      <a:solidFill>
                        <a:srgbClr val="C8C7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Marquina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8C7C4"/>
                      </a:solidFill>
                      <a:prstDash val="solid"/>
                    </a:lnL>
                    <a:lnR w="12240">
                      <a:solidFill>
                        <a:srgbClr val="C8C7C4"/>
                      </a:solidFill>
                      <a:prstDash val="solid"/>
                    </a:lnR>
                    <a:lnT w="12240">
                      <a:solidFill>
                        <a:srgbClr val="0F2542"/>
                      </a:solidFill>
                      <a:prstDash val="solid"/>
                    </a:lnT>
                    <a:lnB w="12240">
                      <a:solidFill>
                        <a:srgbClr val="C8C7C4"/>
                      </a:solidFill>
                      <a:prstDash val="solid"/>
                    </a:lnB>
                    <a:noFill/>
                  </a:tcPr>
                </a:tc>
              </a:tr>
              <a:tr h="332280"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HU-02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8C7C4"/>
                      </a:solidFill>
                      <a:prstDash val="solid"/>
                    </a:lnL>
                    <a:lnR w="12240">
                      <a:solidFill>
                        <a:srgbClr val="C8C7C4"/>
                      </a:solidFill>
                      <a:prstDash val="solid"/>
                    </a:lnR>
                    <a:lnT w="12240">
                      <a:solidFill>
                        <a:srgbClr val="C8C7C4"/>
                      </a:solidFill>
                      <a:prstDash val="solid"/>
                    </a:lnT>
                    <a:lnB w="12240">
                      <a:solidFill>
                        <a:srgbClr val="C8C7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Consultar los partidos por fecha y liga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8C7C4"/>
                      </a:solidFill>
                      <a:prstDash val="solid"/>
                    </a:lnL>
                    <a:lnR w="12240">
                      <a:solidFill>
                        <a:srgbClr val="C8C7C4"/>
                      </a:solidFill>
                      <a:prstDash val="solid"/>
                    </a:lnR>
                    <a:lnT w="12240">
                      <a:solidFill>
                        <a:srgbClr val="C8C7C4"/>
                      </a:solidFill>
                      <a:prstDash val="solid"/>
                    </a:lnT>
                    <a:lnB w="12240">
                      <a:solidFill>
                        <a:srgbClr val="C8C7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algn="ctr"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5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8C7C4"/>
                      </a:solidFill>
                      <a:prstDash val="solid"/>
                    </a:lnL>
                    <a:lnR w="12240">
                      <a:solidFill>
                        <a:srgbClr val="C8C7C4"/>
                      </a:solidFill>
                      <a:prstDash val="solid"/>
                    </a:lnR>
                    <a:lnT w="12240">
                      <a:solidFill>
                        <a:srgbClr val="C8C7C4"/>
                      </a:solidFill>
                      <a:prstDash val="solid"/>
                    </a:lnT>
                    <a:lnB w="12240">
                      <a:solidFill>
                        <a:srgbClr val="C8C7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Marquina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8C7C4"/>
                      </a:solidFill>
                      <a:prstDash val="solid"/>
                    </a:lnL>
                    <a:lnR w="12240">
                      <a:solidFill>
                        <a:srgbClr val="C8C7C4"/>
                      </a:solidFill>
                      <a:prstDash val="solid"/>
                    </a:lnR>
                    <a:lnT w="12240">
                      <a:solidFill>
                        <a:srgbClr val="C8C7C4"/>
                      </a:solidFill>
                      <a:prstDash val="solid"/>
                    </a:lnT>
                    <a:lnB w="12240">
                      <a:solidFill>
                        <a:srgbClr val="C8C7C4"/>
                      </a:solidFill>
                      <a:prstDash val="solid"/>
                    </a:lnB>
                    <a:noFill/>
                  </a:tcPr>
                </a:tc>
              </a:tr>
              <a:tr h="332280"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HU-03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8C7C4"/>
                      </a:solidFill>
                      <a:prstDash val="solid"/>
                    </a:lnL>
                    <a:lnR w="12240">
                      <a:solidFill>
                        <a:srgbClr val="C8C7C4"/>
                      </a:solidFill>
                      <a:prstDash val="solid"/>
                    </a:lnR>
                    <a:lnT w="12240">
                      <a:solidFill>
                        <a:srgbClr val="C8C7C4"/>
                      </a:solidFill>
                      <a:prstDash val="solid"/>
                    </a:lnT>
                    <a:lnB w="12240">
                      <a:solidFill>
                        <a:srgbClr val="C8C7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Ver los promedios de cada equipo y el perfil del árbitro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8C7C4"/>
                      </a:solidFill>
                      <a:prstDash val="solid"/>
                    </a:lnL>
                    <a:lnR w="12240">
                      <a:solidFill>
                        <a:srgbClr val="C8C7C4"/>
                      </a:solidFill>
                      <a:prstDash val="solid"/>
                    </a:lnR>
                    <a:lnT w="12240">
                      <a:solidFill>
                        <a:srgbClr val="C8C7C4"/>
                      </a:solidFill>
                      <a:prstDash val="solid"/>
                    </a:lnT>
                    <a:lnB w="12240">
                      <a:solidFill>
                        <a:srgbClr val="C8C7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algn="ctr"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8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8C7C4"/>
                      </a:solidFill>
                      <a:prstDash val="solid"/>
                    </a:lnL>
                    <a:lnR w="12240">
                      <a:solidFill>
                        <a:srgbClr val="C8C7C4"/>
                      </a:solidFill>
                      <a:prstDash val="solid"/>
                    </a:lnR>
                    <a:lnT w="12240">
                      <a:solidFill>
                        <a:srgbClr val="C8C7C4"/>
                      </a:solidFill>
                      <a:prstDash val="solid"/>
                    </a:lnT>
                    <a:lnB w="12240">
                      <a:solidFill>
                        <a:srgbClr val="C8C7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Marquina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8C7C4"/>
                      </a:solidFill>
                      <a:prstDash val="solid"/>
                    </a:lnL>
                    <a:lnR w="12240">
                      <a:solidFill>
                        <a:srgbClr val="C8C7C4"/>
                      </a:solidFill>
                      <a:prstDash val="solid"/>
                    </a:lnR>
                    <a:lnT w="12240">
                      <a:solidFill>
                        <a:srgbClr val="C8C7C4"/>
                      </a:solidFill>
                      <a:prstDash val="solid"/>
                    </a:lnT>
                    <a:lnB w="12240">
                      <a:solidFill>
                        <a:srgbClr val="C8C7C4"/>
                      </a:solidFill>
                      <a:prstDash val="solid"/>
                    </a:lnB>
                    <a:noFill/>
                  </a:tcPr>
                </a:tc>
              </a:tr>
              <a:tr h="332280"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HU-04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8C7C4"/>
                      </a:solidFill>
                      <a:prstDash val="solid"/>
                    </a:lnL>
                    <a:lnR w="12240">
                      <a:solidFill>
                        <a:srgbClr val="BEC1C5"/>
                      </a:solidFill>
                      <a:prstDash val="solid"/>
                    </a:lnR>
                    <a:lnT w="12240">
                      <a:solidFill>
                        <a:srgbClr val="C8C7C4"/>
                      </a:solidFill>
                      <a:prstDash val="solid"/>
                    </a:lnT>
                    <a:lnB w="12240">
                      <a:solidFill>
                        <a:srgbClr val="BEC1C5"/>
                      </a:solidFill>
                      <a:prstDash val="soli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Ver las cuotas sin margen y añadir las de Betano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BEC1C5"/>
                      </a:solidFill>
                      <a:prstDash val="solid"/>
                    </a:lnL>
                    <a:lnR w="12240">
                      <a:solidFill>
                        <a:srgbClr val="BEC1C5"/>
                      </a:solidFill>
                      <a:prstDash val="solid"/>
                    </a:lnR>
                    <a:lnT w="12240">
                      <a:solidFill>
                        <a:srgbClr val="C8C7C4"/>
                      </a:solidFill>
                      <a:prstDash val="solid"/>
                    </a:lnT>
                    <a:lnB w="12240">
                      <a:solidFill>
                        <a:srgbClr val="BEC1C5"/>
                      </a:solidFill>
                      <a:prstDash val="soli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algn="ctr"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5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BEC1C5"/>
                      </a:solidFill>
                      <a:prstDash val="solid"/>
                    </a:lnL>
                    <a:lnR w="12240">
                      <a:solidFill>
                        <a:srgbClr val="BEC1C5"/>
                      </a:solidFill>
                      <a:prstDash val="solid"/>
                    </a:lnR>
                    <a:lnT w="12240">
                      <a:solidFill>
                        <a:srgbClr val="C8C7C4"/>
                      </a:solidFill>
                      <a:prstDash val="solid"/>
                    </a:lnT>
                    <a:lnB w="12240">
                      <a:solidFill>
                        <a:srgbClr val="BEC1C5"/>
                      </a:solidFill>
                      <a:prstDash val="soli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Lima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BEC1C5"/>
                      </a:solidFill>
                      <a:prstDash val="solid"/>
                    </a:lnL>
                    <a:lnR w="12240">
                      <a:solidFill>
                        <a:srgbClr val="BEC1C5"/>
                      </a:solidFill>
                      <a:prstDash val="solid"/>
                    </a:lnR>
                    <a:lnT w="12240">
                      <a:solidFill>
                        <a:srgbClr val="C8C7C4"/>
                      </a:solidFill>
                      <a:prstDash val="solid"/>
                    </a:lnT>
                    <a:lnB w="12240">
                      <a:solidFill>
                        <a:srgbClr val="BEC1C5"/>
                      </a:solidFill>
                      <a:prstDash val="solid"/>
                    </a:lnB>
                    <a:solidFill>
                      <a:srgbClr val="EEF2F7"/>
                    </a:solidFill>
                  </a:tcPr>
                </a:tc>
              </a:tr>
              <a:tr h="332280"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HU-05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8C7C4"/>
                      </a:solidFill>
                      <a:prstDash val="solid"/>
                    </a:lnL>
                    <a:lnR w="12240">
                      <a:solidFill>
                        <a:srgbClr val="BEC1C5"/>
                      </a:solidFill>
                      <a:prstDash val="solid"/>
                    </a:lnR>
                    <a:lnT w="12240">
                      <a:solidFill>
                        <a:srgbClr val="BEC1C5"/>
                      </a:solidFill>
                      <a:prstDash val="solid"/>
                    </a:lnT>
                    <a:lnB w="12240">
                      <a:solidFill>
                        <a:srgbClr val="BEC1C5"/>
                      </a:solidFill>
                      <a:prstDash val="soli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Probabilidad de cada mercado de un partido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BEC1C5"/>
                      </a:solidFill>
                      <a:prstDash val="solid"/>
                    </a:lnL>
                    <a:lnR w="12240">
                      <a:solidFill>
                        <a:srgbClr val="BEC1C5"/>
                      </a:solidFill>
                      <a:prstDash val="solid"/>
                    </a:lnR>
                    <a:lnT w="12240">
                      <a:solidFill>
                        <a:srgbClr val="BEC1C5"/>
                      </a:solidFill>
                      <a:prstDash val="solid"/>
                    </a:lnT>
                    <a:lnB w="12240">
                      <a:solidFill>
                        <a:srgbClr val="BEC1C5"/>
                      </a:solidFill>
                      <a:prstDash val="soli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algn="ctr"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13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BEC1C5"/>
                      </a:solidFill>
                      <a:prstDash val="solid"/>
                    </a:lnL>
                    <a:lnR w="12240">
                      <a:solidFill>
                        <a:srgbClr val="BEC1C5"/>
                      </a:solidFill>
                      <a:prstDash val="solid"/>
                    </a:lnR>
                    <a:lnT w="12240">
                      <a:solidFill>
                        <a:srgbClr val="BEC1C5"/>
                      </a:solidFill>
                      <a:prstDash val="solid"/>
                    </a:lnT>
                    <a:lnB w="12240">
                      <a:solidFill>
                        <a:srgbClr val="BEC1C5"/>
                      </a:solidFill>
                      <a:prstDash val="soli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Lima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BEC1C5"/>
                      </a:solidFill>
                      <a:prstDash val="solid"/>
                    </a:lnL>
                    <a:lnR w="12240">
                      <a:solidFill>
                        <a:srgbClr val="BEC1C5"/>
                      </a:solidFill>
                      <a:prstDash val="solid"/>
                    </a:lnR>
                    <a:lnT w="12240">
                      <a:solidFill>
                        <a:srgbClr val="BEC1C5"/>
                      </a:solidFill>
                      <a:prstDash val="solid"/>
                    </a:lnT>
                    <a:lnB w="12240">
                      <a:solidFill>
                        <a:srgbClr val="BEC1C5"/>
                      </a:solidFill>
                      <a:prstDash val="solid"/>
                    </a:lnB>
                    <a:solidFill>
                      <a:srgbClr val="EEF2F7"/>
                    </a:solidFill>
                  </a:tcPr>
                </a:tc>
              </a:tr>
              <a:tr h="332280"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HU-06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8C7C4"/>
                      </a:solidFill>
                      <a:prstDash val="solid"/>
                    </a:lnL>
                    <a:lnR w="12240">
                      <a:solidFill>
                        <a:srgbClr val="BEC1C5"/>
                      </a:solidFill>
                      <a:prstDash val="solid"/>
                    </a:lnR>
                    <a:lnT w="12240">
                      <a:solidFill>
                        <a:srgbClr val="BEC1C5"/>
                      </a:solidFill>
                      <a:prstDash val="solid"/>
                    </a:lnT>
                    <a:lnB w="12240">
                      <a:solidFill>
                        <a:srgbClr val="BEC1C5"/>
                      </a:solidFill>
                      <a:prstDash val="soli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Apuesta del día y registro de apuestas con su rendimiento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BEC1C5"/>
                      </a:solidFill>
                      <a:prstDash val="solid"/>
                    </a:lnL>
                    <a:lnR w="12240">
                      <a:solidFill>
                        <a:srgbClr val="BEC1C5"/>
                      </a:solidFill>
                      <a:prstDash val="solid"/>
                    </a:lnR>
                    <a:lnT w="12240">
                      <a:solidFill>
                        <a:srgbClr val="BEC1C5"/>
                      </a:solidFill>
                      <a:prstDash val="solid"/>
                    </a:lnT>
                    <a:lnB w="12240">
                      <a:solidFill>
                        <a:srgbClr val="BEC1C5"/>
                      </a:solidFill>
                      <a:prstDash val="soli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algn="ctr"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13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BEC1C5"/>
                      </a:solidFill>
                      <a:prstDash val="solid"/>
                    </a:lnL>
                    <a:lnR w="12240">
                      <a:solidFill>
                        <a:srgbClr val="BEC1C5"/>
                      </a:solidFill>
                      <a:prstDash val="solid"/>
                    </a:lnR>
                    <a:lnT w="12240">
                      <a:solidFill>
                        <a:srgbClr val="BEC1C5"/>
                      </a:solidFill>
                      <a:prstDash val="solid"/>
                    </a:lnT>
                    <a:lnB w="12240">
                      <a:solidFill>
                        <a:srgbClr val="BEC1C5"/>
                      </a:solidFill>
                      <a:prstDash val="soli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Lima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BEC1C5"/>
                      </a:solidFill>
                      <a:prstDash val="solid"/>
                    </a:lnL>
                    <a:lnR w="12240">
                      <a:solidFill>
                        <a:srgbClr val="BEC1C5"/>
                      </a:solidFill>
                      <a:prstDash val="solid"/>
                    </a:lnR>
                    <a:lnT w="12240">
                      <a:solidFill>
                        <a:srgbClr val="BEC1C5"/>
                      </a:solidFill>
                      <a:prstDash val="solid"/>
                    </a:lnT>
                    <a:lnB w="12240">
                      <a:solidFill>
                        <a:srgbClr val="BEC1C5"/>
                      </a:solidFill>
                      <a:prstDash val="solid"/>
                    </a:lnB>
                    <a:solidFill>
                      <a:srgbClr val="EEF2F7"/>
                    </a:solidFill>
                  </a:tcPr>
                </a:tc>
              </a:tr>
              <a:tr h="332280"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HU-07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8C7C4"/>
                      </a:solidFill>
                      <a:prstDash val="solid"/>
                    </a:lnL>
                    <a:lnR w="12240">
                      <a:solidFill>
                        <a:srgbClr val="C8C7C4"/>
                      </a:solidFill>
                      <a:prstDash val="solid"/>
                    </a:lnR>
                    <a:lnT w="12240">
                      <a:solidFill>
                        <a:srgbClr val="BEC1C5"/>
                      </a:solidFill>
                      <a:prstDash val="solid"/>
                    </a:lnT>
                    <a:lnB w="12240">
                      <a:solidFill>
                        <a:srgbClr val="C8C7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Registro de servicios y gateway único con seguridad JWT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8C7C4"/>
                      </a:solidFill>
                      <a:prstDash val="solid"/>
                    </a:lnL>
                    <a:lnR w="12240">
                      <a:solidFill>
                        <a:srgbClr val="C8C7C4"/>
                      </a:solidFill>
                      <a:prstDash val="solid"/>
                    </a:lnR>
                    <a:lnT w="12240">
                      <a:solidFill>
                        <a:srgbClr val="BEC1C5"/>
                      </a:solidFill>
                      <a:prstDash val="solid"/>
                    </a:lnT>
                    <a:lnB w="12240">
                      <a:solidFill>
                        <a:srgbClr val="C8C7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algn="ctr"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8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8C7C4"/>
                      </a:solidFill>
                      <a:prstDash val="solid"/>
                    </a:lnL>
                    <a:lnR w="12240">
                      <a:solidFill>
                        <a:srgbClr val="C8C7C4"/>
                      </a:solidFill>
                      <a:prstDash val="solid"/>
                    </a:lnR>
                    <a:lnT w="12240">
                      <a:solidFill>
                        <a:srgbClr val="BEC1C5"/>
                      </a:solidFill>
                      <a:prstDash val="solid"/>
                    </a:lnT>
                    <a:lnB w="12240">
                      <a:solidFill>
                        <a:srgbClr val="C8C7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Tenazoa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8C7C4"/>
                      </a:solidFill>
                      <a:prstDash val="solid"/>
                    </a:lnL>
                    <a:lnR w="12240">
                      <a:solidFill>
                        <a:srgbClr val="C8C7C4"/>
                      </a:solidFill>
                      <a:prstDash val="solid"/>
                    </a:lnR>
                    <a:lnT w="12240">
                      <a:solidFill>
                        <a:srgbClr val="BEC1C5"/>
                      </a:solidFill>
                      <a:prstDash val="solid"/>
                    </a:lnT>
                    <a:lnB w="12240">
                      <a:solidFill>
                        <a:srgbClr val="C8C7C4"/>
                      </a:solidFill>
                      <a:prstDash val="solid"/>
                    </a:lnB>
                    <a:noFill/>
                  </a:tcPr>
                </a:tc>
              </a:tr>
              <a:tr h="332280"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HU-08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8C7C4"/>
                      </a:solidFill>
                      <a:prstDash val="solid"/>
                    </a:lnL>
                    <a:lnR w="12240">
                      <a:solidFill>
                        <a:srgbClr val="C8C7C4"/>
                      </a:solidFill>
                      <a:prstDash val="solid"/>
                    </a:lnR>
                    <a:lnT w="12240">
                      <a:solidFill>
                        <a:srgbClr val="C8C7C4"/>
                      </a:solidFill>
                      <a:prstDash val="solid"/>
                    </a:lnT>
                    <a:lnB w="12240">
                      <a:solidFill>
                        <a:srgbClr val="C8C7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Crear una cuenta e iniciar sesión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8C7C4"/>
                      </a:solidFill>
                      <a:prstDash val="solid"/>
                    </a:lnL>
                    <a:lnR w="12240">
                      <a:solidFill>
                        <a:srgbClr val="C8C7C4"/>
                      </a:solidFill>
                      <a:prstDash val="solid"/>
                    </a:lnR>
                    <a:lnT w="12240">
                      <a:solidFill>
                        <a:srgbClr val="C8C7C4"/>
                      </a:solidFill>
                      <a:prstDash val="solid"/>
                    </a:lnT>
                    <a:lnB w="12240">
                      <a:solidFill>
                        <a:srgbClr val="C8C7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algn="ctr"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5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8C7C4"/>
                      </a:solidFill>
                      <a:prstDash val="solid"/>
                    </a:lnL>
                    <a:lnR w="12240">
                      <a:solidFill>
                        <a:srgbClr val="C8C7C4"/>
                      </a:solidFill>
                      <a:prstDash val="solid"/>
                    </a:lnR>
                    <a:lnT w="12240">
                      <a:solidFill>
                        <a:srgbClr val="C8C7C4"/>
                      </a:solidFill>
                      <a:prstDash val="solid"/>
                    </a:lnT>
                    <a:lnB w="12240">
                      <a:solidFill>
                        <a:srgbClr val="C8C7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Tenazoa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8C7C4"/>
                      </a:solidFill>
                      <a:prstDash val="solid"/>
                    </a:lnL>
                    <a:lnR w="12240">
                      <a:solidFill>
                        <a:srgbClr val="C8C7C4"/>
                      </a:solidFill>
                      <a:prstDash val="solid"/>
                    </a:lnR>
                    <a:lnT w="12240">
                      <a:solidFill>
                        <a:srgbClr val="C8C7C4"/>
                      </a:solidFill>
                      <a:prstDash val="solid"/>
                    </a:lnT>
                    <a:lnB w="12240">
                      <a:solidFill>
                        <a:srgbClr val="C8C7C4"/>
                      </a:solidFill>
                      <a:prstDash val="solid"/>
                    </a:lnB>
                    <a:noFill/>
                  </a:tcPr>
                </a:tc>
              </a:tr>
              <a:tr h="332280"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HU-09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8C7C4"/>
                      </a:solidFill>
                      <a:prstDash val="solid"/>
                    </a:lnL>
                    <a:lnR w="12240">
                      <a:solidFill>
                        <a:srgbClr val="C8C7C4"/>
                      </a:solidFill>
                      <a:prstDash val="solid"/>
                    </a:lnR>
                    <a:lnT w="12240">
                      <a:solidFill>
                        <a:srgbClr val="C8C7C4"/>
                      </a:solidFill>
                      <a:prstDash val="solid"/>
                    </a:lnT>
                    <a:lnB w="12240">
                      <a:solidFill>
                        <a:srgbClr val="C8C7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Interfaz web para usar todo lo anterior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8C7C4"/>
                      </a:solidFill>
                      <a:prstDash val="solid"/>
                    </a:lnL>
                    <a:lnR w="12240">
                      <a:solidFill>
                        <a:srgbClr val="C8C7C4"/>
                      </a:solidFill>
                      <a:prstDash val="solid"/>
                    </a:lnR>
                    <a:lnT w="12240">
                      <a:solidFill>
                        <a:srgbClr val="C8C7C4"/>
                      </a:solidFill>
                      <a:prstDash val="solid"/>
                    </a:lnT>
                    <a:lnB w="12240">
                      <a:solidFill>
                        <a:srgbClr val="C8C7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algn="ctr"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8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8C7C4"/>
                      </a:solidFill>
                      <a:prstDash val="solid"/>
                    </a:lnL>
                    <a:lnR w="12240">
                      <a:solidFill>
                        <a:srgbClr val="C8C7C4"/>
                      </a:solidFill>
                      <a:prstDash val="solid"/>
                    </a:lnR>
                    <a:lnT w="12240">
                      <a:solidFill>
                        <a:srgbClr val="C8C7C4"/>
                      </a:solidFill>
                      <a:prstDash val="solid"/>
                    </a:lnT>
                    <a:lnB w="12240">
                      <a:solidFill>
                        <a:srgbClr val="C8C7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Tenazoa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8C7C4"/>
                      </a:solidFill>
                      <a:prstDash val="solid"/>
                    </a:lnL>
                    <a:lnR w="12240">
                      <a:solidFill>
                        <a:srgbClr val="C8C7C4"/>
                      </a:solidFill>
                      <a:prstDash val="solid"/>
                    </a:lnR>
                    <a:lnT w="12240">
                      <a:solidFill>
                        <a:srgbClr val="C8C7C4"/>
                      </a:solidFill>
                      <a:prstDash val="solid"/>
                    </a:lnT>
                    <a:lnB w="12240">
                      <a:solidFill>
                        <a:srgbClr val="C8C7C4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15" name="Text 3"/>
          <p:cNvSpPr/>
          <p:nvPr/>
        </p:nvSpPr>
        <p:spPr>
          <a:xfrm>
            <a:off x="812880" y="5357880"/>
            <a:ext cx="10883160" cy="25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82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Todas de prioridad alta · Marquina 21 pts · Lima 31 pts · Tenazoa 21 pts</a:t>
            </a:r>
            <a:endParaRPr lang="es-P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4"/>
          <p:cNvSpPr/>
          <p:nvPr/>
        </p:nvSpPr>
        <p:spPr>
          <a:xfrm>
            <a:off x="812880" y="6289200"/>
            <a:ext cx="44103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F6878"/>
                </a:solidFill>
                <a:effectLst/>
                <a:uFillTx/>
                <a:latin typeface="Public Sans"/>
                <a:ea typeface="Public Sans"/>
              </a:rPr>
              <a:t>Analizador de apuestas de fútbol con microservicios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5"/>
          <p:cNvSpPr/>
          <p:nvPr/>
        </p:nvSpPr>
        <p:spPr>
          <a:xfrm>
            <a:off x="11204280" y="6289200"/>
            <a:ext cx="17460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r"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F6878"/>
                </a:solidFill>
                <a:effectLst/>
                <a:uFillTx/>
                <a:latin typeface="Public Sans"/>
                <a:ea typeface="Public Sans"/>
              </a:rPr>
              <a:t>11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Shape 0"/>
          <p:cNvSpPr/>
          <p:nvPr/>
        </p:nvSpPr>
        <p:spPr>
          <a:xfrm>
            <a:off x="0" y="0"/>
            <a:ext cx="151920" cy="6857640"/>
          </a:xfrm>
          <a:prstGeom prst="rect">
            <a:avLst/>
          </a:prstGeom>
          <a:solidFill>
            <a:srgbClr val="0E2A4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P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1"/>
          <p:cNvSpPr/>
          <p:nvPr/>
        </p:nvSpPr>
        <p:spPr>
          <a:xfrm>
            <a:off x="812880" y="812880"/>
            <a:ext cx="108831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1" u="none" spc="99" strike="noStrike">
                <a:solidFill>
                  <a:srgbClr val="8A6410"/>
                </a:solidFill>
                <a:effectLst/>
                <a:uFillTx/>
                <a:latin typeface="Public Sans"/>
                <a:ea typeface="Public Sans"/>
              </a:rPr>
              <a:t>5.1 · TECNOLOGÍAS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PlaceHolder 1"/>
          <p:cNvSpPr>
            <a:spLocks noGrp="1"/>
          </p:cNvSpPr>
          <p:nvPr>
            <p:ph type="title"/>
          </p:nvPr>
        </p:nvSpPr>
        <p:spPr>
          <a:xfrm>
            <a:off x="812880" y="1102320"/>
            <a:ext cx="10883160" cy="43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220"/>
              </a:lnSpc>
              <a:buNone/>
              <a:tabLst>
                <a:tab pos="0" algn="l"/>
              </a:tabLst>
            </a:pPr>
            <a:r>
              <a:rPr lang="en-US" sz="2800" b="1" u="none" strike="noStrike">
                <a:solidFill>
                  <a:srgbClr val="0E2A4F"/>
                </a:solidFill>
                <a:effectLst/>
                <a:uFillTx/>
                <a:latin typeface="Libre Baskerville"/>
                <a:ea typeface="Libre Baskerville"/>
              </a:rPr>
              <a:t>Java 21 con el ecosistema Spring</a:t>
            </a:r>
            <a:endParaRPr lang="es-PE" sz="2800" b="0" u="none" strike="noStrike">
              <a:solidFill>
                <a:schemeClr val="dk1"/>
              </a:solidFill>
              <a:effectLst/>
              <a:uFillTx/>
              <a:latin typeface="Public Sans"/>
            </a:endParaRPr>
          </a:p>
        </p:txBody>
      </p:sp>
      <p:sp>
        <p:nvSpPr>
          <p:cNvPr id="221" name="Shape 3"/>
          <p:cNvSpPr/>
          <p:nvPr/>
        </p:nvSpPr>
        <p:spPr>
          <a:xfrm>
            <a:off x="812880" y="1815840"/>
            <a:ext cx="2545920" cy="1030680"/>
          </a:xfrm>
          <a:prstGeom prst="rect">
            <a:avLst/>
          </a:prstGeom>
          <a:solidFill>
            <a:srgbClr val="FFFE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P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4"/>
          <p:cNvSpPr/>
          <p:nvPr/>
        </p:nvSpPr>
        <p:spPr>
          <a:xfrm>
            <a:off x="990720" y="1968480"/>
            <a:ext cx="225612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8A6410"/>
                </a:solidFill>
                <a:effectLst/>
                <a:uFillTx/>
                <a:latin typeface="Public Sans"/>
                <a:ea typeface="Public Sans"/>
              </a:rPr>
              <a:t>Framework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5"/>
          <p:cNvSpPr/>
          <p:nvPr/>
        </p:nvSpPr>
        <p:spPr>
          <a:xfrm>
            <a:off x="990720" y="2232360"/>
            <a:ext cx="2256120" cy="48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82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E2A4F"/>
                </a:solidFill>
                <a:effectLst/>
                <a:uFillTx/>
                <a:latin typeface="Public Sans"/>
                <a:ea typeface="Public Sans"/>
              </a:rPr>
              <a:t>Spring Boot + Spring Cloud</a:t>
            </a:r>
            <a:endParaRPr lang="es-P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Shape 6"/>
          <p:cNvSpPr/>
          <p:nvPr/>
        </p:nvSpPr>
        <p:spPr>
          <a:xfrm>
            <a:off x="3486240" y="1815840"/>
            <a:ext cx="2545920" cy="1030680"/>
          </a:xfrm>
          <a:prstGeom prst="rect">
            <a:avLst/>
          </a:prstGeom>
          <a:solidFill>
            <a:srgbClr val="FFFE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P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7"/>
          <p:cNvSpPr/>
          <p:nvPr/>
        </p:nvSpPr>
        <p:spPr>
          <a:xfrm>
            <a:off x="3664080" y="1968480"/>
            <a:ext cx="225612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8A6410"/>
                </a:solidFill>
                <a:effectLst/>
                <a:uFillTx/>
                <a:latin typeface="Public Sans"/>
                <a:ea typeface="Public Sans"/>
              </a:rPr>
              <a:t>Descubrimiento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8"/>
          <p:cNvSpPr/>
          <p:nvPr/>
        </p:nvSpPr>
        <p:spPr>
          <a:xfrm>
            <a:off x="3664080" y="2232360"/>
            <a:ext cx="2256120" cy="25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82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E2A4F"/>
                </a:solidFill>
                <a:effectLst/>
                <a:uFillTx/>
                <a:latin typeface="Public Sans"/>
                <a:ea typeface="Public Sans"/>
              </a:rPr>
              <a:t>Eureka Server</a:t>
            </a:r>
            <a:endParaRPr lang="es-P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Shape 9"/>
          <p:cNvSpPr/>
          <p:nvPr/>
        </p:nvSpPr>
        <p:spPr>
          <a:xfrm>
            <a:off x="6159600" y="1815840"/>
            <a:ext cx="2545920" cy="1030680"/>
          </a:xfrm>
          <a:prstGeom prst="rect">
            <a:avLst/>
          </a:prstGeom>
          <a:solidFill>
            <a:srgbClr val="FFFE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P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10"/>
          <p:cNvSpPr/>
          <p:nvPr/>
        </p:nvSpPr>
        <p:spPr>
          <a:xfrm>
            <a:off x="6337440" y="1968480"/>
            <a:ext cx="225612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8A6410"/>
                </a:solidFill>
                <a:effectLst/>
                <a:uFillTx/>
                <a:latin typeface="Public Sans"/>
                <a:ea typeface="Public Sans"/>
              </a:rPr>
              <a:t>Entrada única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11"/>
          <p:cNvSpPr/>
          <p:nvPr/>
        </p:nvSpPr>
        <p:spPr>
          <a:xfrm>
            <a:off x="6337440" y="2232360"/>
            <a:ext cx="2256120" cy="25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82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E2A4F"/>
                </a:solidFill>
                <a:effectLst/>
                <a:uFillTx/>
                <a:latin typeface="Public Sans"/>
                <a:ea typeface="Public Sans"/>
              </a:rPr>
              <a:t>Spring Cloud Gateway</a:t>
            </a:r>
            <a:endParaRPr lang="es-P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Shape 12"/>
          <p:cNvSpPr/>
          <p:nvPr/>
        </p:nvSpPr>
        <p:spPr>
          <a:xfrm>
            <a:off x="8832960" y="1815840"/>
            <a:ext cx="2545920" cy="1030680"/>
          </a:xfrm>
          <a:prstGeom prst="rect">
            <a:avLst/>
          </a:prstGeom>
          <a:solidFill>
            <a:srgbClr val="FFFE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P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13"/>
          <p:cNvSpPr/>
          <p:nvPr/>
        </p:nvSpPr>
        <p:spPr>
          <a:xfrm>
            <a:off x="9010800" y="1968480"/>
            <a:ext cx="225612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8A6410"/>
                </a:solidFill>
                <a:effectLst/>
                <a:uFillTx/>
                <a:latin typeface="Public Sans"/>
                <a:ea typeface="Public Sans"/>
              </a:rPr>
              <a:t>Comunicación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14"/>
          <p:cNvSpPr/>
          <p:nvPr/>
        </p:nvSpPr>
        <p:spPr>
          <a:xfrm>
            <a:off x="9010800" y="2232360"/>
            <a:ext cx="2256120" cy="25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82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E2A4F"/>
                </a:solidFill>
                <a:effectLst/>
                <a:uFillTx/>
                <a:latin typeface="Public Sans"/>
                <a:ea typeface="Public Sans"/>
              </a:rPr>
              <a:t>REST con OpenFeign</a:t>
            </a:r>
            <a:endParaRPr lang="es-P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Shape 15"/>
          <p:cNvSpPr/>
          <p:nvPr/>
        </p:nvSpPr>
        <p:spPr>
          <a:xfrm>
            <a:off x="812880" y="2973960"/>
            <a:ext cx="2545920" cy="1030680"/>
          </a:xfrm>
          <a:prstGeom prst="rect">
            <a:avLst/>
          </a:prstGeom>
          <a:solidFill>
            <a:srgbClr val="FFFE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P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16"/>
          <p:cNvSpPr/>
          <p:nvPr/>
        </p:nvSpPr>
        <p:spPr>
          <a:xfrm>
            <a:off x="990720" y="3126600"/>
            <a:ext cx="225612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8A6410"/>
                </a:solidFill>
                <a:effectLst/>
                <a:uFillTx/>
                <a:latin typeface="Public Sans"/>
                <a:ea typeface="Public Sans"/>
              </a:rPr>
              <a:t>Seguridad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17"/>
          <p:cNvSpPr/>
          <p:nvPr/>
        </p:nvSpPr>
        <p:spPr>
          <a:xfrm>
            <a:off x="990720" y="3390480"/>
            <a:ext cx="2256120" cy="25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82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E2A4F"/>
                </a:solidFill>
                <a:effectLst/>
                <a:uFillTx/>
                <a:latin typeface="Public Sans"/>
                <a:ea typeface="Public Sans"/>
              </a:rPr>
              <a:t>JWT (jjwt) y BCrypt</a:t>
            </a:r>
            <a:endParaRPr lang="es-P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Shape 18"/>
          <p:cNvSpPr/>
          <p:nvPr/>
        </p:nvSpPr>
        <p:spPr>
          <a:xfrm>
            <a:off x="3486240" y="2973960"/>
            <a:ext cx="2545920" cy="1030680"/>
          </a:xfrm>
          <a:prstGeom prst="rect">
            <a:avLst/>
          </a:prstGeom>
          <a:solidFill>
            <a:srgbClr val="FFFE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P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19"/>
          <p:cNvSpPr/>
          <p:nvPr/>
        </p:nvSpPr>
        <p:spPr>
          <a:xfrm>
            <a:off x="3664080" y="3126600"/>
            <a:ext cx="225612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8A6410"/>
                </a:solidFill>
                <a:effectLst/>
                <a:uFillTx/>
                <a:latin typeface="Public Sans"/>
                <a:ea typeface="Public Sans"/>
              </a:rPr>
              <a:t>Persistencia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20"/>
          <p:cNvSpPr/>
          <p:nvPr/>
        </p:nvSpPr>
        <p:spPr>
          <a:xfrm>
            <a:off x="3664080" y="3390480"/>
            <a:ext cx="2256120" cy="48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82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E2A4F"/>
                </a:solidFill>
                <a:effectLst/>
                <a:uFillTx/>
                <a:latin typeface="Public Sans"/>
                <a:ea typeface="Public Sans"/>
              </a:rPr>
              <a:t>Spring Data JPA + PostgreSQL 16</a:t>
            </a:r>
            <a:endParaRPr lang="es-P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Shape 21"/>
          <p:cNvSpPr/>
          <p:nvPr/>
        </p:nvSpPr>
        <p:spPr>
          <a:xfrm>
            <a:off x="6159600" y="2973960"/>
            <a:ext cx="2545920" cy="1030680"/>
          </a:xfrm>
          <a:prstGeom prst="rect">
            <a:avLst/>
          </a:prstGeom>
          <a:solidFill>
            <a:srgbClr val="FFFE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P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22"/>
          <p:cNvSpPr/>
          <p:nvPr/>
        </p:nvSpPr>
        <p:spPr>
          <a:xfrm>
            <a:off x="6337440" y="3126600"/>
            <a:ext cx="225612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8A6410"/>
                </a:solidFill>
                <a:effectLst/>
                <a:uFillTx/>
                <a:latin typeface="Public Sans"/>
                <a:ea typeface="Public Sans"/>
              </a:rPr>
              <a:t>Tareas programadas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23"/>
          <p:cNvSpPr/>
          <p:nvPr/>
        </p:nvSpPr>
        <p:spPr>
          <a:xfrm>
            <a:off x="6337440" y="3390480"/>
            <a:ext cx="2256120" cy="48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82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E2A4F"/>
                </a:solidFill>
                <a:effectLst/>
                <a:uFillTx/>
                <a:latin typeface="Public Sans"/>
                <a:ea typeface="Public Sans"/>
              </a:rPr>
              <a:t>@Scheduled en hora de Lima</a:t>
            </a:r>
            <a:endParaRPr lang="es-P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Shape 24"/>
          <p:cNvSpPr/>
          <p:nvPr/>
        </p:nvSpPr>
        <p:spPr>
          <a:xfrm>
            <a:off x="8832960" y="2973960"/>
            <a:ext cx="2545920" cy="1030680"/>
          </a:xfrm>
          <a:prstGeom prst="rect">
            <a:avLst/>
          </a:prstGeom>
          <a:solidFill>
            <a:srgbClr val="FFFE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P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25"/>
          <p:cNvSpPr/>
          <p:nvPr/>
        </p:nvSpPr>
        <p:spPr>
          <a:xfrm>
            <a:off x="9010800" y="3126600"/>
            <a:ext cx="225612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8A6410"/>
                </a:solidFill>
                <a:effectLst/>
                <a:uFillTx/>
                <a:latin typeface="Public Sans"/>
                <a:ea typeface="Public Sans"/>
              </a:rPr>
              <a:t>Lectura de CSV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26"/>
          <p:cNvSpPr/>
          <p:nvPr/>
        </p:nvSpPr>
        <p:spPr>
          <a:xfrm>
            <a:off x="9010800" y="3390480"/>
            <a:ext cx="2256120" cy="25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82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E2A4F"/>
                </a:solidFill>
                <a:effectLst/>
                <a:uFillTx/>
                <a:latin typeface="Public Sans"/>
                <a:ea typeface="Public Sans"/>
              </a:rPr>
              <a:t>Apache Commons CSV</a:t>
            </a:r>
            <a:endParaRPr lang="es-P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Shape 27"/>
          <p:cNvSpPr/>
          <p:nvPr/>
        </p:nvSpPr>
        <p:spPr>
          <a:xfrm>
            <a:off x="812880" y="4132080"/>
            <a:ext cx="2545920" cy="1030680"/>
          </a:xfrm>
          <a:prstGeom prst="rect">
            <a:avLst/>
          </a:prstGeom>
          <a:solidFill>
            <a:srgbClr val="FFFE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P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28"/>
          <p:cNvSpPr/>
          <p:nvPr/>
        </p:nvSpPr>
        <p:spPr>
          <a:xfrm>
            <a:off x="990720" y="4284720"/>
            <a:ext cx="225612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8A6410"/>
                </a:solidFill>
                <a:effectLst/>
                <a:uFillTx/>
                <a:latin typeface="Public Sans"/>
                <a:ea typeface="Public Sans"/>
              </a:rPr>
              <a:t>Documentación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29"/>
          <p:cNvSpPr/>
          <p:nvPr/>
        </p:nvSpPr>
        <p:spPr>
          <a:xfrm>
            <a:off x="990720" y="4548600"/>
            <a:ext cx="2256120" cy="48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82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E2A4F"/>
                </a:solidFill>
                <a:effectLst/>
                <a:uFillTx/>
                <a:latin typeface="Public Sans"/>
                <a:ea typeface="Public Sans"/>
              </a:rPr>
              <a:t>springdoc-openapi (Swagger)</a:t>
            </a:r>
            <a:endParaRPr lang="es-P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Shape 30"/>
          <p:cNvSpPr/>
          <p:nvPr/>
        </p:nvSpPr>
        <p:spPr>
          <a:xfrm>
            <a:off x="3486240" y="4132080"/>
            <a:ext cx="2545920" cy="1030680"/>
          </a:xfrm>
          <a:prstGeom prst="rect">
            <a:avLst/>
          </a:prstGeom>
          <a:solidFill>
            <a:srgbClr val="FFFE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P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31"/>
          <p:cNvSpPr/>
          <p:nvPr/>
        </p:nvSpPr>
        <p:spPr>
          <a:xfrm>
            <a:off x="3664080" y="4284720"/>
            <a:ext cx="225612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8A6410"/>
                </a:solidFill>
                <a:effectLst/>
                <a:uFillTx/>
                <a:latin typeface="Public Sans"/>
                <a:ea typeface="Public Sans"/>
              </a:rPr>
              <a:t>Interfaz web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32"/>
          <p:cNvSpPr/>
          <p:nvPr/>
        </p:nvSpPr>
        <p:spPr>
          <a:xfrm>
            <a:off x="3664080" y="4548600"/>
            <a:ext cx="2256120" cy="25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82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E2A4F"/>
                </a:solidFill>
                <a:effectLst/>
                <a:uFillTx/>
                <a:latin typeface="Public Sans"/>
                <a:ea typeface="Public Sans"/>
              </a:rPr>
              <a:t>Thymeleaf + Bootstrap 5</a:t>
            </a:r>
            <a:endParaRPr lang="es-P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Shape 33"/>
          <p:cNvSpPr/>
          <p:nvPr/>
        </p:nvSpPr>
        <p:spPr>
          <a:xfrm>
            <a:off x="6159600" y="4132080"/>
            <a:ext cx="2545920" cy="1030680"/>
          </a:xfrm>
          <a:prstGeom prst="rect">
            <a:avLst/>
          </a:prstGeom>
          <a:solidFill>
            <a:srgbClr val="FFFE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P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34"/>
          <p:cNvSpPr/>
          <p:nvPr/>
        </p:nvSpPr>
        <p:spPr>
          <a:xfrm>
            <a:off x="6337440" y="4284720"/>
            <a:ext cx="225612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8A6410"/>
                </a:solidFill>
                <a:effectLst/>
                <a:uFillTx/>
                <a:latin typeface="Public Sans"/>
                <a:ea typeface="Public Sans"/>
              </a:rPr>
              <a:t>Pruebas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35"/>
          <p:cNvSpPr/>
          <p:nvPr/>
        </p:nvSpPr>
        <p:spPr>
          <a:xfrm>
            <a:off x="6337440" y="4548600"/>
            <a:ext cx="2256120" cy="25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82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E2A4F"/>
                </a:solidFill>
                <a:effectLst/>
                <a:uFillTx/>
                <a:latin typeface="Public Sans"/>
                <a:ea typeface="Public Sans"/>
              </a:rPr>
              <a:t>JUnit 5 + Mockito</a:t>
            </a:r>
            <a:endParaRPr lang="es-P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Shape 36"/>
          <p:cNvSpPr/>
          <p:nvPr/>
        </p:nvSpPr>
        <p:spPr>
          <a:xfrm>
            <a:off x="8832960" y="4132080"/>
            <a:ext cx="2545920" cy="1030680"/>
          </a:xfrm>
          <a:prstGeom prst="rect">
            <a:avLst/>
          </a:prstGeom>
          <a:solidFill>
            <a:srgbClr val="FFFE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P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37"/>
          <p:cNvSpPr/>
          <p:nvPr/>
        </p:nvSpPr>
        <p:spPr>
          <a:xfrm>
            <a:off x="9010800" y="4284720"/>
            <a:ext cx="225612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8A6410"/>
                </a:solidFill>
                <a:effectLst/>
                <a:uFillTx/>
                <a:latin typeface="Public Sans"/>
                <a:ea typeface="Public Sans"/>
              </a:rPr>
              <a:t>Despliegue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38"/>
          <p:cNvSpPr/>
          <p:nvPr/>
        </p:nvSpPr>
        <p:spPr>
          <a:xfrm>
            <a:off x="9010800" y="4548600"/>
            <a:ext cx="2256120" cy="48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82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E2A4F"/>
                </a:solidFill>
                <a:effectLst/>
                <a:uFillTx/>
                <a:latin typeface="Public Sans"/>
                <a:ea typeface="Public Sans"/>
              </a:rPr>
              <a:t>Docker Compose · Git y GitHub</a:t>
            </a:r>
            <a:endParaRPr lang="es-P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39"/>
          <p:cNvSpPr/>
          <p:nvPr/>
        </p:nvSpPr>
        <p:spPr>
          <a:xfrm>
            <a:off x="812880" y="6289200"/>
            <a:ext cx="44103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F6878"/>
                </a:solidFill>
                <a:effectLst/>
                <a:uFillTx/>
                <a:latin typeface="Public Sans"/>
                <a:ea typeface="Public Sans"/>
              </a:rPr>
              <a:t>Analizador de apuestas de fútbol con microservicios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40"/>
          <p:cNvSpPr/>
          <p:nvPr/>
        </p:nvSpPr>
        <p:spPr>
          <a:xfrm>
            <a:off x="11175480" y="6289200"/>
            <a:ext cx="20340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r"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F6878"/>
                </a:solidFill>
                <a:effectLst/>
                <a:uFillTx/>
                <a:latin typeface="Public Sans"/>
                <a:ea typeface="Public Sans"/>
              </a:rPr>
              <a:t>12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Shape 0"/>
          <p:cNvSpPr/>
          <p:nvPr/>
        </p:nvSpPr>
        <p:spPr>
          <a:xfrm>
            <a:off x="0" y="0"/>
            <a:ext cx="151920" cy="6857640"/>
          </a:xfrm>
          <a:prstGeom prst="rect">
            <a:avLst/>
          </a:prstGeom>
          <a:solidFill>
            <a:srgbClr val="0E2A4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P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1"/>
          <p:cNvSpPr/>
          <p:nvPr/>
        </p:nvSpPr>
        <p:spPr>
          <a:xfrm>
            <a:off x="812880" y="812880"/>
            <a:ext cx="510120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1" u="none" spc="99" strike="noStrike">
                <a:solidFill>
                  <a:srgbClr val="8A6410"/>
                </a:solidFill>
                <a:effectLst/>
                <a:uFillTx/>
                <a:latin typeface="Public Sans"/>
                <a:ea typeface="Public Sans"/>
              </a:rPr>
              <a:t>5.2 · ARQUITECTURA LÓGICA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PlaceHolder 1"/>
          <p:cNvSpPr>
            <a:spLocks noGrp="1"/>
          </p:cNvSpPr>
          <p:nvPr>
            <p:ph type="title"/>
          </p:nvPr>
        </p:nvSpPr>
        <p:spPr>
          <a:xfrm>
            <a:off x="812880" y="1102320"/>
            <a:ext cx="5101200" cy="842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220"/>
              </a:lnSpc>
              <a:buNone/>
              <a:tabLst>
                <a:tab pos="0" algn="l"/>
              </a:tabLst>
            </a:pPr>
            <a:r>
              <a:rPr lang="en-US" sz="2800" b="1" u="none" strike="noStrike">
                <a:solidFill>
                  <a:srgbClr val="0E2A4F"/>
                </a:solidFill>
                <a:effectLst/>
                <a:uFillTx/>
                <a:latin typeface="Libre Baskerville"/>
                <a:ea typeface="Libre Baskerville"/>
              </a:rPr>
              <a:t>2 de infraestructura y 7 de negocio</a:t>
            </a:r>
            <a:endParaRPr lang="es-PE" sz="2800" b="0" u="none" strike="noStrike">
              <a:solidFill>
                <a:schemeClr val="dk1"/>
              </a:solidFill>
              <a:effectLst/>
              <a:uFillTx/>
              <a:latin typeface="Public Sans"/>
            </a:endParaRPr>
          </a:p>
        </p:txBody>
      </p:sp>
      <p:sp>
        <p:nvSpPr>
          <p:cNvPr id="262" name="Text 3"/>
          <p:cNvSpPr/>
          <p:nvPr/>
        </p:nvSpPr>
        <p:spPr>
          <a:xfrm>
            <a:off x="812880" y="2123280"/>
            <a:ext cx="510120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1" u="none" spc="99" strike="noStrike">
                <a:solidFill>
                  <a:srgbClr val="8A6410"/>
                </a:solidFill>
                <a:effectLst/>
                <a:uFillTx/>
                <a:latin typeface="Public Sans"/>
                <a:ea typeface="Public Sans"/>
              </a:rPr>
              <a:t>PATRONES APLICADOS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4"/>
          <p:cNvSpPr/>
          <p:nvPr/>
        </p:nvSpPr>
        <p:spPr>
          <a:xfrm>
            <a:off x="897480" y="2539800"/>
            <a:ext cx="5009040" cy="157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69560" indent="-169560" defTabSz="914400">
              <a:lnSpc>
                <a:spcPts val="2030"/>
              </a:lnSpc>
              <a:buClr>
                <a:srgbClr val="1F2B3D"/>
              </a:buClr>
              <a:buFont typeface="Symbol" charset="2"/>
              <a:buChar char=""/>
            </a:pPr>
            <a:r>
              <a:rPr lang="en-US" sz="1400" b="1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API Gateway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: un único punto de entrada</a:t>
            </a:r>
            <a:endParaRPr lang="es-P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9560" indent="-169560" defTabSz="914400">
              <a:lnSpc>
                <a:spcPts val="2030"/>
              </a:lnSpc>
              <a:buClr>
                <a:srgbClr val="1F2B3D"/>
              </a:buClr>
              <a:buFont typeface="Symbol" charset="2"/>
              <a:buChar char=""/>
            </a:pPr>
            <a:r>
              <a:rPr lang="en-US" sz="1400" b="1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Service Registry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: todos se registran en Eureka</a:t>
            </a:r>
            <a:endParaRPr lang="es-P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9560" indent="-169560" defTabSz="914400">
              <a:lnSpc>
                <a:spcPts val="2030"/>
              </a:lnSpc>
              <a:buClr>
                <a:srgbClr val="1F2B3D"/>
              </a:buClr>
              <a:buFont typeface="Symbol" charset="2"/>
              <a:buChar char=""/>
            </a:pPr>
            <a:r>
              <a:rPr lang="en-US" sz="1400" b="1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Database per Service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: cada uno con su BD</a:t>
            </a:r>
            <a:endParaRPr lang="es-P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9560" indent="-169560" defTabSz="914400">
              <a:lnSpc>
                <a:spcPts val="2030"/>
              </a:lnSpc>
              <a:buClr>
                <a:srgbClr val="1F2B3D"/>
              </a:buClr>
              <a:buFont typeface="Symbol" charset="2"/>
              <a:buChar char=""/>
            </a:pPr>
            <a:r>
              <a:rPr lang="en-US" sz="1400" b="1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Composición de API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: predicciones y apuestas piden datos a otros</a:t>
            </a:r>
            <a:endParaRPr lang="es-P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9560" indent="-169560" defTabSz="914400">
              <a:lnSpc>
                <a:spcPts val="2030"/>
              </a:lnSpc>
              <a:buClr>
                <a:srgbClr val="1F2B3D"/>
              </a:buClr>
              <a:buFont typeface="Symbol" charset="2"/>
              <a:buChar char=""/>
            </a:pPr>
            <a:r>
              <a:rPr lang="en-US" sz="1400" b="1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Anti-corruption layer</a:t>
            </a:r>
            <a:r>
              <a:rPr lang="en-US" sz="14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: solo ms-ingesta conoce el CSV</a:t>
            </a:r>
            <a:endParaRPr lang="es-P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Shape 5"/>
          <p:cNvSpPr/>
          <p:nvPr/>
        </p:nvSpPr>
        <p:spPr>
          <a:xfrm>
            <a:off x="6175440" y="816120"/>
            <a:ext cx="5200200" cy="5022360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P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5" name="Image 0" descr="Arquitectura lógica: navegador, web-app, api-gateway y discovery-server, y los 7 microservicios de negocio con sus llamadas entre sí"/>
          <p:cNvPicPr/>
          <p:nvPr/>
        </p:nvPicPr>
        <p:blipFill>
          <a:blip r:embed="rId1"/>
          <a:srcRect l="0" t="-7778" r="0" b="-7778"/>
          <a:stretch/>
        </p:blipFill>
        <p:spPr>
          <a:xfrm>
            <a:off x="6330960" y="971640"/>
            <a:ext cx="4901760" cy="4711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6" name="Text 6"/>
          <p:cNvSpPr/>
          <p:nvPr/>
        </p:nvSpPr>
        <p:spPr>
          <a:xfrm>
            <a:off x="812880" y="6289200"/>
            <a:ext cx="44103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F6878"/>
                </a:solidFill>
                <a:effectLst/>
                <a:uFillTx/>
                <a:latin typeface="Public Sans"/>
                <a:ea typeface="Public Sans"/>
              </a:rPr>
              <a:t>Analizador de apuestas de fútbol con microservicios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7"/>
          <p:cNvSpPr/>
          <p:nvPr/>
        </p:nvSpPr>
        <p:spPr>
          <a:xfrm>
            <a:off x="11170440" y="6289200"/>
            <a:ext cx="20844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r"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F6878"/>
                </a:solidFill>
                <a:effectLst/>
                <a:uFillTx/>
                <a:latin typeface="Public Sans"/>
                <a:ea typeface="Public Sans"/>
              </a:rPr>
              <a:t>13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Shape 0"/>
          <p:cNvSpPr/>
          <p:nvPr/>
        </p:nvSpPr>
        <p:spPr>
          <a:xfrm>
            <a:off x="0" y="0"/>
            <a:ext cx="151920" cy="6857640"/>
          </a:xfrm>
          <a:prstGeom prst="rect">
            <a:avLst/>
          </a:prstGeom>
          <a:solidFill>
            <a:srgbClr val="0E2A4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P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1"/>
          <p:cNvSpPr/>
          <p:nvPr/>
        </p:nvSpPr>
        <p:spPr>
          <a:xfrm>
            <a:off x="812880" y="812880"/>
            <a:ext cx="108831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1" u="none" spc="99" strike="noStrike">
                <a:solidFill>
                  <a:srgbClr val="8A6410"/>
                </a:solidFill>
                <a:effectLst/>
                <a:uFillTx/>
                <a:latin typeface="Public Sans"/>
                <a:ea typeface="Public Sans"/>
              </a:rPr>
              <a:t>5.2 · LOS 9 MICROSERVICIOS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PlaceHolder 1"/>
          <p:cNvSpPr>
            <a:spLocks noGrp="1"/>
          </p:cNvSpPr>
          <p:nvPr>
            <p:ph type="title"/>
          </p:nvPr>
        </p:nvSpPr>
        <p:spPr>
          <a:xfrm>
            <a:off x="812880" y="1102320"/>
            <a:ext cx="10883160" cy="43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220"/>
              </a:lnSpc>
              <a:buNone/>
              <a:tabLst>
                <a:tab pos="0" algn="l"/>
              </a:tabLst>
            </a:pPr>
            <a:r>
              <a:rPr lang="en-US" sz="2800" b="1" u="none" strike="noStrike">
                <a:solidFill>
                  <a:srgbClr val="0E2A4F"/>
                </a:solidFill>
                <a:effectLst/>
                <a:uFillTx/>
                <a:latin typeface="Libre Baskerville"/>
                <a:ea typeface="Libre Baskerville"/>
              </a:rPr>
              <a:t>Una responsabilidad por servicio</a:t>
            </a:r>
            <a:endParaRPr lang="es-PE" sz="2800" b="0" u="none" strike="noStrike">
              <a:solidFill>
                <a:schemeClr val="dk1"/>
              </a:solidFill>
              <a:effectLst/>
              <a:uFillTx/>
              <a:latin typeface="Public Sans"/>
            </a:endParaRPr>
          </a:p>
        </p:txBody>
      </p:sp>
      <p:graphicFrame>
        <p:nvGraphicFramePr>
          <p:cNvPr id="271" name="Table 0"/>
          <p:cNvGraphicFramePr/>
          <p:nvPr/>
        </p:nvGraphicFramePr>
        <p:xfrm>
          <a:off x="825480" y="1778040"/>
          <a:ext cx="10553400" cy="3325320"/>
        </p:xfrm>
        <a:graphic>
          <a:graphicData uri="http://schemas.openxmlformats.org/drawingml/2006/table">
            <a:tbl>
              <a:tblPr/>
              <a:tblGrid>
                <a:gridCol w="527400"/>
                <a:gridCol w="2005200"/>
                <a:gridCol w="1477440"/>
                <a:gridCol w="3904560"/>
                <a:gridCol w="1582920"/>
                <a:gridCol w="1055160"/>
              </a:tblGrid>
              <a:tr h="332280"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BFAF6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#</a:t>
                      </a:r>
                      <a:endParaRPr lang="es-PE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8C7C4"/>
                      </a:solidFill>
                      <a:prstDash val="solid"/>
                    </a:lnL>
                    <a:lnR w="12240">
                      <a:solidFill>
                        <a:srgbClr val="0F2542"/>
                      </a:solidFill>
                      <a:prstDash val="solid"/>
                    </a:lnR>
                    <a:lnT w="12240">
                      <a:solidFill>
                        <a:srgbClr val="C8C7C4"/>
                      </a:solidFill>
                      <a:prstDash val="solid"/>
                    </a:lnT>
                    <a:lnB w="12240">
                      <a:solidFill>
                        <a:srgbClr val="0F2542"/>
                      </a:solidFill>
                      <a:prstDash val="solid"/>
                    </a:lnB>
                    <a:solidFill>
                      <a:srgbClr val="0E2A4F"/>
                    </a:solidFill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BFAF6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Microservicio</a:t>
                      </a:r>
                      <a:endParaRPr lang="es-PE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0F2542"/>
                      </a:solidFill>
                      <a:prstDash val="solid"/>
                    </a:lnL>
                    <a:lnR w="12240">
                      <a:solidFill>
                        <a:srgbClr val="0F2542"/>
                      </a:solidFill>
                      <a:prstDash val="solid"/>
                    </a:lnR>
                    <a:lnT w="12240">
                      <a:solidFill>
                        <a:srgbClr val="C8C7C4"/>
                      </a:solidFill>
                      <a:prstDash val="solid"/>
                    </a:lnT>
                    <a:lnB w="12240">
                      <a:solidFill>
                        <a:srgbClr val="0F2542"/>
                      </a:solidFill>
                      <a:prstDash val="solid"/>
                    </a:lnB>
                    <a:solidFill>
                      <a:srgbClr val="0E2A4F"/>
                    </a:solidFill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BFAF6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Tipo</a:t>
                      </a:r>
                      <a:endParaRPr lang="es-PE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0F2542"/>
                      </a:solidFill>
                      <a:prstDash val="solid"/>
                    </a:lnL>
                    <a:lnR w="12240">
                      <a:solidFill>
                        <a:srgbClr val="0F2542"/>
                      </a:solidFill>
                      <a:prstDash val="solid"/>
                    </a:lnR>
                    <a:lnT w="12240">
                      <a:solidFill>
                        <a:srgbClr val="C8C7C4"/>
                      </a:solidFill>
                      <a:prstDash val="solid"/>
                    </a:lnT>
                    <a:lnB w="12240">
                      <a:solidFill>
                        <a:srgbClr val="0F2542"/>
                      </a:solidFill>
                      <a:prstDash val="solid"/>
                    </a:lnB>
                    <a:solidFill>
                      <a:srgbClr val="0E2A4F"/>
                    </a:solidFill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BFAF6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Responsabilidad</a:t>
                      </a:r>
                      <a:endParaRPr lang="es-PE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0F2542"/>
                      </a:solidFill>
                      <a:prstDash val="solid"/>
                    </a:lnL>
                    <a:lnR w="12240">
                      <a:solidFill>
                        <a:srgbClr val="0F2542"/>
                      </a:solidFill>
                      <a:prstDash val="solid"/>
                    </a:lnR>
                    <a:lnT w="12240">
                      <a:solidFill>
                        <a:srgbClr val="C8C7C4"/>
                      </a:solidFill>
                      <a:prstDash val="solid"/>
                    </a:lnT>
                    <a:lnB w="12240">
                      <a:solidFill>
                        <a:srgbClr val="0F2542"/>
                      </a:solidFill>
                      <a:prstDash val="solid"/>
                    </a:lnB>
                    <a:solidFill>
                      <a:srgbClr val="0E2A4F"/>
                    </a:solidFill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BFAF6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Base de datos</a:t>
                      </a:r>
                      <a:endParaRPr lang="es-PE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0F2542"/>
                      </a:solidFill>
                      <a:prstDash val="solid"/>
                    </a:lnL>
                    <a:lnR w="12240">
                      <a:solidFill>
                        <a:srgbClr val="0F2542"/>
                      </a:solidFill>
                      <a:prstDash val="solid"/>
                    </a:lnR>
                    <a:lnT w="12240">
                      <a:solidFill>
                        <a:srgbClr val="C8C7C4"/>
                      </a:solidFill>
                      <a:prstDash val="solid"/>
                    </a:lnT>
                    <a:lnB w="12240">
                      <a:solidFill>
                        <a:srgbClr val="0F2542"/>
                      </a:solidFill>
                      <a:prstDash val="solid"/>
                    </a:lnB>
                    <a:solidFill>
                      <a:srgbClr val="0E2A4F"/>
                    </a:solidFill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BFAF6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Dueño</a:t>
                      </a:r>
                      <a:endParaRPr lang="es-PE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0F2542"/>
                      </a:solidFill>
                      <a:prstDash val="solid"/>
                    </a:lnL>
                    <a:lnR w="12240">
                      <a:solidFill>
                        <a:srgbClr val="0F2542"/>
                      </a:solidFill>
                      <a:prstDash val="solid"/>
                    </a:lnR>
                    <a:lnT w="12240">
                      <a:solidFill>
                        <a:srgbClr val="C8C7C4"/>
                      </a:solidFill>
                      <a:prstDash val="solid"/>
                    </a:lnT>
                    <a:lnB w="12240">
                      <a:solidFill>
                        <a:srgbClr val="0F2542"/>
                      </a:solidFill>
                      <a:prstDash val="solid"/>
                    </a:lnB>
                    <a:solidFill>
                      <a:srgbClr val="0E2A4F"/>
                    </a:solidFill>
                  </a:tcPr>
                </a:tc>
              </a:tr>
              <a:tr h="332280"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1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8C7C4"/>
                      </a:solidFill>
                      <a:prstDash val="solid"/>
                    </a:lnL>
                    <a:lnR w="12240">
                      <a:solidFill>
                        <a:srgbClr val="C7BEAE"/>
                      </a:solidFill>
                      <a:prstDash val="solid"/>
                    </a:lnR>
                    <a:lnT w="12240">
                      <a:solidFill>
                        <a:srgbClr val="0F2542"/>
                      </a:solidFill>
                      <a:prstDash val="solid"/>
                    </a:lnT>
                    <a:lnB w="12240">
                      <a:solidFill>
                        <a:srgbClr val="C7BEAE"/>
                      </a:solidFill>
                      <a:prstDash val="solid"/>
                    </a:lnB>
                    <a:solidFill>
                      <a:srgbClr val="FAEEDA"/>
                    </a:solidFill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discovery-server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7BEAE"/>
                      </a:solidFill>
                      <a:prstDash val="solid"/>
                    </a:lnL>
                    <a:lnR w="12240">
                      <a:solidFill>
                        <a:srgbClr val="C7BEAE"/>
                      </a:solidFill>
                      <a:prstDash val="solid"/>
                    </a:lnR>
                    <a:lnT w="12240">
                      <a:solidFill>
                        <a:srgbClr val="0F2542"/>
                      </a:solidFill>
                      <a:prstDash val="solid"/>
                    </a:lnT>
                    <a:lnB w="12240">
                      <a:solidFill>
                        <a:srgbClr val="C7BEAE"/>
                      </a:solidFill>
                      <a:prstDash val="solid"/>
                    </a:lnB>
                    <a:solidFill>
                      <a:srgbClr val="FAEEDA"/>
                    </a:solidFill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Infraestructura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7BEAE"/>
                      </a:solidFill>
                      <a:prstDash val="solid"/>
                    </a:lnL>
                    <a:lnR w="12240">
                      <a:solidFill>
                        <a:srgbClr val="C7BEAE"/>
                      </a:solidFill>
                      <a:prstDash val="solid"/>
                    </a:lnR>
                    <a:lnT w="12240">
                      <a:solidFill>
                        <a:srgbClr val="0F2542"/>
                      </a:solidFill>
                      <a:prstDash val="solid"/>
                    </a:lnT>
                    <a:lnB w="12240">
                      <a:solidFill>
                        <a:srgbClr val="C7BEAE"/>
                      </a:solidFill>
                      <a:prstDash val="solid"/>
                    </a:lnB>
                    <a:solidFill>
                      <a:srgbClr val="FAEEDA"/>
                    </a:solidFill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Registro y descubrimiento (Eureka)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7BEAE"/>
                      </a:solidFill>
                      <a:prstDash val="solid"/>
                    </a:lnL>
                    <a:lnR w="12240">
                      <a:solidFill>
                        <a:srgbClr val="C7BEAE"/>
                      </a:solidFill>
                      <a:prstDash val="solid"/>
                    </a:lnR>
                    <a:lnT w="12240">
                      <a:solidFill>
                        <a:srgbClr val="0F2542"/>
                      </a:solidFill>
                      <a:prstDash val="solid"/>
                    </a:lnT>
                    <a:lnB w="12240">
                      <a:solidFill>
                        <a:srgbClr val="C7BEAE"/>
                      </a:solidFill>
                      <a:prstDash val="solid"/>
                    </a:lnB>
                    <a:solidFill>
                      <a:srgbClr val="FAEEDA"/>
                    </a:solidFill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—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7BEAE"/>
                      </a:solidFill>
                      <a:prstDash val="solid"/>
                    </a:lnL>
                    <a:lnR w="12240">
                      <a:solidFill>
                        <a:srgbClr val="C7BEAE"/>
                      </a:solidFill>
                      <a:prstDash val="solid"/>
                    </a:lnR>
                    <a:lnT w="12240">
                      <a:solidFill>
                        <a:srgbClr val="0F2542"/>
                      </a:solidFill>
                      <a:prstDash val="solid"/>
                    </a:lnT>
                    <a:lnB w="12240">
                      <a:solidFill>
                        <a:srgbClr val="C7BEAE"/>
                      </a:solidFill>
                      <a:prstDash val="solid"/>
                    </a:lnB>
                    <a:solidFill>
                      <a:srgbClr val="FAEEDA"/>
                    </a:solidFill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Tenazoa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7BEAE"/>
                      </a:solidFill>
                      <a:prstDash val="solid"/>
                    </a:lnL>
                    <a:lnR w="12240">
                      <a:solidFill>
                        <a:srgbClr val="C7BEAE"/>
                      </a:solidFill>
                      <a:prstDash val="solid"/>
                    </a:lnR>
                    <a:lnT w="12240">
                      <a:solidFill>
                        <a:srgbClr val="0F2542"/>
                      </a:solidFill>
                      <a:prstDash val="solid"/>
                    </a:lnT>
                    <a:lnB w="12240">
                      <a:solidFill>
                        <a:srgbClr val="C7BEAE"/>
                      </a:solidFill>
                      <a:prstDash val="solid"/>
                    </a:lnB>
                    <a:solidFill>
                      <a:srgbClr val="FAEEDA"/>
                    </a:solidFill>
                  </a:tcPr>
                </a:tc>
              </a:tr>
              <a:tr h="332280"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2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8C7C4"/>
                      </a:solidFill>
                      <a:prstDash val="solid"/>
                    </a:lnL>
                    <a:lnR w="12240">
                      <a:solidFill>
                        <a:srgbClr val="C7BEAE"/>
                      </a:solidFill>
                      <a:prstDash val="solid"/>
                    </a:lnR>
                    <a:lnT w="12240">
                      <a:solidFill>
                        <a:srgbClr val="C7BEAE"/>
                      </a:solidFill>
                      <a:prstDash val="solid"/>
                    </a:lnT>
                    <a:lnB w="12240">
                      <a:solidFill>
                        <a:srgbClr val="C7BEAE"/>
                      </a:solidFill>
                      <a:prstDash val="solid"/>
                    </a:lnB>
                    <a:solidFill>
                      <a:srgbClr val="FAEEDA"/>
                    </a:solidFill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api-gateway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7BEAE"/>
                      </a:solidFill>
                      <a:prstDash val="solid"/>
                    </a:lnL>
                    <a:lnR w="12240">
                      <a:solidFill>
                        <a:srgbClr val="C7BEAE"/>
                      </a:solidFill>
                      <a:prstDash val="solid"/>
                    </a:lnR>
                    <a:lnT w="12240">
                      <a:solidFill>
                        <a:srgbClr val="C7BEAE"/>
                      </a:solidFill>
                      <a:prstDash val="solid"/>
                    </a:lnT>
                    <a:lnB w="12240">
                      <a:solidFill>
                        <a:srgbClr val="C7BEAE"/>
                      </a:solidFill>
                      <a:prstDash val="solid"/>
                    </a:lnB>
                    <a:solidFill>
                      <a:srgbClr val="FAEEDA"/>
                    </a:solidFill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Infraestructura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7BEAE"/>
                      </a:solidFill>
                      <a:prstDash val="solid"/>
                    </a:lnL>
                    <a:lnR w="12240">
                      <a:solidFill>
                        <a:srgbClr val="C7BEAE"/>
                      </a:solidFill>
                      <a:prstDash val="solid"/>
                    </a:lnR>
                    <a:lnT w="12240">
                      <a:solidFill>
                        <a:srgbClr val="C7BEAE"/>
                      </a:solidFill>
                      <a:prstDash val="solid"/>
                    </a:lnT>
                    <a:lnB w="12240">
                      <a:solidFill>
                        <a:srgbClr val="C7BEAE"/>
                      </a:solidFill>
                      <a:prstDash val="solid"/>
                    </a:lnB>
                    <a:solidFill>
                      <a:srgbClr val="FAEEDA"/>
                    </a:solidFill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Entrada única, rutas, JWT y CORS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7BEAE"/>
                      </a:solidFill>
                      <a:prstDash val="solid"/>
                    </a:lnL>
                    <a:lnR w="12240">
                      <a:solidFill>
                        <a:srgbClr val="C7BEAE"/>
                      </a:solidFill>
                      <a:prstDash val="solid"/>
                    </a:lnR>
                    <a:lnT w="12240">
                      <a:solidFill>
                        <a:srgbClr val="C7BEAE"/>
                      </a:solidFill>
                      <a:prstDash val="solid"/>
                    </a:lnT>
                    <a:lnB w="12240">
                      <a:solidFill>
                        <a:srgbClr val="C7BEAE"/>
                      </a:solidFill>
                      <a:prstDash val="solid"/>
                    </a:lnB>
                    <a:solidFill>
                      <a:srgbClr val="FAEEDA"/>
                    </a:solidFill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—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7BEAE"/>
                      </a:solidFill>
                      <a:prstDash val="solid"/>
                    </a:lnL>
                    <a:lnR w="12240">
                      <a:solidFill>
                        <a:srgbClr val="C7BEAE"/>
                      </a:solidFill>
                      <a:prstDash val="solid"/>
                    </a:lnR>
                    <a:lnT w="12240">
                      <a:solidFill>
                        <a:srgbClr val="C7BEAE"/>
                      </a:solidFill>
                      <a:prstDash val="solid"/>
                    </a:lnT>
                    <a:lnB w="12240">
                      <a:solidFill>
                        <a:srgbClr val="C7BEAE"/>
                      </a:solidFill>
                      <a:prstDash val="solid"/>
                    </a:lnB>
                    <a:solidFill>
                      <a:srgbClr val="FAEEDA"/>
                    </a:solidFill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Tenazoa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7BEAE"/>
                      </a:solidFill>
                      <a:prstDash val="solid"/>
                    </a:lnL>
                    <a:lnR w="12240">
                      <a:solidFill>
                        <a:srgbClr val="C7BEAE"/>
                      </a:solidFill>
                      <a:prstDash val="solid"/>
                    </a:lnR>
                    <a:lnT w="12240">
                      <a:solidFill>
                        <a:srgbClr val="C7BEAE"/>
                      </a:solidFill>
                      <a:prstDash val="solid"/>
                    </a:lnT>
                    <a:lnB w="12240">
                      <a:solidFill>
                        <a:srgbClr val="C7BEAE"/>
                      </a:solidFill>
                      <a:prstDash val="solid"/>
                    </a:lnB>
                    <a:solidFill>
                      <a:srgbClr val="FAEEDA"/>
                    </a:solidFill>
                  </a:tcPr>
                </a:tc>
              </a:tr>
              <a:tr h="332280"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3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8C7C4"/>
                      </a:solidFill>
                      <a:prstDash val="solid"/>
                    </a:lnL>
                    <a:lnR w="12240">
                      <a:solidFill>
                        <a:srgbClr val="C8C7C4"/>
                      </a:solidFill>
                      <a:prstDash val="solid"/>
                    </a:lnR>
                    <a:lnT w="12240">
                      <a:solidFill>
                        <a:srgbClr val="C7BEAE"/>
                      </a:solidFill>
                      <a:prstDash val="solid"/>
                    </a:lnT>
                    <a:lnB w="12240">
                      <a:solidFill>
                        <a:srgbClr val="C8C7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ms-usuarios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8C7C4"/>
                      </a:solidFill>
                      <a:prstDash val="solid"/>
                    </a:lnL>
                    <a:lnR w="12240">
                      <a:solidFill>
                        <a:srgbClr val="C8C7C4"/>
                      </a:solidFill>
                      <a:prstDash val="solid"/>
                    </a:lnR>
                    <a:lnT w="12240">
                      <a:solidFill>
                        <a:srgbClr val="C7BEAE"/>
                      </a:solidFill>
                      <a:prstDash val="solid"/>
                    </a:lnT>
                    <a:lnB w="12240">
                      <a:solidFill>
                        <a:srgbClr val="C8C7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Negocio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8C7C4"/>
                      </a:solidFill>
                      <a:prstDash val="solid"/>
                    </a:lnL>
                    <a:lnR w="12240">
                      <a:solidFill>
                        <a:srgbClr val="C8C7C4"/>
                      </a:solidFill>
                      <a:prstDash val="solid"/>
                    </a:lnR>
                    <a:lnT w="12240">
                      <a:solidFill>
                        <a:srgbClr val="C7BEAE"/>
                      </a:solidFill>
                      <a:prstDash val="solid"/>
                    </a:lnT>
                    <a:lnB w="12240">
                      <a:solidFill>
                        <a:srgbClr val="C8C7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Registro, login, roles y banca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8C7C4"/>
                      </a:solidFill>
                      <a:prstDash val="solid"/>
                    </a:lnL>
                    <a:lnR w="12240">
                      <a:solidFill>
                        <a:srgbClr val="C8C7C4"/>
                      </a:solidFill>
                      <a:prstDash val="solid"/>
                    </a:lnR>
                    <a:lnT w="12240">
                      <a:solidFill>
                        <a:srgbClr val="C7BEAE"/>
                      </a:solidFill>
                      <a:prstDash val="solid"/>
                    </a:lnT>
                    <a:lnB w="12240">
                      <a:solidFill>
                        <a:srgbClr val="C8C7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usuarios_db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8C7C4"/>
                      </a:solidFill>
                      <a:prstDash val="solid"/>
                    </a:lnL>
                    <a:lnR w="12240">
                      <a:solidFill>
                        <a:srgbClr val="C8C7C4"/>
                      </a:solidFill>
                      <a:prstDash val="solid"/>
                    </a:lnR>
                    <a:lnT w="12240">
                      <a:solidFill>
                        <a:srgbClr val="C7BEAE"/>
                      </a:solidFill>
                      <a:prstDash val="solid"/>
                    </a:lnT>
                    <a:lnB w="12240">
                      <a:solidFill>
                        <a:srgbClr val="C8C7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Tenazoa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8C7C4"/>
                      </a:solidFill>
                      <a:prstDash val="solid"/>
                    </a:lnL>
                    <a:lnR w="12240">
                      <a:solidFill>
                        <a:srgbClr val="C8C7C4"/>
                      </a:solidFill>
                      <a:prstDash val="solid"/>
                    </a:lnR>
                    <a:lnT w="12240">
                      <a:solidFill>
                        <a:srgbClr val="C7BEAE"/>
                      </a:solidFill>
                      <a:prstDash val="solid"/>
                    </a:lnT>
                    <a:lnB w="12240">
                      <a:solidFill>
                        <a:srgbClr val="C8C7C4"/>
                      </a:solidFill>
                      <a:prstDash val="solid"/>
                    </a:lnB>
                    <a:noFill/>
                  </a:tcPr>
                </a:tc>
              </a:tr>
              <a:tr h="332280"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4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8C7C4"/>
                      </a:solidFill>
                      <a:prstDash val="solid"/>
                    </a:lnL>
                    <a:lnR w="12240">
                      <a:solidFill>
                        <a:srgbClr val="C8C7C4"/>
                      </a:solidFill>
                      <a:prstDash val="solid"/>
                    </a:lnR>
                    <a:lnT w="12240">
                      <a:solidFill>
                        <a:srgbClr val="C8C7C4"/>
                      </a:solidFill>
                      <a:prstDash val="solid"/>
                    </a:lnT>
                    <a:lnB w="12240">
                      <a:solidFill>
                        <a:srgbClr val="C8C7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ms-catalogo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8C7C4"/>
                      </a:solidFill>
                      <a:prstDash val="solid"/>
                    </a:lnL>
                    <a:lnR w="12240">
                      <a:solidFill>
                        <a:srgbClr val="C8C7C4"/>
                      </a:solidFill>
                      <a:prstDash val="solid"/>
                    </a:lnR>
                    <a:lnT w="12240">
                      <a:solidFill>
                        <a:srgbClr val="C8C7C4"/>
                      </a:solidFill>
                      <a:prstDash val="solid"/>
                    </a:lnT>
                    <a:lnB w="12240">
                      <a:solidFill>
                        <a:srgbClr val="C8C7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Negocio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8C7C4"/>
                      </a:solidFill>
                      <a:prstDash val="solid"/>
                    </a:lnL>
                    <a:lnR w="12240">
                      <a:solidFill>
                        <a:srgbClr val="C8C7C4"/>
                      </a:solidFill>
                      <a:prstDash val="solid"/>
                    </a:lnR>
                    <a:lnT w="12240">
                      <a:solidFill>
                        <a:srgbClr val="C8C7C4"/>
                      </a:solidFill>
                      <a:prstDash val="solid"/>
                    </a:lnT>
                    <a:lnB w="12240">
                      <a:solidFill>
                        <a:srgbClr val="C8C7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Ligas, equipos, árbitros y partidos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8C7C4"/>
                      </a:solidFill>
                      <a:prstDash val="solid"/>
                    </a:lnL>
                    <a:lnR w="12240">
                      <a:solidFill>
                        <a:srgbClr val="C8C7C4"/>
                      </a:solidFill>
                      <a:prstDash val="solid"/>
                    </a:lnR>
                    <a:lnT w="12240">
                      <a:solidFill>
                        <a:srgbClr val="C8C7C4"/>
                      </a:solidFill>
                      <a:prstDash val="solid"/>
                    </a:lnT>
                    <a:lnB w="12240">
                      <a:solidFill>
                        <a:srgbClr val="C8C7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catalogo_db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8C7C4"/>
                      </a:solidFill>
                      <a:prstDash val="solid"/>
                    </a:lnL>
                    <a:lnR w="12240">
                      <a:solidFill>
                        <a:srgbClr val="C8C7C4"/>
                      </a:solidFill>
                      <a:prstDash val="solid"/>
                    </a:lnR>
                    <a:lnT w="12240">
                      <a:solidFill>
                        <a:srgbClr val="C8C7C4"/>
                      </a:solidFill>
                      <a:prstDash val="solid"/>
                    </a:lnT>
                    <a:lnB w="12240">
                      <a:solidFill>
                        <a:srgbClr val="C8C7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Marquina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8C7C4"/>
                      </a:solidFill>
                      <a:prstDash val="solid"/>
                    </a:lnL>
                    <a:lnR w="12240">
                      <a:solidFill>
                        <a:srgbClr val="C8C7C4"/>
                      </a:solidFill>
                      <a:prstDash val="solid"/>
                    </a:lnR>
                    <a:lnT w="12240">
                      <a:solidFill>
                        <a:srgbClr val="C8C7C4"/>
                      </a:solidFill>
                      <a:prstDash val="solid"/>
                    </a:lnT>
                    <a:lnB w="12240">
                      <a:solidFill>
                        <a:srgbClr val="C8C7C4"/>
                      </a:solidFill>
                      <a:prstDash val="solid"/>
                    </a:lnB>
                    <a:noFill/>
                  </a:tcPr>
                </a:tc>
              </a:tr>
              <a:tr h="332280"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5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8C7C4"/>
                      </a:solidFill>
                      <a:prstDash val="solid"/>
                    </a:lnL>
                    <a:lnR w="12240">
                      <a:solidFill>
                        <a:srgbClr val="C8C7C4"/>
                      </a:solidFill>
                      <a:prstDash val="solid"/>
                    </a:lnR>
                    <a:lnT w="12240">
                      <a:solidFill>
                        <a:srgbClr val="C8C7C4"/>
                      </a:solidFill>
                      <a:prstDash val="solid"/>
                    </a:lnT>
                    <a:lnB w="12240">
                      <a:solidFill>
                        <a:srgbClr val="C8C7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ms-ingesta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8C7C4"/>
                      </a:solidFill>
                      <a:prstDash val="solid"/>
                    </a:lnL>
                    <a:lnR w="12240">
                      <a:solidFill>
                        <a:srgbClr val="C8C7C4"/>
                      </a:solidFill>
                      <a:prstDash val="solid"/>
                    </a:lnR>
                    <a:lnT w="12240">
                      <a:solidFill>
                        <a:srgbClr val="C8C7C4"/>
                      </a:solidFill>
                      <a:prstDash val="solid"/>
                    </a:lnT>
                    <a:lnB w="12240">
                      <a:solidFill>
                        <a:srgbClr val="C8C7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Negocio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8C7C4"/>
                      </a:solidFill>
                      <a:prstDash val="solid"/>
                    </a:lnL>
                    <a:lnR w="12240">
                      <a:solidFill>
                        <a:srgbClr val="C8C7C4"/>
                      </a:solidFill>
                      <a:prstDash val="solid"/>
                    </a:lnR>
                    <a:lnT w="12240">
                      <a:solidFill>
                        <a:srgbClr val="C8C7C4"/>
                      </a:solidFill>
                      <a:prstDash val="solid"/>
                    </a:lnT>
                    <a:lnB w="12240">
                      <a:solidFill>
                        <a:srgbClr val="C8C7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Descarga y reparte los CSV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8C7C4"/>
                      </a:solidFill>
                      <a:prstDash val="solid"/>
                    </a:lnL>
                    <a:lnR w="12240">
                      <a:solidFill>
                        <a:srgbClr val="C8C7C4"/>
                      </a:solidFill>
                      <a:prstDash val="solid"/>
                    </a:lnR>
                    <a:lnT w="12240">
                      <a:solidFill>
                        <a:srgbClr val="C8C7C4"/>
                      </a:solidFill>
                      <a:prstDash val="solid"/>
                    </a:lnT>
                    <a:lnB w="12240">
                      <a:solidFill>
                        <a:srgbClr val="C8C7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ingesta_db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8C7C4"/>
                      </a:solidFill>
                      <a:prstDash val="solid"/>
                    </a:lnL>
                    <a:lnR w="12240">
                      <a:solidFill>
                        <a:srgbClr val="C8C7C4"/>
                      </a:solidFill>
                      <a:prstDash val="solid"/>
                    </a:lnR>
                    <a:lnT w="12240">
                      <a:solidFill>
                        <a:srgbClr val="C8C7C4"/>
                      </a:solidFill>
                      <a:prstDash val="solid"/>
                    </a:lnT>
                    <a:lnB w="12240">
                      <a:solidFill>
                        <a:srgbClr val="C8C7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Marquina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8C7C4"/>
                      </a:solidFill>
                      <a:prstDash val="solid"/>
                    </a:lnL>
                    <a:lnR w="12240">
                      <a:solidFill>
                        <a:srgbClr val="C8C7C4"/>
                      </a:solidFill>
                      <a:prstDash val="solid"/>
                    </a:lnR>
                    <a:lnT w="12240">
                      <a:solidFill>
                        <a:srgbClr val="C8C7C4"/>
                      </a:solidFill>
                      <a:prstDash val="solid"/>
                    </a:lnT>
                    <a:lnB w="12240">
                      <a:solidFill>
                        <a:srgbClr val="C8C7C4"/>
                      </a:solidFill>
                      <a:prstDash val="solid"/>
                    </a:lnB>
                    <a:noFill/>
                  </a:tcPr>
                </a:tc>
              </a:tr>
              <a:tr h="332280"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6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8C7C4"/>
                      </a:solidFill>
                      <a:prstDash val="solid"/>
                    </a:lnL>
                    <a:lnR w="12240">
                      <a:solidFill>
                        <a:srgbClr val="C8C7C4"/>
                      </a:solidFill>
                      <a:prstDash val="solid"/>
                    </a:lnR>
                    <a:lnT w="12240">
                      <a:solidFill>
                        <a:srgbClr val="C8C7C4"/>
                      </a:solidFill>
                      <a:prstDash val="solid"/>
                    </a:lnT>
                    <a:lnB w="12240">
                      <a:solidFill>
                        <a:srgbClr val="C8C7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ms-estadisticas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8C7C4"/>
                      </a:solidFill>
                      <a:prstDash val="solid"/>
                    </a:lnL>
                    <a:lnR w="12240">
                      <a:solidFill>
                        <a:srgbClr val="C8C7C4"/>
                      </a:solidFill>
                      <a:prstDash val="solid"/>
                    </a:lnR>
                    <a:lnT w="12240">
                      <a:solidFill>
                        <a:srgbClr val="C8C7C4"/>
                      </a:solidFill>
                      <a:prstDash val="solid"/>
                    </a:lnT>
                    <a:lnB w="12240">
                      <a:solidFill>
                        <a:srgbClr val="C8C7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Negocio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8C7C4"/>
                      </a:solidFill>
                      <a:prstDash val="solid"/>
                    </a:lnL>
                    <a:lnR w="12240">
                      <a:solidFill>
                        <a:srgbClr val="C8C7C4"/>
                      </a:solidFill>
                      <a:prstDash val="solid"/>
                    </a:lnR>
                    <a:lnT w="12240">
                      <a:solidFill>
                        <a:srgbClr val="C8C7C4"/>
                      </a:solidFill>
                      <a:prstDash val="solid"/>
                    </a:lnT>
                    <a:lnB w="12240">
                      <a:solidFill>
                        <a:srgbClr val="C8C7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Promedios y perfil de árbitro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8C7C4"/>
                      </a:solidFill>
                      <a:prstDash val="solid"/>
                    </a:lnL>
                    <a:lnR w="12240">
                      <a:solidFill>
                        <a:srgbClr val="C8C7C4"/>
                      </a:solidFill>
                      <a:prstDash val="solid"/>
                    </a:lnR>
                    <a:lnT w="12240">
                      <a:solidFill>
                        <a:srgbClr val="C8C7C4"/>
                      </a:solidFill>
                      <a:prstDash val="solid"/>
                    </a:lnT>
                    <a:lnB w="12240">
                      <a:solidFill>
                        <a:srgbClr val="C8C7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estadisticas_db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8C7C4"/>
                      </a:solidFill>
                      <a:prstDash val="solid"/>
                    </a:lnL>
                    <a:lnR w="12240">
                      <a:solidFill>
                        <a:srgbClr val="C8C7C4"/>
                      </a:solidFill>
                      <a:prstDash val="solid"/>
                    </a:lnR>
                    <a:lnT w="12240">
                      <a:solidFill>
                        <a:srgbClr val="C8C7C4"/>
                      </a:solidFill>
                      <a:prstDash val="solid"/>
                    </a:lnT>
                    <a:lnB w="12240">
                      <a:solidFill>
                        <a:srgbClr val="C8C7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Marquina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8C7C4"/>
                      </a:solidFill>
                      <a:prstDash val="solid"/>
                    </a:lnL>
                    <a:lnR w="12240">
                      <a:solidFill>
                        <a:srgbClr val="C8C7C4"/>
                      </a:solidFill>
                      <a:prstDash val="solid"/>
                    </a:lnR>
                    <a:lnT w="12240">
                      <a:solidFill>
                        <a:srgbClr val="C8C7C4"/>
                      </a:solidFill>
                      <a:prstDash val="solid"/>
                    </a:lnT>
                    <a:lnB w="12240">
                      <a:solidFill>
                        <a:srgbClr val="C8C7C4"/>
                      </a:solidFill>
                      <a:prstDash val="solid"/>
                    </a:lnB>
                    <a:noFill/>
                  </a:tcPr>
                </a:tc>
              </a:tr>
              <a:tr h="332280"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7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8C7C4"/>
                      </a:solidFill>
                      <a:prstDash val="solid"/>
                    </a:lnL>
                    <a:lnR w="12240">
                      <a:solidFill>
                        <a:srgbClr val="C8C7C4"/>
                      </a:solidFill>
                      <a:prstDash val="solid"/>
                    </a:lnR>
                    <a:lnT w="12240">
                      <a:solidFill>
                        <a:srgbClr val="C8C7C4"/>
                      </a:solidFill>
                      <a:prstDash val="solid"/>
                    </a:lnT>
                    <a:lnB w="12240">
                      <a:solidFill>
                        <a:srgbClr val="C8C7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ms-cuotas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8C7C4"/>
                      </a:solidFill>
                      <a:prstDash val="solid"/>
                    </a:lnL>
                    <a:lnR w="12240">
                      <a:solidFill>
                        <a:srgbClr val="C8C7C4"/>
                      </a:solidFill>
                      <a:prstDash val="solid"/>
                    </a:lnR>
                    <a:lnT w="12240">
                      <a:solidFill>
                        <a:srgbClr val="C8C7C4"/>
                      </a:solidFill>
                      <a:prstDash val="solid"/>
                    </a:lnT>
                    <a:lnB w="12240">
                      <a:solidFill>
                        <a:srgbClr val="C8C7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Negocio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8C7C4"/>
                      </a:solidFill>
                      <a:prstDash val="solid"/>
                    </a:lnL>
                    <a:lnR w="12240">
                      <a:solidFill>
                        <a:srgbClr val="C8C7C4"/>
                      </a:solidFill>
                      <a:prstDash val="solid"/>
                    </a:lnR>
                    <a:lnT w="12240">
                      <a:solidFill>
                        <a:srgbClr val="C8C7C4"/>
                      </a:solidFill>
                      <a:prstDash val="solid"/>
                    </a:lnT>
                    <a:lnB w="12240">
                      <a:solidFill>
                        <a:srgbClr val="C8C7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Cuotas, margen y prob. sin margen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8C7C4"/>
                      </a:solidFill>
                      <a:prstDash val="solid"/>
                    </a:lnL>
                    <a:lnR w="12240">
                      <a:solidFill>
                        <a:srgbClr val="C8C7C4"/>
                      </a:solidFill>
                      <a:prstDash val="solid"/>
                    </a:lnR>
                    <a:lnT w="12240">
                      <a:solidFill>
                        <a:srgbClr val="C8C7C4"/>
                      </a:solidFill>
                      <a:prstDash val="solid"/>
                    </a:lnT>
                    <a:lnB w="12240">
                      <a:solidFill>
                        <a:srgbClr val="C8C7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cuotas_db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8C7C4"/>
                      </a:solidFill>
                      <a:prstDash val="solid"/>
                    </a:lnL>
                    <a:lnR w="12240">
                      <a:solidFill>
                        <a:srgbClr val="C8C7C4"/>
                      </a:solidFill>
                      <a:prstDash val="solid"/>
                    </a:lnR>
                    <a:lnT w="12240">
                      <a:solidFill>
                        <a:srgbClr val="C8C7C4"/>
                      </a:solidFill>
                      <a:prstDash val="solid"/>
                    </a:lnT>
                    <a:lnB w="12240">
                      <a:solidFill>
                        <a:srgbClr val="C8C7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Lima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8C7C4"/>
                      </a:solidFill>
                      <a:prstDash val="solid"/>
                    </a:lnL>
                    <a:lnR w="12240">
                      <a:solidFill>
                        <a:srgbClr val="C8C7C4"/>
                      </a:solidFill>
                      <a:prstDash val="solid"/>
                    </a:lnR>
                    <a:lnT w="12240">
                      <a:solidFill>
                        <a:srgbClr val="C8C7C4"/>
                      </a:solidFill>
                      <a:prstDash val="solid"/>
                    </a:lnT>
                    <a:lnB w="12240">
                      <a:solidFill>
                        <a:srgbClr val="C8C7C4"/>
                      </a:solidFill>
                      <a:prstDash val="solid"/>
                    </a:lnB>
                    <a:noFill/>
                  </a:tcPr>
                </a:tc>
              </a:tr>
              <a:tr h="332280"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8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8C7C4"/>
                      </a:solidFill>
                      <a:prstDash val="solid"/>
                    </a:lnL>
                    <a:lnR w="12240">
                      <a:solidFill>
                        <a:srgbClr val="C8C7C4"/>
                      </a:solidFill>
                      <a:prstDash val="solid"/>
                    </a:lnR>
                    <a:lnT w="12240">
                      <a:solidFill>
                        <a:srgbClr val="C8C7C4"/>
                      </a:solidFill>
                      <a:prstDash val="solid"/>
                    </a:lnT>
                    <a:lnB w="12240">
                      <a:solidFill>
                        <a:srgbClr val="C8C7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ms-predicciones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8C7C4"/>
                      </a:solidFill>
                      <a:prstDash val="solid"/>
                    </a:lnL>
                    <a:lnR w="12240">
                      <a:solidFill>
                        <a:srgbClr val="C8C7C4"/>
                      </a:solidFill>
                      <a:prstDash val="solid"/>
                    </a:lnR>
                    <a:lnT w="12240">
                      <a:solidFill>
                        <a:srgbClr val="C8C7C4"/>
                      </a:solidFill>
                      <a:prstDash val="solid"/>
                    </a:lnT>
                    <a:lnB w="12240">
                      <a:solidFill>
                        <a:srgbClr val="C8C7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Negocio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8C7C4"/>
                      </a:solidFill>
                      <a:prstDash val="solid"/>
                    </a:lnL>
                    <a:lnR w="12240">
                      <a:solidFill>
                        <a:srgbClr val="C8C7C4"/>
                      </a:solidFill>
                      <a:prstDash val="solid"/>
                    </a:lnR>
                    <a:lnT w="12240">
                      <a:solidFill>
                        <a:srgbClr val="C8C7C4"/>
                      </a:solidFill>
                      <a:prstDash val="solid"/>
                    </a:lnT>
                    <a:lnB w="12240">
                      <a:solidFill>
                        <a:srgbClr val="C8C7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Modelo de Poisson (sin estado)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8C7C4"/>
                      </a:solidFill>
                      <a:prstDash val="solid"/>
                    </a:lnL>
                    <a:lnR w="12240">
                      <a:solidFill>
                        <a:srgbClr val="C8C7C4"/>
                      </a:solidFill>
                      <a:prstDash val="solid"/>
                    </a:lnR>
                    <a:lnT w="12240">
                      <a:solidFill>
                        <a:srgbClr val="C8C7C4"/>
                      </a:solidFill>
                      <a:prstDash val="solid"/>
                    </a:lnT>
                    <a:lnB w="12240">
                      <a:solidFill>
                        <a:srgbClr val="C8C7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—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8C7C4"/>
                      </a:solidFill>
                      <a:prstDash val="solid"/>
                    </a:lnL>
                    <a:lnR w="12240">
                      <a:solidFill>
                        <a:srgbClr val="C8C7C4"/>
                      </a:solidFill>
                      <a:prstDash val="solid"/>
                    </a:lnR>
                    <a:lnT w="12240">
                      <a:solidFill>
                        <a:srgbClr val="C8C7C4"/>
                      </a:solidFill>
                      <a:prstDash val="solid"/>
                    </a:lnT>
                    <a:lnB w="12240">
                      <a:solidFill>
                        <a:srgbClr val="C8C7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Lima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8C7C4"/>
                      </a:solidFill>
                      <a:prstDash val="solid"/>
                    </a:lnL>
                    <a:lnR w="12240">
                      <a:solidFill>
                        <a:srgbClr val="C8C7C4"/>
                      </a:solidFill>
                      <a:prstDash val="solid"/>
                    </a:lnR>
                    <a:lnT w="12240">
                      <a:solidFill>
                        <a:srgbClr val="C8C7C4"/>
                      </a:solidFill>
                      <a:prstDash val="solid"/>
                    </a:lnT>
                    <a:lnB w="12240">
                      <a:solidFill>
                        <a:srgbClr val="C8C7C4"/>
                      </a:solidFill>
                      <a:prstDash val="solid"/>
                    </a:lnB>
                    <a:noFill/>
                  </a:tcPr>
                </a:tc>
              </a:tr>
              <a:tr h="332280"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9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8C7C4"/>
                      </a:solidFill>
                      <a:prstDash val="solid"/>
                    </a:lnL>
                    <a:lnR w="12240">
                      <a:solidFill>
                        <a:srgbClr val="C8C7C4"/>
                      </a:solidFill>
                      <a:prstDash val="solid"/>
                    </a:lnR>
                    <a:lnT w="12240">
                      <a:solidFill>
                        <a:srgbClr val="C8C7C4"/>
                      </a:solidFill>
                      <a:prstDash val="solid"/>
                    </a:lnT>
                    <a:lnB w="12240">
                      <a:solidFill>
                        <a:srgbClr val="C8C7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ms-apuestas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8C7C4"/>
                      </a:solidFill>
                      <a:prstDash val="solid"/>
                    </a:lnL>
                    <a:lnR w="12240">
                      <a:solidFill>
                        <a:srgbClr val="C8C7C4"/>
                      </a:solidFill>
                      <a:prstDash val="solid"/>
                    </a:lnR>
                    <a:lnT w="12240">
                      <a:solidFill>
                        <a:srgbClr val="C8C7C4"/>
                      </a:solidFill>
                      <a:prstDash val="solid"/>
                    </a:lnT>
                    <a:lnB w="12240">
                      <a:solidFill>
                        <a:srgbClr val="C8C7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Negocio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8C7C4"/>
                      </a:solidFill>
                      <a:prstDash val="solid"/>
                    </a:lnL>
                    <a:lnR w="12240">
                      <a:solidFill>
                        <a:srgbClr val="C8C7C4"/>
                      </a:solidFill>
                      <a:prstDash val="solid"/>
                    </a:lnR>
                    <a:lnT w="12240">
                      <a:solidFill>
                        <a:srgbClr val="C8C7C4"/>
                      </a:solidFill>
                      <a:prstDash val="solid"/>
                    </a:lnT>
                    <a:lnB w="12240">
                      <a:solidFill>
                        <a:srgbClr val="C8C7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Valor, apuesta del día, ROI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8C7C4"/>
                      </a:solidFill>
                      <a:prstDash val="solid"/>
                    </a:lnL>
                    <a:lnR w="12240">
                      <a:solidFill>
                        <a:srgbClr val="C8C7C4"/>
                      </a:solidFill>
                      <a:prstDash val="solid"/>
                    </a:lnR>
                    <a:lnT w="12240">
                      <a:solidFill>
                        <a:srgbClr val="C8C7C4"/>
                      </a:solidFill>
                      <a:prstDash val="solid"/>
                    </a:lnT>
                    <a:lnB w="12240">
                      <a:solidFill>
                        <a:srgbClr val="C8C7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apuestas_db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8C7C4"/>
                      </a:solidFill>
                      <a:prstDash val="solid"/>
                    </a:lnL>
                    <a:lnR w="12240">
                      <a:solidFill>
                        <a:srgbClr val="C8C7C4"/>
                      </a:solidFill>
                      <a:prstDash val="solid"/>
                    </a:lnR>
                    <a:lnT w="12240">
                      <a:solidFill>
                        <a:srgbClr val="C8C7C4"/>
                      </a:solidFill>
                      <a:prstDash val="solid"/>
                    </a:lnT>
                    <a:lnB w="12240">
                      <a:solidFill>
                        <a:srgbClr val="C8C7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Lima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8C7C4"/>
                      </a:solidFill>
                      <a:prstDash val="solid"/>
                    </a:lnL>
                    <a:lnR w="12240">
                      <a:solidFill>
                        <a:srgbClr val="C8C7C4"/>
                      </a:solidFill>
                      <a:prstDash val="solid"/>
                    </a:lnR>
                    <a:lnT w="12240">
                      <a:solidFill>
                        <a:srgbClr val="C8C7C4"/>
                      </a:solidFill>
                      <a:prstDash val="solid"/>
                    </a:lnT>
                    <a:lnB w="12240">
                      <a:solidFill>
                        <a:srgbClr val="C8C7C4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72" name="Text 3"/>
          <p:cNvSpPr/>
          <p:nvPr/>
        </p:nvSpPr>
        <p:spPr>
          <a:xfrm>
            <a:off x="812880" y="6289200"/>
            <a:ext cx="44103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F6878"/>
                </a:solidFill>
                <a:effectLst/>
                <a:uFillTx/>
                <a:latin typeface="Public Sans"/>
                <a:ea typeface="Public Sans"/>
              </a:rPr>
              <a:t>Analizador de apuestas de fútbol con microservicios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4"/>
          <p:cNvSpPr/>
          <p:nvPr/>
        </p:nvSpPr>
        <p:spPr>
          <a:xfrm>
            <a:off x="11170440" y="6289200"/>
            <a:ext cx="20844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r"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F6878"/>
                </a:solidFill>
                <a:effectLst/>
                <a:uFillTx/>
                <a:latin typeface="Public Sans"/>
                <a:ea typeface="Public Sans"/>
              </a:rPr>
              <a:t>14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Shape 0"/>
          <p:cNvSpPr/>
          <p:nvPr/>
        </p:nvSpPr>
        <p:spPr>
          <a:xfrm>
            <a:off x="0" y="0"/>
            <a:ext cx="151920" cy="6857640"/>
          </a:xfrm>
          <a:prstGeom prst="rect">
            <a:avLst/>
          </a:prstGeom>
          <a:solidFill>
            <a:srgbClr val="0E2A4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P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1"/>
          <p:cNvSpPr/>
          <p:nvPr/>
        </p:nvSpPr>
        <p:spPr>
          <a:xfrm>
            <a:off x="812880" y="812880"/>
            <a:ext cx="108831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1" u="none" spc="99" strike="noStrike">
                <a:solidFill>
                  <a:srgbClr val="8A6410"/>
                </a:solidFill>
                <a:effectLst/>
                <a:uFillTx/>
                <a:latin typeface="Public Sans"/>
                <a:ea typeface="Public Sans"/>
              </a:rPr>
              <a:t>5.3 · FLUJO DE LA APUESTA DEL DÍA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PlaceHolder 1"/>
          <p:cNvSpPr>
            <a:spLocks noGrp="1"/>
          </p:cNvSpPr>
          <p:nvPr>
            <p:ph type="title"/>
          </p:nvPr>
        </p:nvSpPr>
        <p:spPr>
          <a:xfrm>
            <a:off x="812880" y="1102320"/>
            <a:ext cx="10883160" cy="43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220"/>
              </a:lnSpc>
              <a:buNone/>
              <a:tabLst>
                <a:tab pos="0" algn="l"/>
              </a:tabLst>
            </a:pPr>
            <a:r>
              <a:rPr lang="en-US" sz="2800" b="1" u="none" strike="noStrike">
                <a:solidFill>
                  <a:srgbClr val="0E2A4F"/>
                </a:solidFill>
                <a:effectLst/>
                <a:uFillTx/>
                <a:latin typeface="Libre Baskerville"/>
                <a:ea typeface="Libre Baskerville"/>
              </a:rPr>
              <a:t>Cómo se elige la apuesta del día</a:t>
            </a:r>
            <a:endParaRPr lang="es-PE" sz="2800" b="0" u="none" strike="noStrike">
              <a:solidFill>
                <a:schemeClr val="dk1"/>
              </a:solidFill>
              <a:effectLst/>
              <a:uFillTx/>
              <a:latin typeface="Public Sans"/>
            </a:endParaRPr>
          </a:p>
        </p:txBody>
      </p:sp>
      <p:sp>
        <p:nvSpPr>
          <p:cNvPr id="277" name="Shape 3"/>
          <p:cNvSpPr/>
          <p:nvPr/>
        </p:nvSpPr>
        <p:spPr>
          <a:xfrm>
            <a:off x="816120" y="1768320"/>
            <a:ext cx="6216120" cy="407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P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8" name="Image 0" descr="Diagrama de secuencia: web-app, api-gateway, ms-apuestas, ms-catalogo, ms-predicciones y ms-cuotas"/>
          <p:cNvPicPr/>
          <p:nvPr/>
        </p:nvPicPr>
        <p:blipFill>
          <a:blip r:embed="rId1"/>
          <a:srcRect l="-987" t="0" r="-987" b="0"/>
          <a:stretch/>
        </p:blipFill>
        <p:spPr>
          <a:xfrm>
            <a:off x="946080" y="1898640"/>
            <a:ext cx="5968800" cy="380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9" name="Shape 4"/>
          <p:cNvSpPr/>
          <p:nvPr/>
        </p:nvSpPr>
        <p:spPr>
          <a:xfrm>
            <a:off x="7289640" y="1787040"/>
            <a:ext cx="4088880" cy="924120"/>
          </a:xfrm>
          <a:prstGeom prst="rect">
            <a:avLst/>
          </a:prstGeom>
          <a:solidFill>
            <a:srgbClr val="0E2A4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P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5"/>
          <p:cNvSpPr/>
          <p:nvPr/>
        </p:nvSpPr>
        <p:spPr>
          <a:xfrm>
            <a:off x="7493040" y="1964880"/>
            <a:ext cx="37929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3B54A"/>
                </a:solidFill>
                <a:effectLst/>
                <a:uFillTx/>
                <a:latin typeface="Public Sans"/>
                <a:ea typeface="Public Sans"/>
              </a:rPr>
              <a:t>Valor esperado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6"/>
          <p:cNvSpPr/>
          <p:nvPr/>
        </p:nvSpPr>
        <p:spPr>
          <a:xfrm>
            <a:off x="7493040" y="2178000"/>
            <a:ext cx="379296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801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FBFAF6"/>
                </a:solidFill>
                <a:effectLst/>
                <a:uFillTx/>
                <a:latin typeface="Libre Baskerville"/>
                <a:ea typeface="Libre Baskerville"/>
              </a:rPr>
              <a:t>EV = p × cuota − 1</a:t>
            </a:r>
            <a:endParaRPr lang="es-P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Shape 7"/>
          <p:cNvSpPr/>
          <p:nvPr/>
        </p:nvSpPr>
        <p:spPr>
          <a:xfrm>
            <a:off x="7289640" y="2838600"/>
            <a:ext cx="4088880" cy="909000"/>
          </a:xfrm>
          <a:prstGeom prst="rect">
            <a:avLst/>
          </a:prstGeom>
          <a:solidFill>
            <a:srgbClr val="FFFE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P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Shape 8"/>
          <p:cNvSpPr/>
          <p:nvPr/>
        </p:nvSpPr>
        <p:spPr>
          <a:xfrm>
            <a:off x="7308720" y="2838240"/>
            <a:ext cx="360" cy="909360"/>
          </a:xfrm>
          <a:prstGeom prst="line">
            <a:avLst/>
          </a:prstGeom>
          <a:ln w="38100">
            <a:solidFill>
              <a:srgbClr val="C997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pPr/>
            <a:endParaRPr lang="es-P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9"/>
          <p:cNvSpPr/>
          <p:nvPr/>
        </p:nvSpPr>
        <p:spPr>
          <a:xfrm>
            <a:off x="7531200" y="2990880"/>
            <a:ext cx="3753720" cy="41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3081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0E2A4F"/>
                </a:solidFill>
                <a:effectLst/>
                <a:uFillTx/>
                <a:latin typeface="Libre Baskerville"/>
                <a:ea typeface="Libre Baskerville"/>
              </a:rPr>
              <a:t>1.50 – 2.60</a:t>
            </a:r>
            <a:endParaRPr lang="es-PE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10"/>
          <p:cNvSpPr/>
          <p:nvPr/>
        </p:nvSpPr>
        <p:spPr>
          <a:xfrm>
            <a:off x="7531200" y="3381840"/>
            <a:ext cx="375372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E4A5C"/>
                </a:solidFill>
                <a:effectLst/>
                <a:uFillTx/>
                <a:latin typeface="Public Sans"/>
                <a:ea typeface="Public Sans"/>
              </a:rPr>
              <a:t>rango de cuota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Shape 11"/>
          <p:cNvSpPr/>
          <p:nvPr/>
        </p:nvSpPr>
        <p:spPr>
          <a:xfrm>
            <a:off x="7289640" y="3874680"/>
            <a:ext cx="4088880" cy="909000"/>
          </a:xfrm>
          <a:prstGeom prst="rect">
            <a:avLst/>
          </a:prstGeom>
          <a:solidFill>
            <a:srgbClr val="FFFE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P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Shape 12"/>
          <p:cNvSpPr/>
          <p:nvPr/>
        </p:nvSpPr>
        <p:spPr>
          <a:xfrm>
            <a:off x="7308720" y="3874680"/>
            <a:ext cx="360" cy="909000"/>
          </a:xfrm>
          <a:prstGeom prst="line">
            <a:avLst/>
          </a:prstGeom>
          <a:ln w="38100">
            <a:solidFill>
              <a:srgbClr val="C997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pPr/>
            <a:endParaRPr lang="es-P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13"/>
          <p:cNvSpPr/>
          <p:nvPr/>
        </p:nvSpPr>
        <p:spPr>
          <a:xfrm>
            <a:off x="7531200" y="4026960"/>
            <a:ext cx="3753720" cy="41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3081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0E2A4F"/>
                </a:solidFill>
                <a:effectLst/>
                <a:uFillTx/>
                <a:latin typeface="Libre Baskerville"/>
                <a:ea typeface="Libre Baskerville"/>
              </a:rPr>
              <a:t>≥ 42 %</a:t>
            </a:r>
            <a:endParaRPr lang="es-PE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14"/>
          <p:cNvSpPr/>
          <p:nvPr/>
        </p:nvSpPr>
        <p:spPr>
          <a:xfrm>
            <a:off x="7531200" y="4418280"/>
            <a:ext cx="375372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E4A5C"/>
                </a:solidFill>
                <a:effectLst/>
                <a:uFillTx/>
                <a:latin typeface="Public Sans"/>
                <a:ea typeface="Public Sans"/>
              </a:rPr>
              <a:t>probabilidad del modelo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Shape 15"/>
          <p:cNvSpPr/>
          <p:nvPr/>
        </p:nvSpPr>
        <p:spPr>
          <a:xfrm>
            <a:off x="7289640" y="4910760"/>
            <a:ext cx="4088880" cy="909000"/>
          </a:xfrm>
          <a:prstGeom prst="rect">
            <a:avLst/>
          </a:prstGeom>
          <a:solidFill>
            <a:srgbClr val="FFFE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P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Shape 16"/>
          <p:cNvSpPr/>
          <p:nvPr/>
        </p:nvSpPr>
        <p:spPr>
          <a:xfrm>
            <a:off x="7308720" y="4910760"/>
            <a:ext cx="360" cy="909360"/>
          </a:xfrm>
          <a:prstGeom prst="line">
            <a:avLst/>
          </a:prstGeom>
          <a:ln w="38100">
            <a:solidFill>
              <a:srgbClr val="C997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pPr/>
            <a:endParaRPr lang="es-P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17"/>
          <p:cNvSpPr/>
          <p:nvPr/>
        </p:nvSpPr>
        <p:spPr>
          <a:xfrm>
            <a:off x="7531200" y="5063400"/>
            <a:ext cx="3753720" cy="41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3081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0E2A4F"/>
                </a:solidFill>
                <a:effectLst/>
                <a:uFillTx/>
                <a:latin typeface="Libre Baskerville"/>
                <a:ea typeface="Libre Baskerville"/>
              </a:rPr>
              <a:t>≥ 3 %</a:t>
            </a:r>
            <a:endParaRPr lang="es-PE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18"/>
          <p:cNvSpPr/>
          <p:nvPr/>
        </p:nvSpPr>
        <p:spPr>
          <a:xfrm>
            <a:off x="7531200" y="5454360"/>
            <a:ext cx="375372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E4A5C"/>
                </a:solidFill>
                <a:effectLst/>
                <a:uFillTx/>
                <a:latin typeface="Public Sans"/>
                <a:ea typeface="Public Sans"/>
              </a:rPr>
              <a:t>valor esperado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19"/>
          <p:cNvSpPr/>
          <p:nvPr/>
        </p:nvSpPr>
        <p:spPr>
          <a:xfrm>
            <a:off x="812880" y="6289200"/>
            <a:ext cx="44103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F6878"/>
                </a:solidFill>
                <a:effectLst/>
                <a:uFillTx/>
                <a:latin typeface="Public Sans"/>
                <a:ea typeface="Public Sans"/>
              </a:rPr>
              <a:t>Analizador de apuestas de fútbol con microservicios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20"/>
          <p:cNvSpPr/>
          <p:nvPr/>
        </p:nvSpPr>
        <p:spPr>
          <a:xfrm>
            <a:off x="11168640" y="6289200"/>
            <a:ext cx="21024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r"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F6878"/>
                </a:solidFill>
                <a:effectLst/>
                <a:uFillTx/>
                <a:latin typeface="Public Sans"/>
                <a:ea typeface="Public Sans"/>
              </a:rPr>
              <a:t>15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Shape 0"/>
          <p:cNvSpPr/>
          <p:nvPr/>
        </p:nvSpPr>
        <p:spPr>
          <a:xfrm>
            <a:off x="0" y="0"/>
            <a:ext cx="151920" cy="6857640"/>
          </a:xfrm>
          <a:prstGeom prst="rect">
            <a:avLst/>
          </a:prstGeom>
          <a:solidFill>
            <a:srgbClr val="0E2A4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P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1"/>
          <p:cNvSpPr/>
          <p:nvPr/>
        </p:nvSpPr>
        <p:spPr>
          <a:xfrm>
            <a:off x="812880" y="812880"/>
            <a:ext cx="108831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1" u="none" spc="99" strike="noStrike">
                <a:solidFill>
                  <a:srgbClr val="8A6410"/>
                </a:solidFill>
                <a:effectLst/>
                <a:uFillTx/>
                <a:latin typeface="Public Sans"/>
                <a:ea typeface="Public Sans"/>
              </a:rPr>
              <a:t>5.4 · CONTRATOS DE API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PlaceHolder 1"/>
          <p:cNvSpPr>
            <a:spLocks noGrp="1"/>
          </p:cNvSpPr>
          <p:nvPr>
            <p:ph type="title"/>
          </p:nvPr>
        </p:nvSpPr>
        <p:spPr>
          <a:xfrm>
            <a:off x="812880" y="1102320"/>
            <a:ext cx="10883160" cy="43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220"/>
              </a:lnSpc>
              <a:buNone/>
              <a:tabLst>
                <a:tab pos="0" algn="l"/>
              </a:tabLst>
            </a:pPr>
            <a:r>
              <a:rPr lang="en-US" sz="2800" b="1" u="none" strike="noStrike">
                <a:solidFill>
                  <a:srgbClr val="0E2A4F"/>
                </a:solidFill>
                <a:effectLst/>
                <a:uFillTx/>
                <a:latin typeface="Libre Baskerville"/>
                <a:ea typeface="Libre Baskerville"/>
              </a:rPr>
              <a:t>El README de cada servicio es su contrato</a:t>
            </a:r>
            <a:endParaRPr lang="es-PE" sz="2800" b="0" u="none" strike="noStrike">
              <a:solidFill>
                <a:schemeClr val="dk1"/>
              </a:solidFill>
              <a:effectLst/>
              <a:uFillTx/>
              <a:latin typeface="Public Sans"/>
            </a:endParaRPr>
          </a:p>
        </p:txBody>
      </p:sp>
      <p:graphicFrame>
        <p:nvGraphicFramePr>
          <p:cNvPr id="299" name="Table 0"/>
          <p:cNvGraphicFramePr/>
          <p:nvPr/>
        </p:nvGraphicFramePr>
        <p:xfrm>
          <a:off x="825480" y="1752480"/>
          <a:ext cx="10553400" cy="3300120"/>
        </p:xfrm>
        <a:graphic>
          <a:graphicData uri="http://schemas.openxmlformats.org/drawingml/2006/table">
            <a:tbl>
              <a:tblPr/>
              <a:tblGrid>
                <a:gridCol w="1899360"/>
                <a:gridCol w="6332040"/>
                <a:gridCol w="2321640"/>
              </a:tblGrid>
              <a:tr h="332280"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BFAF6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Servicio</a:t>
                      </a:r>
                      <a:endParaRPr lang="es-PE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8C7C4"/>
                      </a:solidFill>
                      <a:prstDash val="solid"/>
                    </a:lnL>
                    <a:lnR w="12240">
                      <a:solidFill>
                        <a:srgbClr val="0F2542"/>
                      </a:solidFill>
                      <a:prstDash val="solid"/>
                    </a:lnR>
                    <a:lnT w="12240">
                      <a:solidFill>
                        <a:srgbClr val="C8C7C4"/>
                      </a:solidFill>
                      <a:prstDash val="solid"/>
                    </a:lnT>
                    <a:lnB w="12240">
                      <a:solidFill>
                        <a:srgbClr val="0F2542"/>
                      </a:solidFill>
                      <a:prstDash val="solid"/>
                    </a:lnB>
                    <a:solidFill>
                      <a:srgbClr val="0E2A4F"/>
                    </a:solidFill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BFAF6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Endpoints públicos (vía /api/servicio)</a:t>
                      </a:r>
                      <a:endParaRPr lang="es-PE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0F2542"/>
                      </a:solidFill>
                      <a:prstDash val="solid"/>
                    </a:lnL>
                    <a:lnR w="12240">
                      <a:solidFill>
                        <a:srgbClr val="0F2542"/>
                      </a:solidFill>
                      <a:prstDash val="solid"/>
                    </a:lnR>
                    <a:lnT w="12240">
                      <a:solidFill>
                        <a:srgbClr val="C8C7C4"/>
                      </a:solidFill>
                      <a:prstDash val="solid"/>
                    </a:lnT>
                    <a:lnB w="12240">
                      <a:solidFill>
                        <a:srgbClr val="0F2542"/>
                      </a:solidFill>
                      <a:prstDash val="solid"/>
                    </a:lnB>
                    <a:solidFill>
                      <a:srgbClr val="0E2A4F"/>
                    </a:solidFill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BFAF6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Internos</a:t>
                      </a:r>
                      <a:endParaRPr lang="es-PE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0F2542"/>
                      </a:solidFill>
                      <a:prstDash val="solid"/>
                    </a:lnL>
                    <a:lnR w="12240">
                      <a:solidFill>
                        <a:srgbClr val="0F2542"/>
                      </a:solidFill>
                      <a:prstDash val="solid"/>
                    </a:lnR>
                    <a:lnT w="12240">
                      <a:solidFill>
                        <a:srgbClr val="C8C7C4"/>
                      </a:solidFill>
                      <a:prstDash val="solid"/>
                    </a:lnT>
                    <a:lnB w="12240">
                      <a:solidFill>
                        <a:srgbClr val="0F2542"/>
                      </a:solidFill>
                      <a:prstDash val="solid"/>
                    </a:lnB>
                    <a:solidFill>
                      <a:srgbClr val="0E2A4F"/>
                    </a:solidFill>
                  </a:tcPr>
                </a:tc>
              </a:tr>
              <a:tr h="332280"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ms-usuarios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8C7C4"/>
                      </a:solidFill>
                      <a:prstDash val="solid"/>
                    </a:lnL>
                    <a:lnR w="12240">
                      <a:solidFill>
                        <a:srgbClr val="C8C7C4"/>
                      </a:solidFill>
                      <a:prstDash val="solid"/>
                    </a:lnR>
                    <a:lnT w="12240">
                      <a:solidFill>
                        <a:srgbClr val="0F2542"/>
                      </a:solidFill>
                      <a:prstDash val="solid"/>
                    </a:lnT>
                    <a:lnB w="12240">
                      <a:solidFill>
                        <a:srgbClr val="C8C7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POST /auth/registro · POST /auth/login · GET /me · PUT /me/banca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8C7C4"/>
                      </a:solidFill>
                      <a:prstDash val="solid"/>
                    </a:lnL>
                    <a:lnR w="12240">
                      <a:solidFill>
                        <a:srgbClr val="C8C7C4"/>
                      </a:solidFill>
                      <a:prstDash val="solid"/>
                    </a:lnR>
                    <a:lnT w="12240">
                      <a:solidFill>
                        <a:srgbClr val="0F2542"/>
                      </a:solidFill>
                      <a:prstDash val="solid"/>
                    </a:lnT>
                    <a:lnB w="12240">
                      <a:solidFill>
                        <a:srgbClr val="C8C7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—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8C7C4"/>
                      </a:solidFill>
                      <a:prstDash val="solid"/>
                    </a:lnL>
                    <a:lnR w="12240">
                      <a:solidFill>
                        <a:srgbClr val="C8C7C4"/>
                      </a:solidFill>
                      <a:prstDash val="solid"/>
                    </a:lnR>
                    <a:lnT w="12240">
                      <a:solidFill>
                        <a:srgbClr val="0F2542"/>
                      </a:solidFill>
                      <a:prstDash val="solid"/>
                    </a:lnT>
                    <a:lnB w="12240">
                      <a:solidFill>
                        <a:srgbClr val="C8C7C4"/>
                      </a:solidFill>
                      <a:prstDash val="solid"/>
                    </a:lnB>
                    <a:noFill/>
                  </a:tcPr>
                </a:tc>
              </a:tr>
              <a:tr h="332280"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ms-catalogo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8C7C4"/>
                      </a:solidFill>
                      <a:prstDash val="solid"/>
                    </a:lnL>
                    <a:lnR w="12240">
                      <a:solidFill>
                        <a:srgbClr val="BEC1C5"/>
                      </a:solidFill>
                      <a:prstDash val="solid"/>
                    </a:lnR>
                    <a:lnT w="12240">
                      <a:solidFill>
                        <a:srgbClr val="C8C7C4"/>
                      </a:solidFill>
                      <a:prstDash val="solid"/>
                    </a:lnT>
                    <a:lnB w="12240">
                      <a:solidFill>
                        <a:srgbClr val="BEC1C5"/>
                      </a:solidFill>
                      <a:prstDash val="soli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GET /ligas · GET /equipos · GET /partidos · GET /partidos/{id}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BEC1C5"/>
                      </a:solidFill>
                      <a:prstDash val="solid"/>
                    </a:lnL>
                    <a:lnR w="12240">
                      <a:solidFill>
                        <a:srgbClr val="BEC1C5"/>
                      </a:solidFill>
                      <a:prstDash val="solid"/>
                    </a:lnR>
                    <a:lnT w="12240">
                      <a:solidFill>
                        <a:srgbClr val="C8C7C4"/>
                      </a:solidFill>
                      <a:prstDash val="solid"/>
                    </a:lnT>
                    <a:lnB w="12240">
                      <a:solidFill>
                        <a:srgbClr val="BEC1C5"/>
                      </a:solidFill>
                      <a:prstDash val="soli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POST /interno/partidos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BEC1C5"/>
                      </a:solidFill>
                      <a:prstDash val="solid"/>
                    </a:lnL>
                    <a:lnR w="12240">
                      <a:solidFill>
                        <a:srgbClr val="BEC1C5"/>
                      </a:solidFill>
                      <a:prstDash val="solid"/>
                    </a:lnR>
                    <a:lnT w="12240">
                      <a:solidFill>
                        <a:srgbClr val="C8C7C4"/>
                      </a:solidFill>
                      <a:prstDash val="solid"/>
                    </a:lnT>
                    <a:lnB w="12240">
                      <a:solidFill>
                        <a:srgbClr val="BEC1C5"/>
                      </a:solidFill>
                      <a:prstDash val="solid"/>
                    </a:lnB>
                    <a:solidFill>
                      <a:srgbClr val="EEF2F7"/>
                    </a:solidFill>
                  </a:tcPr>
                </a:tc>
              </a:tr>
              <a:tr h="332280"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ms-ingesta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8C7C4"/>
                      </a:solidFill>
                      <a:prstDash val="solid"/>
                    </a:lnL>
                    <a:lnR w="12240">
                      <a:solidFill>
                        <a:srgbClr val="C8C7C4"/>
                      </a:solidFill>
                      <a:prstDash val="solid"/>
                    </a:lnR>
                    <a:lnT w="12240">
                      <a:solidFill>
                        <a:srgbClr val="BEC1C5"/>
                      </a:solidFill>
                      <a:prstDash val="solid"/>
                    </a:lnT>
                    <a:lnB w="12240">
                      <a:solidFill>
                        <a:srgbClr val="C8C7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POST /ejecutar · GET /ejecuciones (solo ADMIN)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8C7C4"/>
                      </a:solidFill>
                      <a:prstDash val="solid"/>
                    </a:lnL>
                    <a:lnR w="12240">
                      <a:solidFill>
                        <a:srgbClr val="C8C7C4"/>
                      </a:solidFill>
                      <a:prstDash val="solid"/>
                    </a:lnR>
                    <a:lnT w="12240">
                      <a:solidFill>
                        <a:srgbClr val="BEC1C5"/>
                      </a:solidFill>
                      <a:prstDash val="solid"/>
                    </a:lnT>
                    <a:lnB w="12240">
                      <a:solidFill>
                        <a:srgbClr val="C8C7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—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8C7C4"/>
                      </a:solidFill>
                      <a:prstDash val="solid"/>
                    </a:lnL>
                    <a:lnR w="12240">
                      <a:solidFill>
                        <a:srgbClr val="C8C7C4"/>
                      </a:solidFill>
                      <a:prstDash val="solid"/>
                    </a:lnR>
                    <a:lnT w="12240">
                      <a:solidFill>
                        <a:srgbClr val="BEC1C5"/>
                      </a:solidFill>
                      <a:prstDash val="solid"/>
                    </a:lnT>
                    <a:lnB w="12240">
                      <a:solidFill>
                        <a:srgbClr val="C8C7C4"/>
                      </a:solidFill>
                      <a:prstDash val="solid"/>
                    </a:lnB>
                    <a:noFill/>
                  </a:tcPr>
                </a:tc>
              </a:tr>
              <a:tr h="545760"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ms-estadisticas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8C7C4"/>
                      </a:solidFill>
                      <a:prstDash val="solid"/>
                    </a:lnL>
                    <a:lnR w="12240">
                      <a:solidFill>
                        <a:srgbClr val="BEC1C5"/>
                      </a:solidFill>
                      <a:prstDash val="solid"/>
                    </a:lnR>
                    <a:lnT w="12240">
                      <a:solidFill>
                        <a:srgbClr val="C8C7C4"/>
                      </a:solidFill>
                      <a:prstDash val="solid"/>
                    </a:lnT>
                    <a:lnB w="12240">
                      <a:solidFill>
                        <a:srgbClr val="BEC1C5"/>
                      </a:solidFill>
                      <a:prstDash val="soli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GET /equipos/{id}/promedios · /ligas/{id}/promedios · /arbitros/{id}/perfil · /partidos/{id}/estadisticas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BEC1C5"/>
                      </a:solidFill>
                      <a:prstDash val="solid"/>
                    </a:lnL>
                    <a:lnR w="12240">
                      <a:solidFill>
                        <a:srgbClr val="BEC1C5"/>
                      </a:solidFill>
                      <a:prstDash val="solid"/>
                    </a:lnR>
                    <a:lnT w="12240">
                      <a:solidFill>
                        <a:srgbClr val="C8C7C4"/>
                      </a:solidFill>
                      <a:prstDash val="solid"/>
                    </a:lnT>
                    <a:lnB w="12240">
                      <a:solidFill>
                        <a:srgbClr val="BEC1C5"/>
                      </a:solidFill>
                      <a:prstDash val="soli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POST /interno/estadisticas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BEC1C5"/>
                      </a:solidFill>
                      <a:prstDash val="solid"/>
                    </a:lnL>
                    <a:lnR w="12240">
                      <a:solidFill>
                        <a:srgbClr val="BEC1C5"/>
                      </a:solidFill>
                      <a:prstDash val="solid"/>
                    </a:lnR>
                    <a:lnT w="12240">
                      <a:solidFill>
                        <a:srgbClr val="C8C7C4"/>
                      </a:solidFill>
                      <a:prstDash val="solid"/>
                    </a:lnT>
                    <a:lnB w="12240">
                      <a:solidFill>
                        <a:srgbClr val="BEC1C5"/>
                      </a:solidFill>
                      <a:prstDash val="solid"/>
                    </a:lnB>
                    <a:solidFill>
                      <a:srgbClr val="EEF2F7"/>
                    </a:solidFill>
                  </a:tcPr>
                </a:tc>
              </a:tr>
              <a:tr h="545760"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ms-cuotas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8C7C4"/>
                      </a:solidFill>
                      <a:prstDash val="solid"/>
                    </a:lnL>
                    <a:lnR w="12240">
                      <a:solidFill>
                        <a:srgbClr val="C8C7C4"/>
                      </a:solidFill>
                      <a:prstDash val="solid"/>
                    </a:lnR>
                    <a:lnT w="12240">
                      <a:solidFill>
                        <a:srgbClr val="BEC1C5"/>
                      </a:solidFill>
                      <a:prstDash val="solid"/>
                    </a:lnT>
                    <a:lnB w="12240">
                      <a:solidFill>
                        <a:srgbClr val="C8C7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GET /partidos/{id}/cuotas · /partidos/{id}/probabilidades-mercado · POST /cuotas/manual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8C7C4"/>
                      </a:solidFill>
                      <a:prstDash val="solid"/>
                    </a:lnL>
                    <a:lnR w="12240">
                      <a:solidFill>
                        <a:srgbClr val="C8C7C4"/>
                      </a:solidFill>
                      <a:prstDash val="solid"/>
                    </a:lnR>
                    <a:lnT w="12240">
                      <a:solidFill>
                        <a:srgbClr val="BEC1C5"/>
                      </a:solidFill>
                      <a:prstDash val="solid"/>
                    </a:lnT>
                    <a:lnB w="12240">
                      <a:solidFill>
                        <a:srgbClr val="C8C7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POST /interno/cuotas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8C7C4"/>
                      </a:solidFill>
                      <a:prstDash val="solid"/>
                    </a:lnL>
                    <a:lnR w="12240">
                      <a:solidFill>
                        <a:srgbClr val="C8C7C4"/>
                      </a:solidFill>
                      <a:prstDash val="solid"/>
                    </a:lnR>
                    <a:lnT w="12240">
                      <a:solidFill>
                        <a:srgbClr val="BEC1C5"/>
                      </a:solidFill>
                      <a:prstDash val="solid"/>
                    </a:lnT>
                    <a:lnB w="12240">
                      <a:solidFill>
                        <a:srgbClr val="C8C7C4"/>
                      </a:solidFill>
                      <a:prstDash val="solid"/>
                    </a:lnB>
                    <a:noFill/>
                  </a:tcPr>
                </a:tc>
              </a:tr>
              <a:tr h="332280"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ms-predicciones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8C7C4"/>
                      </a:solidFill>
                      <a:prstDash val="solid"/>
                    </a:lnL>
                    <a:lnR w="12240">
                      <a:solidFill>
                        <a:srgbClr val="BEC1C5"/>
                      </a:solidFill>
                      <a:prstDash val="solid"/>
                    </a:lnR>
                    <a:lnT w="12240">
                      <a:solidFill>
                        <a:srgbClr val="C8C7C4"/>
                      </a:solidFill>
                      <a:prstDash val="solid"/>
                    </a:lnT>
                    <a:lnB w="12240">
                      <a:solidFill>
                        <a:srgbClr val="BEC1C5"/>
                      </a:solidFill>
                      <a:prstDash val="soli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GET /partidos/{id}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BEC1C5"/>
                      </a:solidFill>
                      <a:prstDash val="solid"/>
                    </a:lnL>
                    <a:lnR w="12240">
                      <a:solidFill>
                        <a:srgbClr val="BEC1C5"/>
                      </a:solidFill>
                      <a:prstDash val="solid"/>
                    </a:lnR>
                    <a:lnT w="12240">
                      <a:solidFill>
                        <a:srgbClr val="C8C7C4"/>
                      </a:solidFill>
                      <a:prstDash val="solid"/>
                    </a:lnT>
                    <a:lnB w="12240">
                      <a:solidFill>
                        <a:srgbClr val="BEC1C5"/>
                      </a:solidFill>
                      <a:prstDash val="soli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—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BEC1C5"/>
                      </a:solidFill>
                      <a:prstDash val="solid"/>
                    </a:lnL>
                    <a:lnR w="12240">
                      <a:solidFill>
                        <a:srgbClr val="BEC1C5"/>
                      </a:solidFill>
                      <a:prstDash val="solid"/>
                    </a:lnR>
                    <a:lnT w="12240">
                      <a:solidFill>
                        <a:srgbClr val="C8C7C4"/>
                      </a:solidFill>
                      <a:prstDash val="solid"/>
                    </a:lnT>
                    <a:lnB w="12240">
                      <a:solidFill>
                        <a:srgbClr val="BEC1C5"/>
                      </a:solidFill>
                      <a:prstDash val="solid"/>
                    </a:lnB>
                    <a:solidFill>
                      <a:srgbClr val="EEF2F7"/>
                    </a:solidFill>
                  </a:tcPr>
                </a:tc>
              </a:tr>
              <a:tr h="545760"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ms-apuestas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8C7C4"/>
                      </a:solidFill>
                      <a:prstDash val="solid"/>
                    </a:lnL>
                    <a:lnR w="12240">
                      <a:solidFill>
                        <a:srgbClr val="C8C7C4"/>
                      </a:solidFill>
                      <a:prstDash val="solid"/>
                    </a:lnR>
                    <a:lnT w="12240">
                      <a:solidFill>
                        <a:srgbClr val="BEC1C5"/>
                      </a:solidFill>
                      <a:prstDash val="solid"/>
                    </a:lnT>
                    <a:lnB w="12240">
                      <a:solidFill>
                        <a:srgbClr val="C8C7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POST /evaluaciones · GET /apuesta-del-dia · GET /picks/historial · POST y GET /mis-apuestas · GET /mis-apuestas/rendimiento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8C7C4"/>
                      </a:solidFill>
                      <a:prstDash val="solid"/>
                    </a:lnL>
                    <a:lnR w="12240">
                      <a:solidFill>
                        <a:srgbClr val="C8C7C4"/>
                      </a:solidFill>
                      <a:prstDash val="solid"/>
                    </a:lnR>
                    <a:lnT w="12240">
                      <a:solidFill>
                        <a:srgbClr val="BEC1C5"/>
                      </a:solidFill>
                      <a:prstDash val="solid"/>
                    </a:lnT>
                    <a:lnB w="12240">
                      <a:solidFill>
                        <a:srgbClr val="C8C7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POST /interno/liquidar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8C7C4"/>
                      </a:solidFill>
                      <a:prstDash val="solid"/>
                    </a:lnL>
                    <a:lnR w="12240">
                      <a:solidFill>
                        <a:srgbClr val="C8C7C4"/>
                      </a:solidFill>
                      <a:prstDash val="solid"/>
                    </a:lnR>
                    <a:lnT w="12240">
                      <a:solidFill>
                        <a:srgbClr val="BEC1C5"/>
                      </a:solidFill>
                      <a:prstDash val="solid"/>
                    </a:lnT>
                    <a:lnB w="12240">
                      <a:solidFill>
                        <a:srgbClr val="C8C7C4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00" name="Text 3"/>
          <p:cNvSpPr/>
          <p:nvPr/>
        </p:nvSpPr>
        <p:spPr>
          <a:xfrm>
            <a:off x="812880" y="5281560"/>
            <a:ext cx="10883160" cy="25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82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Si alguien cambia un contrato, avisa al equipo en el daily.</a:t>
            </a:r>
            <a:endParaRPr lang="es-P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4"/>
          <p:cNvSpPr/>
          <p:nvPr/>
        </p:nvSpPr>
        <p:spPr>
          <a:xfrm>
            <a:off x="812880" y="6289200"/>
            <a:ext cx="44103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F6878"/>
                </a:solidFill>
                <a:effectLst/>
                <a:uFillTx/>
                <a:latin typeface="Public Sans"/>
                <a:ea typeface="Public Sans"/>
              </a:rPr>
              <a:t>Analizador de apuestas de fútbol con microservicios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 5"/>
          <p:cNvSpPr/>
          <p:nvPr/>
        </p:nvSpPr>
        <p:spPr>
          <a:xfrm>
            <a:off x="11171520" y="6289200"/>
            <a:ext cx="2073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r"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F6878"/>
                </a:solidFill>
                <a:effectLst/>
                <a:uFillTx/>
                <a:latin typeface="Public Sans"/>
                <a:ea typeface="Public Sans"/>
              </a:rPr>
              <a:t>16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Shape 0"/>
          <p:cNvSpPr/>
          <p:nvPr/>
        </p:nvSpPr>
        <p:spPr>
          <a:xfrm>
            <a:off x="0" y="0"/>
            <a:ext cx="151920" cy="6857640"/>
          </a:xfrm>
          <a:prstGeom prst="rect">
            <a:avLst/>
          </a:prstGeom>
          <a:solidFill>
            <a:srgbClr val="0E2A4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P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 1"/>
          <p:cNvSpPr/>
          <p:nvPr/>
        </p:nvSpPr>
        <p:spPr>
          <a:xfrm>
            <a:off x="812880" y="812880"/>
            <a:ext cx="108831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1" u="none" spc="99" strike="noStrike">
                <a:solidFill>
                  <a:srgbClr val="8A6410"/>
                </a:solidFill>
                <a:effectLst/>
                <a:uFillTx/>
                <a:latin typeface="Public Sans"/>
                <a:ea typeface="Public Sans"/>
              </a:rPr>
              <a:t>5.5 · SEGURIDAD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PlaceHolder 1"/>
          <p:cNvSpPr>
            <a:spLocks noGrp="1"/>
          </p:cNvSpPr>
          <p:nvPr>
            <p:ph type="title"/>
          </p:nvPr>
        </p:nvSpPr>
        <p:spPr>
          <a:xfrm>
            <a:off x="812880" y="1102320"/>
            <a:ext cx="10883160" cy="43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220"/>
              </a:lnSpc>
              <a:buNone/>
              <a:tabLst>
                <a:tab pos="0" algn="l"/>
              </a:tabLst>
            </a:pPr>
            <a:r>
              <a:rPr lang="en-US" sz="2800" b="1" u="none" strike="noStrike">
                <a:solidFill>
                  <a:srgbClr val="0E2A4F"/>
                </a:solidFill>
                <a:effectLst/>
                <a:uFillTx/>
                <a:latin typeface="Libre Baskerville"/>
                <a:ea typeface="Libre Baskerville"/>
              </a:rPr>
              <a:t>El gateway es la única puerta</a:t>
            </a:r>
            <a:endParaRPr lang="es-PE" sz="2800" b="0" u="none" strike="noStrike">
              <a:solidFill>
                <a:schemeClr val="dk1"/>
              </a:solidFill>
              <a:effectLst/>
              <a:uFillTx/>
              <a:latin typeface="Public Sans"/>
            </a:endParaRPr>
          </a:p>
        </p:txBody>
      </p:sp>
      <p:sp>
        <p:nvSpPr>
          <p:cNvPr id="306" name="Shape 3"/>
          <p:cNvSpPr/>
          <p:nvPr/>
        </p:nvSpPr>
        <p:spPr>
          <a:xfrm>
            <a:off x="812880" y="1815840"/>
            <a:ext cx="2565000" cy="1818000"/>
          </a:xfrm>
          <a:prstGeom prst="rect">
            <a:avLst/>
          </a:prstGeom>
          <a:solidFill>
            <a:srgbClr val="EEF2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P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4"/>
          <p:cNvSpPr/>
          <p:nvPr/>
        </p:nvSpPr>
        <p:spPr>
          <a:xfrm>
            <a:off x="1015920" y="2019240"/>
            <a:ext cx="2223360" cy="41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3081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8A6410"/>
                </a:solidFill>
                <a:effectLst/>
                <a:uFillTx/>
                <a:latin typeface="Libre Baskerville"/>
                <a:ea typeface="Libre Baskerville"/>
              </a:rPr>
              <a:t>1</a:t>
            </a:r>
            <a:endParaRPr lang="es-PE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 5"/>
          <p:cNvSpPr/>
          <p:nvPr/>
        </p:nvSpPr>
        <p:spPr>
          <a:xfrm>
            <a:off x="1015920" y="2486520"/>
            <a:ext cx="222336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E2A4F"/>
                </a:solidFill>
                <a:effectLst/>
                <a:uFillTx/>
                <a:latin typeface="Public Sans"/>
                <a:ea typeface="Public Sans"/>
              </a:rPr>
              <a:t>Firma</a:t>
            </a:r>
            <a:endParaRPr lang="es-PE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6"/>
          <p:cNvSpPr/>
          <p:nvPr/>
        </p:nvSpPr>
        <p:spPr>
          <a:xfrm>
            <a:off x="1015920" y="2791440"/>
            <a:ext cx="2223360" cy="66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E4A5C"/>
                </a:solidFill>
                <a:effectLst/>
                <a:uFillTx/>
                <a:latin typeface="Public Sans"/>
                <a:ea typeface="Public Sans"/>
              </a:rPr>
              <a:t>ms-usuarios firma el JWT (HS256) con id, usuario y rol. Dura 8 horas.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Shape 7"/>
          <p:cNvSpPr/>
          <p:nvPr/>
        </p:nvSpPr>
        <p:spPr>
          <a:xfrm>
            <a:off x="3479760" y="1815840"/>
            <a:ext cx="2565000" cy="1818000"/>
          </a:xfrm>
          <a:prstGeom prst="rect">
            <a:avLst/>
          </a:prstGeom>
          <a:solidFill>
            <a:srgbClr val="EEF2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P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 8"/>
          <p:cNvSpPr/>
          <p:nvPr/>
        </p:nvSpPr>
        <p:spPr>
          <a:xfrm>
            <a:off x="3683160" y="2019240"/>
            <a:ext cx="2223360" cy="41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3081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8A6410"/>
                </a:solidFill>
                <a:effectLst/>
                <a:uFillTx/>
                <a:latin typeface="Libre Baskerville"/>
                <a:ea typeface="Libre Baskerville"/>
              </a:rPr>
              <a:t>2</a:t>
            </a:r>
            <a:endParaRPr lang="es-PE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 9"/>
          <p:cNvSpPr/>
          <p:nvPr/>
        </p:nvSpPr>
        <p:spPr>
          <a:xfrm>
            <a:off x="3683160" y="2486520"/>
            <a:ext cx="222336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E2A4F"/>
                </a:solidFill>
                <a:effectLst/>
                <a:uFillTx/>
                <a:latin typeface="Public Sans"/>
                <a:ea typeface="Public Sans"/>
              </a:rPr>
              <a:t>Valida</a:t>
            </a:r>
            <a:endParaRPr lang="es-PE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 10"/>
          <p:cNvSpPr/>
          <p:nvPr/>
        </p:nvSpPr>
        <p:spPr>
          <a:xfrm>
            <a:off x="3683160" y="2791440"/>
            <a:ext cx="2223360" cy="66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E4A5C"/>
                </a:solidFill>
                <a:effectLst/>
                <a:uFillTx/>
                <a:latin typeface="Public Sans"/>
                <a:ea typeface="Public Sans"/>
              </a:rPr>
              <a:t>Un filtro global del gateway comprueba el token en cada petición.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Shape 11"/>
          <p:cNvSpPr/>
          <p:nvPr/>
        </p:nvSpPr>
        <p:spPr>
          <a:xfrm>
            <a:off x="6146640" y="1815840"/>
            <a:ext cx="2565000" cy="1818000"/>
          </a:xfrm>
          <a:prstGeom prst="rect">
            <a:avLst/>
          </a:prstGeom>
          <a:solidFill>
            <a:srgbClr val="EEF2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P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 12"/>
          <p:cNvSpPr/>
          <p:nvPr/>
        </p:nvSpPr>
        <p:spPr>
          <a:xfrm>
            <a:off x="6350040" y="2019240"/>
            <a:ext cx="2223360" cy="41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3081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8A6410"/>
                </a:solidFill>
                <a:effectLst/>
                <a:uFillTx/>
                <a:latin typeface="Libre Baskerville"/>
                <a:ea typeface="Libre Baskerville"/>
              </a:rPr>
              <a:t>3</a:t>
            </a:r>
            <a:endParaRPr lang="es-PE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 13"/>
          <p:cNvSpPr/>
          <p:nvPr/>
        </p:nvSpPr>
        <p:spPr>
          <a:xfrm>
            <a:off x="6350040" y="2486520"/>
            <a:ext cx="222336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E2A4F"/>
                </a:solidFill>
                <a:effectLst/>
                <a:uFillTx/>
                <a:latin typeface="Public Sans"/>
                <a:ea typeface="Public Sans"/>
              </a:rPr>
              <a:t>Reescribe</a:t>
            </a:r>
            <a:endParaRPr lang="es-PE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 14"/>
          <p:cNvSpPr/>
          <p:nvPr/>
        </p:nvSpPr>
        <p:spPr>
          <a:xfrm>
            <a:off x="6350040" y="2791440"/>
            <a:ext cx="2223360" cy="66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E4A5C"/>
                </a:solidFill>
                <a:effectLst/>
                <a:uFillTx/>
                <a:latin typeface="Public Sans"/>
                <a:ea typeface="Public Sans"/>
              </a:rPr>
              <a:t>Borra las cabeceras X-Usuario-* del cliente y añade las del token.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Shape 15"/>
          <p:cNvSpPr/>
          <p:nvPr/>
        </p:nvSpPr>
        <p:spPr>
          <a:xfrm>
            <a:off x="8813880" y="1815840"/>
            <a:ext cx="2565000" cy="1818000"/>
          </a:xfrm>
          <a:prstGeom prst="rect">
            <a:avLst/>
          </a:prstGeom>
          <a:solidFill>
            <a:srgbClr val="0E2A4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P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 16"/>
          <p:cNvSpPr/>
          <p:nvPr/>
        </p:nvSpPr>
        <p:spPr>
          <a:xfrm>
            <a:off x="9016920" y="2019240"/>
            <a:ext cx="2223360" cy="41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3081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E3B54A"/>
                </a:solidFill>
                <a:effectLst/>
                <a:uFillTx/>
                <a:latin typeface="Libre Baskerville"/>
                <a:ea typeface="Libre Baskerville"/>
              </a:rPr>
              <a:t>4</a:t>
            </a:r>
            <a:endParaRPr lang="es-PE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 17"/>
          <p:cNvSpPr/>
          <p:nvPr/>
        </p:nvSpPr>
        <p:spPr>
          <a:xfrm>
            <a:off x="9016920" y="2486520"/>
            <a:ext cx="222336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BFAF6"/>
                </a:solidFill>
                <a:effectLst/>
                <a:uFillTx/>
                <a:latin typeface="Public Sans"/>
                <a:ea typeface="Public Sans"/>
              </a:rPr>
              <a:t>Bloquea</a:t>
            </a:r>
            <a:endParaRPr lang="es-PE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18"/>
          <p:cNvSpPr/>
          <p:nvPr/>
        </p:nvSpPr>
        <p:spPr>
          <a:xfrm>
            <a:off x="9016920" y="2791440"/>
            <a:ext cx="2223360" cy="66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5D0DE"/>
                </a:solidFill>
                <a:effectLst/>
                <a:uFillTx/>
                <a:latin typeface="Public Sans"/>
                <a:ea typeface="Public Sans"/>
              </a:rPr>
              <a:t>Rechaza /interno/**: solo existe dentro de la red de Docker.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 19"/>
          <p:cNvSpPr/>
          <p:nvPr/>
        </p:nvSpPr>
        <p:spPr>
          <a:xfrm>
            <a:off x="812880" y="3939120"/>
            <a:ext cx="348804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1" u="none" spc="99" strike="noStrike">
                <a:solidFill>
                  <a:srgbClr val="8A6410"/>
                </a:solidFill>
                <a:effectLst/>
                <a:uFillTx/>
                <a:latin typeface="Public Sans"/>
                <a:ea typeface="Public Sans"/>
              </a:rPr>
              <a:t>PÚBLICAS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 20"/>
          <p:cNvSpPr/>
          <p:nvPr/>
        </p:nvSpPr>
        <p:spPr>
          <a:xfrm>
            <a:off x="812880" y="4203360"/>
            <a:ext cx="3589560" cy="25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82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/api/usuarios/auth/** y los GET del catálogo</a:t>
            </a:r>
            <a:endParaRPr lang="es-P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 21"/>
          <p:cNvSpPr/>
          <p:nvPr/>
        </p:nvSpPr>
        <p:spPr>
          <a:xfrm>
            <a:off x="4402800" y="3939120"/>
            <a:ext cx="348804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1" u="none" spc="99" strike="noStrike">
                <a:solidFill>
                  <a:srgbClr val="8A6410"/>
                </a:solidFill>
                <a:effectLst/>
                <a:uFillTx/>
                <a:latin typeface="Public Sans"/>
                <a:ea typeface="Public Sans"/>
              </a:rPr>
              <a:t>CON ROL ADMIN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 22"/>
          <p:cNvSpPr/>
          <p:nvPr/>
        </p:nvSpPr>
        <p:spPr>
          <a:xfrm>
            <a:off x="4402800" y="4203360"/>
            <a:ext cx="3488040" cy="25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82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/api/ingesta/**; todo lo demás pide token</a:t>
            </a:r>
            <a:endParaRPr lang="es-P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 23"/>
          <p:cNvSpPr/>
          <p:nvPr/>
        </p:nvSpPr>
        <p:spPr>
          <a:xfrm>
            <a:off x="7992360" y="3939120"/>
            <a:ext cx="348804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1" u="none" spc="99" strike="noStrike">
                <a:solidFill>
                  <a:srgbClr val="8A6410"/>
                </a:solidFill>
                <a:effectLst/>
                <a:uFillTx/>
                <a:latin typeface="Public Sans"/>
                <a:ea typeface="Public Sans"/>
              </a:rPr>
              <a:t>PUERTOS ABIERTOS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 24"/>
          <p:cNvSpPr/>
          <p:nvPr/>
        </p:nvSpPr>
        <p:spPr>
          <a:xfrm>
            <a:off x="7992360" y="4203360"/>
            <a:ext cx="3488040" cy="25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82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Solo el gateway (8080) y la web (8090)</a:t>
            </a:r>
            <a:endParaRPr lang="es-P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 25"/>
          <p:cNvSpPr/>
          <p:nvPr/>
        </p:nvSpPr>
        <p:spPr>
          <a:xfrm>
            <a:off x="812880" y="6289200"/>
            <a:ext cx="44103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F6878"/>
                </a:solidFill>
                <a:effectLst/>
                <a:uFillTx/>
                <a:latin typeface="Public Sans"/>
                <a:ea typeface="Public Sans"/>
              </a:rPr>
              <a:t>Analizador de apuestas de fútbol con microservicios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 26"/>
          <p:cNvSpPr/>
          <p:nvPr/>
        </p:nvSpPr>
        <p:spPr>
          <a:xfrm>
            <a:off x="11174760" y="6289200"/>
            <a:ext cx="20412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r"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F6878"/>
                </a:solidFill>
                <a:effectLst/>
                <a:uFillTx/>
                <a:latin typeface="Public Sans"/>
                <a:ea typeface="Public Sans"/>
              </a:rPr>
              <a:t>17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Shape 0"/>
          <p:cNvSpPr/>
          <p:nvPr/>
        </p:nvSpPr>
        <p:spPr>
          <a:xfrm>
            <a:off x="0" y="0"/>
            <a:ext cx="151920" cy="6857640"/>
          </a:xfrm>
          <a:prstGeom prst="rect">
            <a:avLst/>
          </a:prstGeom>
          <a:solidFill>
            <a:srgbClr val="0E2A4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P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1"/>
          <p:cNvSpPr/>
          <p:nvPr/>
        </p:nvSpPr>
        <p:spPr>
          <a:xfrm>
            <a:off x="812880" y="812880"/>
            <a:ext cx="588600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1" u="none" spc="99" strike="noStrike">
                <a:solidFill>
                  <a:srgbClr val="8A6410"/>
                </a:solidFill>
                <a:effectLst/>
                <a:uFillTx/>
                <a:latin typeface="Public Sans"/>
                <a:ea typeface="Public Sans"/>
              </a:rPr>
              <a:t>5.6 · ARQUITECTURA FÍSICA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PlaceHolder 1"/>
          <p:cNvSpPr>
            <a:spLocks noGrp="1"/>
          </p:cNvSpPr>
          <p:nvPr>
            <p:ph type="title"/>
          </p:nvPr>
        </p:nvSpPr>
        <p:spPr>
          <a:xfrm>
            <a:off x="812880" y="1102320"/>
            <a:ext cx="5886000" cy="842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220"/>
              </a:lnSpc>
              <a:buNone/>
              <a:tabLst>
                <a:tab pos="0" algn="l"/>
              </a:tabLst>
            </a:pPr>
            <a:r>
              <a:rPr lang="en-US" sz="2800" b="1" u="none" strike="noStrike">
                <a:solidFill>
                  <a:srgbClr val="0E2A4F"/>
                </a:solidFill>
                <a:effectLst/>
                <a:uFillTx/>
                <a:latin typeface="Libre Baskerville"/>
                <a:ea typeface="Libre Baskerville"/>
              </a:rPr>
              <a:t>11 contenedores, un solo comando</a:t>
            </a:r>
            <a:endParaRPr lang="es-PE" sz="2800" b="0" u="none" strike="noStrike">
              <a:solidFill>
                <a:schemeClr val="dk1"/>
              </a:solidFill>
              <a:effectLst/>
              <a:uFillTx/>
              <a:latin typeface="Public Sans"/>
            </a:endParaRPr>
          </a:p>
        </p:txBody>
      </p:sp>
      <p:sp>
        <p:nvSpPr>
          <p:cNvPr id="333" name="Text 3"/>
          <p:cNvSpPr/>
          <p:nvPr/>
        </p:nvSpPr>
        <p:spPr>
          <a:xfrm>
            <a:off x="812880" y="2148840"/>
            <a:ext cx="5714640" cy="520200"/>
          </a:xfrm>
          <a:prstGeom prst="rect">
            <a:avLst/>
          </a:prstGeom>
          <a:solidFill>
            <a:srgbClr val="0E2A4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7840" tIns="127080" rIns="16920" bIns="101520" anchor="t">
            <a:normAutofit/>
          </a:bodyPr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BFAF6"/>
                </a:solidFill>
                <a:effectLst/>
                <a:uFillTx/>
                <a:latin typeface="Courier New"/>
                <a:ea typeface="Courier New"/>
              </a:rPr>
              <a:t>docker compose up --build</a:t>
            </a:r>
            <a:endParaRPr lang="es-PE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34" name="Table 0"/>
          <p:cNvGraphicFramePr/>
          <p:nvPr/>
        </p:nvGraphicFramePr>
        <p:xfrm>
          <a:off x="825480" y="2910600"/>
          <a:ext cx="5702040" cy="1995120"/>
        </p:xfrm>
        <a:graphic>
          <a:graphicData uri="http://schemas.openxmlformats.org/drawingml/2006/table">
            <a:tbl>
              <a:tblPr/>
              <a:tblGrid>
                <a:gridCol w="2964960"/>
                <a:gridCol w="1368360"/>
                <a:gridCol w="1368360"/>
              </a:tblGrid>
              <a:tr h="332280"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BFAF6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Contenedor</a:t>
                      </a:r>
                      <a:endParaRPr lang="es-PE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BEC1C5"/>
                      </a:solidFill>
                      <a:prstDash val="solid"/>
                    </a:lnL>
                    <a:lnR w="12240">
                      <a:solidFill>
                        <a:srgbClr val="0F2542"/>
                      </a:solidFill>
                      <a:prstDash val="solid"/>
                    </a:lnR>
                    <a:lnT w="12240">
                      <a:solidFill>
                        <a:srgbClr val="BEC1C5"/>
                      </a:solidFill>
                      <a:prstDash val="solid"/>
                    </a:lnT>
                    <a:lnB w="12240">
                      <a:solidFill>
                        <a:srgbClr val="0F2542"/>
                      </a:solidFill>
                      <a:prstDash val="solid"/>
                    </a:lnB>
                    <a:solidFill>
                      <a:srgbClr val="0E2A4F"/>
                    </a:solidFill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BFAF6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Interno</a:t>
                      </a:r>
                      <a:endParaRPr lang="es-PE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0F2542"/>
                      </a:solidFill>
                      <a:prstDash val="solid"/>
                    </a:lnL>
                    <a:lnR w="12240">
                      <a:solidFill>
                        <a:srgbClr val="0F2542"/>
                      </a:solidFill>
                      <a:prstDash val="solid"/>
                    </a:lnR>
                    <a:lnT w="12240">
                      <a:solidFill>
                        <a:srgbClr val="BEC1C5"/>
                      </a:solidFill>
                      <a:prstDash val="solid"/>
                    </a:lnT>
                    <a:lnB w="12240">
                      <a:solidFill>
                        <a:srgbClr val="0F2542"/>
                      </a:solidFill>
                      <a:prstDash val="solid"/>
                    </a:lnB>
                    <a:solidFill>
                      <a:srgbClr val="0E2A4F"/>
                    </a:solidFill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BFAF6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Publicado</a:t>
                      </a:r>
                      <a:endParaRPr lang="es-PE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0F2542"/>
                      </a:solidFill>
                      <a:prstDash val="solid"/>
                    </a:lnL>
                    <a:lnR w="12240">
                      <a:solidFill>
                        <a:srgbClr val="0F2542"/>
                      </a:solidFill>
                      <a:prstDash val="solid"/>
                    </a:lnR>
                    <a:lnT w="12240">
                      <a:solidFill>
                        <a:srgbClr val="BEC1C5"/>
                      </a:solidFill>
                      <a:prstDash val="solid"/>
                    </a:lnT>
                    <a:lnB w="12240">
                      <a:solidFill>
                        <a:srgbClr val="0F2542"/>
                      </a:solidFill>
                      <a:prstDash val="solid"/>
                    </a:lnB>
                    <a:solidFill>
                      <a:srgbClr val="0E2A4F"/>
                    </a:solidFill>
                  </a:tcPr>
                </a:tc>
              </a:tr>
              <a:tr h="332280"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postgres:16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BEC1C5"/>
                      </a:solidFill>
                      <a:prstDash val="solid"/>
                    </a:lnL>
                    <a:lnR w="12240">
                      <a:solidFill>
                        <a:srgbClr val="CBCBC8"/>
                      </a:solidFill>
                      <a:prstDash val="solid"/>
                    </a:lnR>
                    <a:lnT w="12240">
                      <a:solidFill>
                        <a:srgbClr val="0F2542"/>
                      </a:solidFill>
                      <a:prstDash val="solid"/>
                    </a:lnT>
                    <a:lnB w="12240">
                      <a:solidFill>
                        <a:srgbClr val="CBCBC8"/>
                      </a:solidFill>
                      <a:prstDash val="soli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5432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BCBC8"/>
                      </a:solidFill>
                      <a:prstDash val="solid"/>
                    </a:lnL>
                    <a:lnR w="12240">
                      <a:solidFill>
                        <a:srgbClr val="CBCBC8"/>
                      </a:solidFill>
                      <a:prstDash val="solid"/>
                    </a:lnR>
                    <a:lnT w="12240">
                      <a:solidFill>
                        <a:srgbClr val="0F2542"/>
                      </a:solidFill>
                      <a:prstDash val="solid"/>
                    </a:lnT>
                    <a:lnB w="12240">
                      <a:solidFill>
                        <a:srgbClr val="CBCBC8"/>
                      </a:solidFill>
                      <a:prstDash val="soli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5441 (dev)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BCBC8"/>
                      </a:solidFill>
                      <a:prstDash val="solid"/>
                    </a:lnL>
                    <a:lnR w="12240">
                      <a:solidFill>
                        <a:srgbClr val="CBCBC8"/>
                      </a:solidFill>
                      <a:prstDash val="solid"/>
                    </a:lnR>
                    <a:lnT w="12240">
                      <a:solidFill>
                        <a:srgbClr val="0F2542"/>
                      </a:solidFill>
                      <a:prstDash val="solid"/>
                    </a:lnT>
                    <a:lnB w="12240">
                      <a:solidFill>
                        <a:srgbClr val="CBCBC8"/>
                      </a:solidFill>
                      <a:prstDash val="solid"/>
                    </a:lnB>
                    <a:solidFill>
                      <a:srgbClr val="FFFEFB"/>
                    </a:solidFill>
                  </a:tcPr>
                </a:tc>
              </a:tr>
              <a:tr h="332280"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discovery-server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BEC1C5"/>
                      </a:solidFill>
                      <a:prstDash val="solid"/>
                    </a:lnL>
                    <a:lnR w="12240">
                      <a:solidFill>
                        <a:srgbClr val="BEC1C5"/>
                      </a:solidFill>
                      <a:prstDash val="solid"/>
                    </a:lnR>
                    <a:lnT w="12240">
                      <a:solidFill>
                        <a:srgbClr val="CBCBC8"/>
                      </a:solidFill>
                      <a:prstDash val="solid"/>
                    </a:lnT>
                    <a:lnB w="12240">
                      <a:solidFill>
                        <a:srgbClr val="BEC1C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8761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BEC1C5"/>
                      </a:solidFill>
                      <a:prstDash val="solid"/>
                    </a:lnL>
                    <a:lnR w="12240">
                      <a:solidFill>
                        <a:srgbClr val="BEC1C5"/>
                      </a:solidFill>
                      <a:prstDash val="solid"/>
                    </a:lnR>
                    <a:lnT w="12240">
                      <a:solidFill>
                        <a:srgbClr val="CBCBC8"/>
                      </a:solidFill>
                      <a:prstDash val="solid"/>
                    </a:lnT>
                    <a:lnB w="12240">
                      <a:solidFill>
                        <a:srgbClr val="BEC1C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8761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BEC1C5"/>
                      </a:solidFill>
                      <a:prstDash val="solid"/>
                    </a:lnL>
                    <a:lnR w="12240">
                      <a:solidFill>
                        <a:srgbClr val="BEC1C5"/>
                      </a:solidFill>
                      <a:prstDash val="solid"/>
                    </a:lnR>
                    <a:lnT w="12240">
                      <a:solidFill>
                        <a:srgbClr val="CBCBC8"/>
                      </a:solidFill>
                      <a:prstDash val="solid"/>
                    </a:lnT>
                    <a:lnB w="12240">
                      <a:solidFill>
                        <a:srgbClr val="BEC1C5"/>
                      </a:solidFill>
                      <a:prstDash val="solid"/>
                    </a:lnB>
                    <a:noFill/>
                  </a:tcPr>
                </a:tc>
              </a:tr>
              <a:tr h="332280"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api-gateway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BEC1C5"/>
                      </a:solidFill>
                      <a:prstDash val="solid"/>
                    </a:lnL>
                    <a:lnR w="12240">
                      <a:solidFill>
                        <a:srgbClr val="CBCBC8"/>
                      </a:solidFill>
                      <a:prstDash val="solid"/>
                    </a:lnR>
                    <a:lnT w="12240">
                      <a:solidFill>
                        <a:srgbClr val="BEC1C5"/>
                      </a:solidFill>
                      <a:prstDash val="solid"/>
                    </a:lnT>
                    <a:lnB w="12240">
                      <a:solidFill>
                        <a:srgbClr val="CBCBC8"/>
                      </a:solidFill>
                      <a:prstDash val="soli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8080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BCBC8"/>
                      </a:solidFill>
                      <a:prstDash val="solid"/>
                    </a:lnL>
                    <a:lnR w="12240">
                      <a:solidFill>
                        <a:srgbClr val="CBCBC8"/>
                      </a:solidFill>
                      <a:prstDash val="solid"/>
                    </a:lnR>
                    <a:lnT w="12240">
                      <a:solidFill>
                        <a:srgbClr val="BEC1C5"/>
                      </a:solidFill>
                      <a:prstDash val="solid"/>
                    </a:lnT>
                    <a:lnB w="12240">
                      <a:solidFill>
                        <a:srgbClr val="CBCBC8"/>
                      </a:solidFill>
                      <a:prstDash val="soli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8080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BCBC8"/>
                      </a:solidFill>
                      <a:prstDash val="solid"/>
                    </a:lnL>
                    <a:lnR w="12240">
                      <a:solidFill>
                        <a:srgbClr val="CBCBC8"/>
                      </a:solidFill>
                      <a:prstDash val="solid"/>
                    </a:lnR>
                    <a:lnT w="12240">
                      <a:solidFill>
                        <a:srgbClr val="BEC1C5"/>
                      </a:solidFill>
                      <a:prstDash val="solid"/>
                    </a:lnT>
                    <a:lnB w="12240">
                      <a:solidFill>
                        <a:srgbClr val="CBCBC8"/>
                      </a:solidFill>
                      <a:prstDash val="solid"/>
                    </a:lnB>
                    <a:solidFill>
                      <a:srgbClr val="FFFEFB"/>
                    </a:solidFill>
                  </a:tcPr>
                </a:tc>
              </a:tr>
              <a:tr h="332280"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ms-usuarios … ms-apuestas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BEC1C5"/>
                      </a:solidFill>
                      <a:prstDash val="solid"/>
                    </a:lnL>
                    <a:lnR w="12240">
                      <a:solidFill>
                        <a:srgbClr val="BEC1C5"/>
                      </a:solidFill>
                      <a:prstDash val="solid"/>
                    </a:lnR>
                    <a:lnT w="12240">
                      <a:solidFill>
                        <a:srgbClr val="CBCBC8"/>
                      </a:solidFill>
                      <a:prstDash val="solid"/>
                    </a:lnT>
                    <a:lnB w="12240">
                      <a:solidFill>
                        <a:srgbClr val="BEC1C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8081 – 8087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BEC1C5"/>
                      </a:solidFill>
                      <a:prstDash val="solid"/>
                    </a:lnL>
                    <a:lnR w="12240">
                      <a:solidFill>
                        <a:srgbClr val="BEC1C5"/>
                      </a:solidFill>
                      <a:prstDash val="solid"/>
                    </a:lnR>
                    <a:lnT w="12240">
                      <a:solidFill>
                        <a:srgbClr val="CBCBC8"/>
                      </a:solidFill>
                      <a:prstDash val="solid"/>
                    </a:lnT>
                    <a:lnB w="12240">
                      <a:solidFill>
                        <a:srgbClr val="BEC1C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—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BEC1C5"/>
                      </a:solidFill>
                      <a:prstDash val="solid"/>
                    </a:lnL>
                    <a:lnR w="12240">
                      <a:solidFill>
                        <a:srgbClr val="BEC1C5"/>
                      </a:solidFill>
                      <a:prstDash val="solid"/>
                    </a:lnR>
                    <a:lnT w="12240">
                      <a:solidFill>
                        <a:srgbClr val="CBCBC8"/>
                      </a:solidFill>
                      <a:prstDash val="solid"/>
                    </a:lnT>
                    <a:lnB w="12240">
                      <a:solidFill>
                        <a:srgbClr val="BEC1C5"/>
                      </a:solidFill>
                      <a:prstDash val="solid"/>
                    </a:lnB>
                    <a:noFill/>
                  </a:tcPr>
                </a:tc>
              </a:tr>
              <a:tr h="332280"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web-app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BEC1C5"/>
                      </a:solidFill>
                      <a:prstDash val="solid"/>
                    </a:lnL>
                    <a:lnR w="12240">
                      <a:solidFill>
                        <a:srgbClr val="CBCBC8"/>
                      </a:solidFill>
                      <a:prstDash val="solid"/>
                    </a:lnR>
                    <a:lnT w="12240">
                      <a:solidFill>
                        <a:srgbClr val="BEC1C5"/>
                      </a:solidFill>
                      <a:prstDash val="solid"/>
                    </a:lnT>
                    <a:lnB w="12240">
                      <a:solidFill>
                        <a:srgbClr val="CBCBC8"/>
                      </a:solidFill>
                      <a:prstDash val="soli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8090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BCBC8"/>
                      </a:solidFill>
                      <a:prstDash val="solid"/>
                    </a:lnL>
                    <a:lnR w="12240">
                      <a:solidFill>
                        <a:srgbClr val="CBCBC8"/>
                      </a:solidFill>
                      <a:prstDash val="solid"/>
                    </a:lnR>
                    <a:lnT w="12240">
                      <a:solidFill>
                        <a:srgbClr val="BEC1C5"/>
                      </a:solidFill>
                      <a:prstDash val="solid"/>
                    </a:lnT>
                    <a:lnB w="12240">
                      <a:solidFill>
                        <a:srgbClr val="CBCBC8"/>
                      </a:solidFill>
                      <a:prstDash val="soli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8090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BCBC8"/>
                      </a:solidFill>
                      <a:prstDash val="solid"/>
                    </a:lnL>
                    <a:lnR w="12240">
                      <a:solidFill>
                        <a:srgbClr val="CBCBC8"/>
                      </a:solidFill>
                      <a:prstDash val="solid"/>
                    </a:lnR>
                    <a:lnT w="12240">
                      <a:solidFill>
                        <a:srgbClr val="BEC1C5"/>
                      </a:solidFill>
                      <a:prstDash val="solid"/>
                    </a:lnT>
                    <a:lnB w="12240">
                      <a:solidFill>
                        <a:srgbClr val="CBCBC8"/>
                      </a:solidFill>
                      <a:prstDash val="solid"/>
                    </a:lnB>
                    <a:solidFill>
                      <a:srgbClr val="FFFEFB"/>
                    </a:solidFill>
                  </a:tcPr>
                </a:tc>
              </a:tr>
            </a:tbl>
          </a:graphicData>
        </a:graphic>
      </p:graphicFrame>
      <p:sp>
        <p:nvSpPr>
          <p:cNvPr id="335" name="Shape 4"/>
          <p:cNvSpPr/>
          <p:nvPr/>
        </p:nvSpPr>
        <p:spPr>
          <a:xfrm>
            <a:off x="6937200" y="816120"/>
            <a:ext cx="4438440" cy="5022360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P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6" name="Image 0" descr="Topología de despliegue: navegador, host con Docker, red apuestas-net con web-app, api-gateway, discovery-server, 7 microservicios y postgres, y football-data.co.uk afuera"/>
          <p:cNvPicPr/>
          <p:nvPr/>
        </p:nvPicPr>
        <p:blipFill>
          <a:blip r:embed="rId1"/>
          <a:srcRect l="0" t="-1874" r="0" b="-1874"/>
          <a:stretch/>
        </p:blipFill>
        <p:spPr>
          <a:xfrm>
            <a:off x="7067520" y="946080"/>
            <a:ext cx="4190760" cy="4762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7" name="Text 5"/>
          <p:cNvSpPr/>
          <p:nvPr/>
        </p:nvSpPr>
        <p:spPr>
          <a:xfrm>
            <a:off x="812880" y="6289200"/>
            <a:ext cx="44103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F6878"/>
                </a:solidFill>
                <a:effectLst/>
                <a:uFillTx/>
                <a:latin typeface="Public Sans"/>
                <a:ea typeface="Public Sans"/>
              </a:rPr>
              <a:t>Analizador de apuestas de fútbol con microservicios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 6"/>
          <p:cNvSpPr/>
          <p:nvPr/>
        </p:nvSpPr>
        <p:spPr>
          <a:xfrm>
            <a:off x="11167560" y="6289200"/>
            <a:ext cx="21132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r"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F6878"/>
                </a:solidFill>
                <a:effectLst/>
                <a:uFillTx/>
                <a:latin typeface="Public Sans"/>
                <a:ea typeface="Public Sans"/>
              </a:rPr>
              <a:t>18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Shape 0"/>
          <p:cNvSpPr/>
          <p:nvPr/>
        </p:nvSpPr>
        <p:spPr>
          <a:xfrm>
            <a:off x="0" y="0"/>
            <a:ext cx="151920" cy="6857640"/>
          </a:xfrm>
          <a:prstGeom prst="rect">
            <a:avLst/>
          </a:prstGeom>
          <a:solidFill>
            <a:srgbClr val="0E2A4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P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 1"/>
          <p:cNvSpPr/>
          <p:nvPr/>
        </p:nvSpPr>
        <p:spPr>
          <a:xfrm>
            <a:off x="812880" y="812880"/>
            <a:ext cx="463032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1" u="none" spc="99" strike="noStrike">
                <a:solidFill>
                  <a:srgbClr val="8A6410"/>
                </a:solidFill>
                <a:effectLst/>
                <a:uFillTx/>
                <a:latin typeface="Public Sans"/>
                <a:ea typeface="Public Sans"/>
              </a:rPr>
              <a:t>6 · DISEÑO DE BASE DE DATOS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PlaceHolder 1"/>
          <p:cNvSpPr>
            <a:spLocks noGrp="1"/>
          </p:cNvSpPr>
          <p:nvPr>
            <p:ph type="title"/>
          </p:nvPr>
        </p:nvSpPr>
        <p:spPr>
          <a:xfrm>
            <a:off x="812880" y="1102320"/>
            <a:ext cx="4630320" cy="842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220"/>
              </a:lnSpc>
              <a:buNone/>
              <a:tabLst>
                <a:tab pos="0" algn="l"/>
              </a:tabLst>
            </a:pPr>
            <a:r>
              <a:rPr lang="en-US" sz="2800" b="1" u="none" strike="noStrike">
                <a:solidFill>
                  <a:srgbClr val="0E2A4F"/>
                </a:solidFill>
                <a:effectLst/>
                <a:uFillTx/>
                <a:latin typeface="Libre Baskerville"/>
                <a:ea typeface="Libre Baskerville"/>
              </a:rPr>
              <a:t>6 bases de datos, una por servicio</a:t>
            </a:r>
            <a:endParaRPr lang="es-PE" sz="2800" b="0" u="none" strike="noStrike">
              <a:solidFill>
                <a:schemeClr val="dk1"/>
              </a:solidFill>
              <a:effectLst/>
              <a:uFillTx/>
              <a:latin typeface="Public Sans"/>
            </a:endParaRPr>
          </a:p>
        </p:txBody>
      </p:sp>
      <p:sp>
        <p:nvSpPr>
          <p:cNvPr id="342" name="Shape 3"/>
          <p:cNvSpPr/>
          <p:nvPr/>
        </p:nvSpPr>
        <p:spPr>
          <a:xfrm>
            <a:off x="812880" y="2123280"/>
            <a:ext cx="4495320" cy="769320"/>
          </a:xfrm>
          <a:prstGeom prst="rect">
            <a:avLst/>
          </a:prstGeom>
          <a:solidFill>
            <a:srgbClr val="EEF2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P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Shape 4"/>
          <p:cNvSpPr/>
          <p:nvPr/>
        </p:nvSpPr>
        <p:spPr>
          <a:xfrm>
            <a:off x="831600" y="2123280"/>
            <a:ext cx="360" cy="769320"/>
          </a:xfrm>
          <a:prstGeom prst="line">
            <a:avLst/>
          </a:prstGeom>
          <a:ln w="38100">
            <a:solidFill>
              <a:srgbClr val="0E2A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pPr/>
            <a:endParaRPr lang="es-P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 5"/>
          <p:cNvSpPr/>
          <p:nvPr/>
        </p:nvSpPr>
        <p:spPr>
          <a:xfrm>
            <a:off x="1028880" y="2275560"/>
            <a:ext cx="42249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E2A4F"/>
                </a:solidFill>
                <a:effectLst/>
                <a:uFillTx/>
                <a:latin typeface="Public Sans"/>
                <a:ea typeface="Public Sans"/>
              </a:rPr>
              <a:t>Prefijo de 3 letras</a:t>
            </a:r>
            <a:endParaRPr lang="es-P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 6"/>
          <p:cNvSpPr/>
          <p:nvPr/>
        </p:nvSpPr>
        <p:spPr>
          <a:xfrm>
            <a:off x="1028880" y="2527200"/>
            <a:ext cx="427968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E4A5C"/>
                </a:solidFill>
                <a:effectLst/>
                <a:uFillTx/>
                <a:latin typeface="Public Sans"/>
                <a:ea typeface="Public Sans"/>
              </a:rPr>
              <a:t>Como pide la cátedra: ParIdPartido, CuoValor, PicCuota…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Shape 7"/>
          <p:cNvSpPr/>
          <p:nvPr/>
        </p:nvSpPr>
        <p:spPr>
          <a:xfrm>
            <a:off x="812880" y="3096000"/>
            <a:ext cx="4495320" cy="769320"/>
          </a:xfrm>
          <a:prstGeom prst="rect">
            <a:avLst/>
          </a:prstGeom>
          <a:solidFill>
            <a:srgbClr val="EEF2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P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Shape 8"/>
          <p:cNvSpPr/>
          <p:nvPr/>
        </p:nvSpPr>
        <p:spPr>
          <a:xfrm>
            <a:off x="831600" y="3096000"/>
            <a:ext cx="360" cy="769320"/>
          </a:xfrm>
          <a:prstGeom prst="line">
            <a:avLst/>
          </a:prstGeom>
          <a:ln w="38100">
            <a:solidFill>
              <a:srgbClr val="0E2A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pPr/>
            <a:endParaRPr lang="es-P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 9"/>
          <p:cNvSpPr/>
          <p:nvPr/>
        </p:nvSpPr>
        <p:spPr>
          <a:xfrm>
            <a:off x="1028880" y="3248280"/>
            <a:ext cx="42249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E2A4F"/>
                </a:solidFill>
                <a:effectLst/>
                <a:uFillTx/>
                <a:latin typeface="Public Sans"/>
                <a:ea typeface="Public Sans"/>
              </a:rPr>
              <a:t>Sin llaves foráneas entre BD</a:t>
            </a:r>
            <a:endParaRPr lang="es-P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 10"/>
          <p:cNvSpPr/>
          <p:nvPr/>
        </p:nvSpPr>
        <p:spPr>
          <a:xfrm>
            <a:off x="1028880" y="3499920"/>
            <a:ext cx="42249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E4A5C"/>
                </a:solidFill>
                <a:effectLst/>
                <a:uFillTx/>
                <a:latin typeface="Public Sans"/>
                <a:ea typeface="Public Sans"/>
              </a:rPr>
              <a:t>Los IDs de otro servicio se guardan como números.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Shape 11"/>
          <p:cNvSpPr/>
          <p:nvPr/>
        </p:nvSpPr>
        <p:spPr>
          <a:xfrm>
            <a:off x="812880" y="4068720"/>
            <a:ext cx="4495320" cy="982440"/>
          </a:xfrm>
          <a:prstGeom prst="rect">
            <a:avLst/>
          </a:prstGeom>
          <a:solidFill>
            <a:srgbClr val="EEF2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P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Shape 12"/>
          <p:cNvSpPr/>
          <p:nvPr/>
        </p:nvSpPr>
        <p:spPr>
          <a:xfrm>
            <a:off x="831600" y="4068720"/>
            <a:ext cx="360" cy="982800"/>
          </a:xfrm>
          <a:prstGeom prst="line">
            <a:avLst/>
          </a:prstGeom>
          <a:ln w="38100">
            <a:solidFill>
              <a:srgbClr val="C997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pPr/>
            <a:endParaRPr lang="es-P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 13"/>
          <p:cNvSpPr/>
          <p:nvPr/>
        </p:nvSpPr>
        <p:spPr>
          <a:xfrm>
            <a:off x="1028880" y="4221000"/>
            <a:ext cx="42249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E2A4F"/>
                </a:solidFill>
                <a:effectLst/>
                <a:uFillTx/>
                <a:latin typeface="Public Sans"/>
                <a:ea typeface="Public Sans"/>
              </a:rPr>
              <a:t>Desnormalización aceptada</a:t>
            </a:r>
            <a:endParaRPr lang="es-P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 14"/>
          <p:cNvSpPr/>
          <p:nvPr/>
        </p:nvSpPr>
        <p:spPr>
          <a:xfrm>
            <a:off x="1028880" y="4472640"/>
            <a:ext cx="4224960" cy="45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E4A5C"/>
                </a:solidFill>
                <a:effectLst/>
                <a:uFillTx/>
                <a:latin typeface="Public Sans"/>
                <a:ea typeface="Public Sans"/>
              </a:rPr>
              <a:t>Pick y apuesta copian “Arsenal vs Chelsea” para no llamar al catálogo por cada fila.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Shape 15"/>
          <p:cNvSpPr/>
          <p:nvPr/>
        </p:nvSpPr>
        <p:spPr>
          <a:xfrm>
            <a:off x="5667480" y="816120"/>
            <a:ext cx="5708160" cy="5022360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P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5" name="Image 0" descr="Diseño lógico de las 6 bases de datos: catalogo_db, apuestas_db, estadisticas_db, cuotas_db, usuarios_db e ingesta_db"/>
          <p:cNvPicPr/>
          <p:nvPr/>
        </p:nvPicPr>
        <p:blipFill>
          <a:blip r:embed="rId1"/>
          <a:srcRect l="0" t="-1939" r="0" b="-1939"/>
          <a:stretch/>
        </p:blipFill>
        <p:spPr>
          <a:xfrm>
            <a:off x="5797440" y="946080"/>
            <a:ext cx="5460480" cy="4762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6" name="Text 16"/>
          <p:cNvSpPr/>
          <p:nvPr/>
        </p:nvSpPr>
        <p:spPr>
          <a:xfrm>
            <a:off x="812880" y="6289200"/>
            <a:ext cx="44103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F6878"/>
                </a:solidFill>
                <a:effectLst/>
                <a:uFillTx/>
                <a:latin typeface="Public Sans"/>
                <a:ea typeface="Public Sans"/>
              </a:rPr>
              <a:t>Analizador de apuestas de fútbol con microservicios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 17"/>
          <p:cNvSpPr/>
          <p:nvPr/>
        </p:nvSpPr>
        <p:spPr>
          <a:xfrm>
            <a:off x="11171160" y="6289200"/>
            <a:ext cx="20772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r"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F6878"/>
                </a:solidFill>
                <a:effectLst/>
                <a:uFillTx/>
                <a:latin typeface="Public Sans"/>
                <a:ea typeface="Public Sans"/>
              </a:rPr>
              <a:t>19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Shape 0"/>
          <p:cNvSpPr/>
          <p:nvPr/>
        </p:nvSpPr>
        <p:spPr>
          <a:xfrm>
            <a:off x="0" y="0"/>
            <a:ext cx="151920" cy="6857640"/>
          </a:xfrm>
          <a:prstGeom prst="rect">
            <a:avLst/>
          </a:prstGeom>
          <a:solidFill>
            <a:srgbClr val="0E2A4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P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9" name="Text 1"/>
          <p:cNvSpPr/>
          <p:nvPr/>
        </p:nvSpPr>
        <p:spPr>
          <a:xfrm>
            <a:off x="812880" y="812880"/>
            <a:ext cx="108831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1" u="none" spc="99" strike="noStrike">
                <a:solidFill>
                  <a:srgbClr val="8A6410"/>
                </a:solidFill>
                <a:effectLst/>
                <a:uFillTx/>
                <a:latin typeface="Public Sans"/>
                <a:ea typeface="Public Sans"/>
              </a:rPr>
              <a:t>7 · DESARROLLO: PLAN DE LA SEMANA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PlaceHolder 1"/>
          <p:cNvSpPr>
            <a:spLocks noGrp="1"/>
          </p:cNvSpPr>
          <p:nvPr>
            <p:ph type="title"/>
          </p:nvPr>
        </p:nvSpPr>
        <p:spPr>
          <a:xfrm>
            <a:off x="812880" y="1102320"/>
            <a:ext cx="10883160" cy="43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220"/>
              </a:lnSpc>
              <a:buNone/>
              <a:tabLst>
                <a:tab pos="0" algn="l"/>
              </a:tabLst>
            </a:pPr>
            <a:r>
              <a:rPr lang="en-US" sz="2800" b="1" u="none" strike="noStrike">
                <a:solidFill>
                  <a:srgbClr val="0E2A4F"/>
                </a:solidFill>
                <a:effectLst/>
                <a:uFillTx/>
                <a:latin typeface="Libre Baskerville"/>
                <a:ea typeface="Libre Baskerville"/>
              </a:rPr>
              <a:t>Siete días, tres frentes en paralelo</a:t>
            </a:r>
            <a:endParaRPr lang="es-PE" sz="2800" b="0" u="none" strike="noStrike">
              <a:solidFill>
                <a:schemeClr val="dk1"/>
              </a:solidFill>
              <a:effectLst/>
              <a:uFillTx/>
              <a:latin typeface="Public Sans"/>
            </a:endParaRPr>
          </a:p>
        </p:txBody>
      </p:sp>
      <p:graphicFrame>
        <p:nvGraphicFramePr>
          <p:cNvPr id="361" name="Table 0"/>
          <p:cNvGraphicFramePr/>
          <p:nvPr/>
        </p:nvGraphicFramePr>
        <p:xfrm>
          <a:off x="825480" y="1752480"/>
          <a:ext cx="10553400" cy="2660400"/>
        </p:xfrm>
        <a:graphic>
          <a:graphicData uri="http://schemas.openxmlformats.org/drawingml/2006/table">
            <a:tbl>
              <a:tblPr/>
              <a:tblGrid>
                <a:gridCol w="1055160"/>
                <a:gridCol w="3165840"/>
                <a:gridCol w="3165840"/>
                <a:gridCol w="3165840"/>
              </a:tblGrid>
              <a:tr h="332280"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BFAF6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Día</a:t>
                      </a:r>
                      <a:endParaRPr lang="es-PE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8C7C4"/>
                      </a:solidFill>
                      <a:prstDash val="solid"/>
                    </a:lnL>
                    <a:lnR w="12240">
                      <a:solidFill>
                        <a:srgbClr val="0F2542"/>
                      </a:solidFill>
                      <a:prstDash val="solid"/>
                    </a:lnR>
                    <a:lnT w="12240">
                      <a:solidFill>
                        <a:srgbClr val="C8C7C4"/>
                      </a:solidFill>
                      <a:prstDash val="solid"/>
                    </a:lnT>
                    <a:lnB w="12240">
                      <a:solidFill>
                        <a:srgbClr val="0F2542"/>
                      </a:solidFill>
                      <a:prstDash val="solid"/>
                    </a:lnB>
                    <a:solidFill>
                      <a:srgbClr val="0E2A4F"/>
                    </a:solidFill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BFAF6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Marquina · Datos</a:t>
                      </a:r>
                      <a:endParaRPr lang="es-PE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0F2542"/>
                      </a:solidFill>
                      <a:prstDash val="solid"/>
                    </a:lnL>
                    <a:lnR w="12240">
                      <a:solidFill>
                        <a:srgbClr val="0F2542"/>
                      </a:solidFill>
                      <a:prstDash val="solid"/>
                    </a:lnR>
                    <a:lnT w="12240">
                      <a:solidFill>
                        <a:srgbClr val="C8C7C4"/>
                      </a:solidFill>
                      <a:prstDash val="solid"/>
                    </a:lnT>
                    <a:lnB w="12240">
                      <a:solidFill>
                        <a:srgbClr val="0F2542"/>
                      </a:solidFill>
                      <a:prstDash val="solid"/>
                    </a:lnB>
                    <a:solidFill>
                      <a:srgbClr val="0E2A4F"/>
                    </a:solidFill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BFAF6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Lima · Modelo y valor</a:t>
                      </a:r>
                      <a:endParaRPr lang="es-PE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0F2542"/>
                      </a:solidFill>
                      <a:prstDash val="solid"/>
                    </a:lnL>
                    <a:lnR w="12240">
                      <a:solidFill>
                        <a:srgbClr val="0F2542"/>
                      </a:solidFill>
                      <a:prstDash val="solid"/>
                    </a:lnR>
                    <a:lnT w="12240">
                      <a:solidFill>
                        <a:srgbClr val="C8C7C4"/>
                      </a:solidFill>
                      <a:prstDash val="solid"/>
                    </a:lnT>
                    <a:lnB w="12240">
                      <a:solidFill>
                        <a:srgbClr val="0F2542"/>
                      </a:solidFill>
                      <a:prstDash val="solid"/>
                    </a:lnB>
                    <a:solidFill>
                      <a:srgbClr val="0E2A4F"/>
                    </a:solidFill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BFAF6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Tenazoa · Plataforma</a:t>
                      </a:r>
                      <a:endParaRPr lang="es-PE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0F2542"/>
                      </a:solidFill>
                      <a:prstDash val="solid"/>
                    </a:lnL>
                    <a:lnR w="12240">
                      <a:solidFill>
                        <a:srgbClr val="0F2542"/>
                      </a:solidFill>
                      <a:prstDash val="solid"/>
                    </a:lnR>
                    <a:lnT w="12240">
                      <a:solidFill>
                        <a:srgbClr val="C8C7C4"/>
                      </a:solidFill>
                      <a:prstDash val="solid"/>
                    </a:lnT>
                    <a:lnB w="12240">
                      <a:solidFill>
                        <a:srgbClr val="0F2542"/>
                      </a:solidFill>
                      <a:prstDash val="solid"/>
                    </a:lnB>
                    <a:solidFill>
                      <a:srgbClr val="0E2A4F"/>
                    </a:solidFill>
                  </a:tcPr>
                </a:tc>
              </a:tr>
              <a:tr h="332280"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Mar 20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8C7C4"/>
                      </a:solidFill>
                      <a:prstDash val="solid"/>
                    </a:lnL>
                    <a:lnR w="12240">
                      <a:solidFill>
                        <a:srgbClr val="C8C7C4"/>
                      </a:solidFill>
                      <a:prstDash val="solid"/>
                    </a:lnR>
                    <a:lnT w="12240">
                      <a:solidFill>
                        <a:srgbClr val="0F2542"/>
                      </a:solidFill>
                      <a:prstDash val="solid"/>
                    </a:lnT>
                    <a:lnB w="12240">
                      <a:solidFill>
                        <a:srgbClr val="C8C7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Crear sus 3 servicios en Eureka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8C7C4"/>
                      </a:solidFill>
                      <a:prstDash val="solid"/>
                    </a:lnL>
                    <a:lnR w="12240">
                      <a:solidFill>
                        <a:srgbClr val="C8C7C4"/>
                      </a:solidFill>
                      <a:prstDash val="solid"/>
                    </a:lnR>
                    <a:lnT w="12240">
                      <a:solidFill>
                        <a:srgbClr val="0F2542"/>
                      </a:solidFill>
                      <a:prstDash val="solid"/>
                    </a:lnT>
                    <a:lnB w="12240">
                      <a:solidFill>
                        <a:srgbClr val="C8C7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Crear sus 3 servicios y mocks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8C7C4"/>
                      </a:solidFill>
                      <a:prstDash val="solid"/>
                    </a:lnL>
                    <a:lnR w="12240">
                      <a:solidFill>
                        <a:srgbClr val="C8C7C4"/>
                      </a:solidFill>
                      <a:prstDash val="solid"/>
                    </a:lnR>
                    <a:lnT w="12240">
                      <a:solidFill>
                        <a:srgbClr val="0F2542"/>
                      </a:solidFill>
                      <a:prstDash val="solid"/>
                    </a:lnT>
                    <a:lnB w="12240">
                      <a:solidFill>
                        <a:srgbClr val="C8C7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discovery-server y gateway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8C7C4"/>
                      </a:solidFill>
                      <a:prstDash val="solid"/>
                    </a:lnL>
                    <a:lnR w="12240">
                      <a:solidFill>
                        <a:srgbClr val="C8C7C4"/>
                      </a:solidFill>
                      <a:prstDash val="solid"/>
                    </a:lnR>
                    <a:lnT w="12240">
                      <a:solidFill>
                        <a:srgbClr val="0F2542"/>
                      </a:solidFill>
                      <a:prstDash val="solid"/>
                    </a:lnT>
                    <a:lnB w="12240">
                      <a:solidFill>
                        <a:srgbClr val="C8C7C4"/>
                      </a:solidFill>
                      <a:prstDash val="solid"/>
                    </a:lnB>
                    <a:noFill/>
                  </a:tcPr>
                </a:tc>
              </a:tr>
              <a:tr h="332280"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Mié 21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8C7C4"/>
                      </a:solidFill>
                      <a:prstDash val="solid"/>
                    </a:lnL>
                    <a:lnR w="12240">
                      <a:solidFill>
                        <a:srgbClr val="BEC1C5"/>
                      </a:solidFill>
                      <a:prstDash val="solid"/>
                    </a:lnR>
                    <a:lnT w="12240">
                      <a:solidFill>
                        <a:srgbClr val="C8C7C4"/>
                      </a:solidFill>
                      <a:prstDash val="solid"/>
                    </a:lnT>
                    <a:lnB w="12240">
                      <a:solidFill>
                        <a:srgbClr val="BEC1C5"/>
                      </a:solidFill>
                      <a:prstDash val="soli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Catálogo y lectura del CSV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BEC1C5"/>
                      </a:solidFill>
                      <a:prstDash val="solid"/>
                    </a:lnL>
                    <a:lnR w="12240">
                      <a:solidFill>
                        <a:srgbClr val="BEC1C5"/>
                      </a:solidFill>
                      <a:prstDash val="solid"/>
                    </a:lnR>
                    <a:lnT w="12240">
                      <a:solidFill>
                        <a:srgbClr val="C8C7C4"/>
                      </a:solidFill>
                      <a:prstDash val="solid"/>
                    </a:lnT>
                    <a:lnB w="12240">
                      <a:solidFill>
                        <a:srgbClr val="BEC1C5"/>
                      </a:solidFill>
                      <a:prstDash val="soli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ms-cuotas completo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BEC1C5"/>
                      </a:solidFill>
                      <a:prstDash val="solid"/>
                    </a:lnL>
                    <a:lnR w="12240">
                      <a:solidFill>
                        <a:srgbClr val="BEC1C5"/>
                      </a:solidFill>
                      <a:prstDash val="solid"/>
                    </a:lnR>
                    <a:lnT w="12240">
                      <a:solidFill>
                        <a:srgbClr val="C8C7C4"/>
                      </a:solidFill>
                      <a:prstDash val="solid"/>
                    </a:lnT>
                    <a:lnB w="12240">
                      <a:solidFill>
                        <a:srgbClr val="BEC1C5"/>
                      </a:solidFill>
                      <a:prstDash val="soli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Registro y login con JWT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BEC1C5"/>
                      </a:solidFill>
                      <a:prstDash val="solid"/>
                    </a:lnL>
                    <a:lnR w="12240">
                      <a:solidFill>
                        <a:srgbClr val="BEC1C5"/>
                      </a:solidFill>
                      <a:prstDash val="solid"/>
                    </a:lnR>
                    <a:lnT w="12240">
                      <a:solidFill>
                        <a:srgbClr val="C8C7C4"/>
                      </a:solidFill>
                      <a:prstDash val="solid"/>
                    </a:lnT>
                    <a:lnB w="12240">
                      <a:solidFill>
                        <a:srgbClr val="BEC1C5"/>
                      </a:solidFill>
                      <a:prstDash val="solid"/>
                    </a:lnB>
                    <a:solidFill>
                      <a:srgbClr val="EEF2F7"/>
                    </a:solidFill>
                  </a:tcPr>
                </a:tc>
              </a:tr>
              <a:tr h="332280"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Jue 22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8C7C4"/>
                      </a:solidFill>
                      <a:prstDash val="solid"/>
                    </a:lnL>
                    <a:lnR w="12240">
                      <a:solidFill>
                        <a:srgbClr val="C8C7C4"/>
                      </a:solidFill>
                      <a:prstDash val="solid"/>
                    </a:lnR>
                    <a:lnT w="12240">
                      <a:solidFill>
                        <a:srgbClr val="BEC1C5"/>
                      </a:solidFill>
                      <a:prstDash val="solid"/>
                    </a:lnT>
                    <a:lnB w="12240">
                      <a:solidFill>
                        <a:srgbClr val="C8C7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Ingesta por Feign; estadísticas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8C7C4"/>
                      </a:solidFill>
                      <a:prstDash val="solid"/>
                    </a:lnL>
                    <a:lnR w="12240">
                      <a:solidFill>
                        <a:srgbClr val="C8C7C4"/>
                      </a:solidFill>
                      <a:prstDash val="solid"/>
                    </a:lnR>
                    <a:lnT w="12240">
                      <a:solidFill>
                        <a:srgbClr val="BEC1C5"/>
                      </a:solidFill>
                      <a:prstDash val="solid"/>
                    </a:lnT>
                    <a:lnB w="12240">
                      <a:solidFill>
                        <a:srgbClr val="C8C7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Poisson: 1X2, goles, ambos marcan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8C7C4"/>
                      </a:solidFill>
                      <a:prstDash val="solid"/>
                    </a:lnL>
                    <a:lnR w="12240">
                      <a:solidFill>
                        <a:srgbClr val="C8C7C4"/>
                      </a:solidFill>
                      <a:prstDash val="solid"/>
                    </a:lnR>
                    <a:lnT w="12240">
                      <a:solidFill>
                        <a:srgbClr val="BEC1C5"/>
                      </a:solidFill>
                      <a:prstDash val="solid"/>
                    </a:lnT>
                    <a:lnB w="12240">
                      <a:solidFill>
                        <a:srgbClr val="C8C7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Filtro JWT; login en la web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8C7C4"/>
                      </a:solidFill>
                      <a:prstDash val="solid"/>
                    </a:lnL>
                    <a:lnR w="12240">
                      <a:solidFill>
                        <a:srgbClr val="C8C7C4"/>
                      </a:solidFill>
                      <a:prstDash val="solid"/>
                    </a:lnR>
                    <a:lnT w="12240">
                      <a:solidFill>
                        <a:srgbClr val="BEC1C5"/>
                      </a:solidFill>
                      <a:prstDash val="solid"/>
                    </a:lnT>
                    <a:lnB w="12240">
                      <a:solidFill>
                        <a:srgbClr val="C8C7C4"/>
                      </a:solidFill>
                      <a:prstDash val="solid"/>
                    </a:lnB>
                    <a:noFill/>
                  </a:tcPr>
                </a:tc>
              </a:tr>
              <a:tr h="332280"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Vie 23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8C7C4"/>
                      </a:solidFill>
                      <a:prstDash val="solid"/>
                    </a:lnL>
                    <a:lnR w="12240">
                      <a:solidFill>
                        <a:srgbClr val="BEC1C5"/>
                      </a:solidFill>
                      <a:prstDash val="solid"/>
                    </a:lnR>
                    <a:lnT w="12240">
                      <a:solidFill>
                        <a:srgbClr val="C8C7C4"/>
                      </a:solidFill>
                      <a:prstDash val="solid"/>
                    </a:lnT>
                    <a:lnB w="12240">
                      <a:solidFill>
                        <a:srgbClr val="BEC1C5"/>
                      </a:solidFill>
                      <a:prstDash val="soli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Promedios y perfil de árbitro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BEC1C5"/>
                      </a:solidFill>
                      <a:prstDash val="solid"/>
                    </a:lnL>
                    <a:lnR w="12240">
                      <a:solidFill>
                        <a:srgbClr val="BEC1C5"/>
                      </a:solidFill>
                      <a:prstDash val="solid"/>
                    </a:lnR>
                    <a:lnT w="12240">
                      <a:solidFill>
                        <a:srgbClr val="C8C7C4"/>
                      </a:solidFill>
                      <a:prstDash val="solid"/>
                    </a:lnT>
                    <a:lnB w="12240">
                      <a:solidFill>
                        <a:srgbClr val="BEC1C5"/>
                      </a:solidFill>
                      <a:prstDash val="soli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Tarjetas, córners y evaluaciones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BEC1C5"/>
                      </a:solidFill>
                      <a:prstDash val="solid"/>
                    </a:lnL>
                    <a:lnR w="12240">
                      <a:solidFill>
                        <a:srgbClr val="BEC1C5"/>
                      </a:solidFill>
                      <a:prstDash val="solid"/>
                    </a:lnR>
                    <a:lnT w="12240">
                      <a:solidFill>
                        <a:srgbClr val="C8C7C4"/>
                      </a:solidFill>
                      <a:prstDash val="solid"/>
                    </a:lnT>
                    <a:lnB w="12240">
                      <a:solidFill>
                        <a:srgbClr val="BEC1C5"/>
                      </a:solidFill>
                      <a:prstDash val="soli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Partidos y análisis en la web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BEC1C5"/>
                      </a:solidFill>
                      <a:prstDash val="solid"/>
                    </a:lnL>
                    <a:lnR w="12240">
                      <a:solidFill>
                        <a:srgbClr val="BEC1C5"/>
                      </a:solidFill>
                      <a:prstDash val="solid"/>
                    </a:lnR>
                    <a:lnT w="12240">
                      <a:solidFill>
                        <a:srgbClr val="C8C7C4"/>
                      </a:solidFill>
                      <a:prstDash val="solid"/>
                    </a:lnT>
                    <a:lnB w="12240">
                      <a:solidFill>
                        <a:srgbClr val="BEC1C5"/>
                      </a:solidFill>
                      <a:prstDash val="solid"/>
                    </a:lnB>
                    <a:solidFill>
                      <a:srgbClr val="EEF2F7"/>
                    </a:solidFill>
                  </a:tcPr>
                </a:tc>
              </a:tr>
              <a:tr h="332280"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Sáb 24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8C7C4"/>
                      </a:solidFill>
                      <a:prstDash val="solid"/>
                    </a:lnL>
                    <a:lnR w="12240">
                      <a:solidFill>
                        <a:srgbClr val="C8C7C4"/>
                      </a:solidFill>
                      <a:prstDash val="solid"/>
                    </a:lnR>
                    <a:lnT w="12240">
                      <a:solidFill>
                        <a:srgbClr val="BEC1C5"/>
                      </a:solidFill>
                      <a:prstDash val="solid"/>
                    </a:lnT>
                    <a:lnB w="12240">
                      <a:solidFill>
                        <a:srgbClr val="C8C7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@Scheduled, historial y pruebas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8C7C4"/>
                      </a:solidFill>
                      <a:prstDash val="solid"/>
                    </a:lnL>
                    <a:lnR w="12240">
                      <a:solidFill>
                        <a:srgbClr val="C8C7C4"/>
                      </a:solidFill>
                      <a:prstDash val="solid"/>
                    </a:lnR>
                    <a:lnT w="12240">
                      <a:solidFill>
                        <a:srgbClr val="BEC1C5"/>
                      </a:solidFill>
                      <a:prstDash val="solid"/>
                    </a:lnT>
                    <a:lnB w="12240">
                      <a:solidFill>
                        <a:srgbClr val="C8C7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Apuesta del día, ROI y pruebas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8C7C4"/>
                      </a:solidFill>
                      <a:prstDash val="solid"/>
                    </a:lnL>
                    <a:lnR w="12240">
                      <a:solidFill>
                        <a:srgbClr val="C8C7C4"/>
                      </a:solidFill>
                      <a:prstDash val="solid"/>
                    </a:lnR>
                    <a:lnT w="12240">
                      <a:solidFill>
                        <a:srgbClr val="BEC1C5"/>
                      </a:solidFill>
                      <a:prstDash val="solid"/>
                    </a:lnT>
                    <a:lnB w="12240">
                      <a:solidFill>
                        <a:srgbClr val="C8C7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Apuesta del día y rendimiento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8C7C4"/>
                      </a:solidFill>
                      <a:prstDash val="solid"/>
                    </a:lnL>
                    <a:lnR w="12240">
                      <a:solidFill>
                        <a:srgbClr val="C8C7C4"/>
                      </a:solidFill>
                      <a:prstDash val="solid"/>
                    </a:lnR>
                    <a:lnT w="12240">
                      <a:solidFill>
                        <a:srgbClr val="BEC1C5"/>
                      </a:solidFill>
                      <a:prstDash val="solid"/>
                    </a:lnT>
                    <a:lnB w="12240">
                      <a:solidFill>
                        <a:srgbClr val="C8C7C4"/>
                      </a:solidFill>
                      <a:prstDash val="solid"/>
                    </a:lnB>
                    <a:noFill/>
                  </a:tcPr>
                </a:tc>
              </a:tr>
              <a:tr h="332280"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Dom 25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8C7C4"/>
                      </a:solidFill>
                      <a:prstDash val="solid"/>
                    </a:lnL>
                    <a:lnR w="12240">
                      <a:solidFill>
                        <a:srgbClr val="BEC1C5"/>
                      </a:solidFill>
                      <a:prstDash val="solid"/>
                    </a:lnR>
                    <a:lnT w="12240">
                      <a:solidFill>
                        <a:srgbClr val="C8C7C4"/>
                      </a:solidFill>
                      <a:prstDash val="solid"/>
                    </a:lnT>
                    <a:lnB w="12240">
                      <a:solidFill>
                        <a:srgbClr val="BEC1C5"/>
                      </a:solidFill>
                      <a:prstDash val="soli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Dockerfiles; prueba de ingesta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BEC1C5"/>
                      </a:solidFill>
                      <a:prstDash val="solid"/>
                    </a:lnL>
                    <a:lnR w="12240">
                      <a:solidFill>
                        <a:srgbClr val="BEC1C5"/>
                      </a:solidFill>
                      <a:prstDash val="solid"/>
                    </a:lnR>
                    <a:lnT w="12240">
                      <a:solidFill>
                        <a:srgbClr val="C8C7C4"/>
                      </a:solidFill>
                      <a:prstDash val="solid"/>
                    </a:lnT>
                    <a:lnB w="12240">
                      <a:solidFill>
                        <a:srgbClr val="BEC1C5"/>
                      </a:solidFill>
                      <a:prstDash val="soli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Dockerfiles; prueba del pick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BEC1C5"/>
                      </a:solidFill>
                      <a:prstDash val="solid"/>
                    </a:lnL>
                    <a:lnR w="12240">
                      <a:solidFill>
                        <a:srgbClr val="BEC1C5"/>
                      </a:solidFill>
                      <a:prstDash val="solid"/>
                    </a:lnR>
                    <a:lnT w="12240">
                      <a:solidFill>
                        <a:srgbClr val="C8C7C4"/>
                      </a:solidFill>
                      <a:prstDash val="solid"/>
                    </a:lnT>
                    <a:lnB w="12240">
                      <a:solidFill>
                        <a:srgbClr val="BEC1C5"/>
                      </a:solidFill>
                      <a:prstDash val="soli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docker-compose completo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BEC1C5"/>
                      </a:solidFill>
                      <a:prstDash val="solid"/>
                    </a:lnL>
                    <a:lnR w="12240">
                      <a:solidFill>
                        <a:srgbClr val="BEC1C5"/>
                      </a:solidFill>
                      <a:prstDash val="solid"/>
                    </a:lnR>
                    <a:lnT w="12240">
                      <a:solidFill>
                        <a:srgbClr val="C8C7C4"/>
                      </a:solidFill>
                      <a:prstDash val="solid"/>
                    </a:lnT>
                    <a:lnB w="12240">
                      <a:solidFill>
                        <a:srgbClr val="BEC1C5"/>
                      </a:solidFill>
                      <a:prstDash val="solid"/>
                    </a:lnB>
                    <a:solidFill>
                      <a:srgbClr val="EEF2F7"/>
                    </a:solidFill>
                  </a:tcPr>
                </a:tc>
              </a:tr>
              <a:tr h="332280"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Lun 26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8C7C4"/>
                      </a:solidFill>
                      <a:prstDash val="solid"/>
                    </a:lnL>
                    <a:lnR w="12240">
                      <a:solidFill>
                        <a:srgbClr val="C7BEAE"/>
                      </a:solidFill>
                      <a:prstDash val="solid"/>
                    </a:lnR>
                    <a:lnT w="12240">
                      <a:solidFill>
                        <a:srgbClr val="BEC1C5"/>
                      </a:solidFill>
                      <a:prstDash val="solid"/>
                    </a:lnT>
                    <a:lnB w="12240">
                      <a:solidFill>
                        <a:srgbClr val="C7BEAE"/>
                      </a:solidFill>
                      <a:prstDash val="solid"/>
                    </a:lnB>
                    <a:solidFill>
                      <a:srgbClr val="FAEEDA"/>
                    </a:solidFill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Pruebas, docs y ensayo de demo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7BEAE"/>
                      </a:solidFill>
                      <a:prstDash val="solid"/>
                    </a:lnL>
                    <a:lnR w="12240">
                      <a:solidFill>
                        <a:srgbClr val="C7BEAE"/>
                      </a:solidFill>
                      <a:prstDash val="solid"/>
                    </a:lnR>
                    <a:lnT w="12240">
                      <a:solidFill>
                        <a:srgbClr val="BEC1C5"/>
                      </a:solidFill>
                      <a:prstDash val="solid"/>
                    </a:lnT>
                    <a:lnB w="12240">
                      <a:solidFill>
                        <a:srgbClr val="C7BEAE"/>
                      </a:solidFill>
                      <a:prstDash val="solid"/>
                    </a:lnB>
                    <a:solidFill>
                      <a:srgbClr val="FAEEDA"/>
                    </a:solidFill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Pruebas, docs y ensayo de demo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7BEAE"/>
                      </a:solidFill>
                      <a:prstDash val="solid"/>
                    </a:lnL>
                    <a:lnR w="12240">
                      <a:solidFill>
                        <a:srgbClr val="C7BEAE"/>
                      </a:solidFill>
                      <a:prstDash val="solid"/>
                    </a:lnR>
                    <a:lnT w="12240">
                      <a:solidFill>
                        <a:srgbClr val="BEC1C5"/>
                      </a:solidFill>
                      <a:prstDash val="solid"/>
                    </a:lnT>
                    <a:lnB w="12240">
                      <a:solidFill>
                        <a:srgbClr val="C7BEAE"/>
                      </a:solidFill>
                      <a:prstDash val="solid"/>
                    </a:lnB>
                    <a:solidFill>
                      <a:srgbClr val="FAEEDA"/>
                    </a:solidFill>
                  </a:tcPr>
                </a:tc>
                <a:tc>
                  <a:txBody>
                    <a:bodyPr lIns="53280" tIns="53280" rIns="53280" b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B3D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Pruebas, docs y ensayo de demo</a:t>
                      </a:r>
                      <a:endParaRPr lang="es-P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3280" marR="53280" marT="53280" marB="53280">
                    <a:lnL w="12240">
                      <a:solidFill>
                        <a:srgbClr val="C7BEAE"/>
                      </a:solidFill>
                      <a:prstDash val="solid"/>
                    </a:lnL>
                    <a:lnR w="12240">
                      <a:solidFill>
                        <a:srgbClr val="C7BEAE"/>
                      </a:solidFill>
                      <a:prstDash val="solid"/>
                    </a:lnR>
                    <a:lnT w="12240">
                      <a:solidFill>
                        <a:srgbClr val="BEC1C5"/>
                      </a:solidFill>
                      <a:prstDash val="solid"/>
                    </a:lnT>
                    <a:lnB w="12240">
                      <a:solidFill>
                        <a:srgbClr val="C7BEAE"/>
                      </a:solidFill>
                      <a:prstDash val="solid"/>
                    </a:lnB>
                    <a:solidFill>
                      <a:srgbClr val="FAEEDA"/>
                    </a:solidFill>
                  </a:tcPr>
                </a:tc>
              </a:tr>
            </a:tbl>
          </a:graphicData>
        </a:graphic>
      </p:graphicFrame>
      <p:sp>
        <p:nvSpPr>
          <p:cNvPr id="362" name="Shape 3"/>
          <p:cNvSpPr/>
          <p:nvPr/>
        </p:nvSpPr>
        <p:spPr>
          <a:xfrm>
            <a:off x="812880" y="4641840"/>
            <a:ext cx="10566000" cy="535680"/>
          </a:xfrm>
          <a:prstGeom prst="rect">
            <a:avLst/>
          </a:prstGeom>
          <a:solidFill>
            <a:srgbClr val="0E2A4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P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3" name="Text 4"/>
          <p:cNvSpPr/>
          <p:nvPr/>
        </p:nvSpPr>
        <p:spPr>
          <a:xfrm>
            <a:off x="1066680" y="4803120"/>
            <a:ext cx="152568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1" u="none" spc="99" strike="noStrike">
                <a:solidFill>
                  <a:srgbClr val="E3B54A"/>
                </a:solidFill>
                <a:effectLst/>
                <a:uFillTx/>
                <a:latin typeface="Public Sans"/>
                <a:ea typeface="Public Sans"/>
              </a:rPr>
              <a:t>REGLA DE ORO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Text 5"/>
          <p:cNvSpPr/>
          <p:nvPr/>
        </p:nvSpPr>
        <p:spPr>
          <a:xfrm>
            <a:off x="2592720" y="4794120"/>
            <a:ext cx="6784200" cy="25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82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BFAF6"/>
                </a:solidFill>
                <a:effectLst/>
                <a:uFillTx/>
                <a:latin typeface="Public Sans"/>
                <a:ea typeface="Public Sans"/>
              </a:rPr>
              <a:t>Desde el día 1 cada endpoint responde datos fijos que respetan el contrato</a:t>
            </a:r>
            <a:endParaRPr lang="es-P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 6"/>
          <p:cNvSpPr/>
          <p:nvPr/>
        </p:nvSpPr>
        <p:spPr>
          <a:xfrm>
            <a:off x="812880" y="6289200"/>
            <a:ext cx="44103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F6878"/>
                </a:solidFill>
                <a:effectLst/>
                <a:uFillTx/>
                <a:latin typeface="Public Sans"/>
                <a:ea typeface="Public Sans"/>
              </a:rPr>
              <a:t>Analizador de apuestas de fútbol con microservicios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Text 7"/>
          <p:cNvSpPr/>
          <p:nvPr/>
        </p:nvSpPr>
        <p:spPr>
          <a:xfrm>
            <a:off x="11144160" y="6289200"/>
            <a:ext cx="23472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r"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F6878"/>
                </a:solidFill>
                <a:effectLst/>
                <a:uFillTx/>
                <a:latin typeface="Public Sans"/>
                <a:ea typeface="Public Sans"/>
              </a:rPr>
              <a:t>20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Shape 0"/>
          <p:cNvSpPr/>
          <p:nvPr/>
        </p:nvSpPr>
        <p:spPr>
          <a:xfrm>
            <a:off x="0" y="0"/>
            <a:ext cx="151920" cy="6857640"/>
          </a:xfrm>
          <a:prstGeom prst="rect">
            <a:avLst/>
          </a:prstGeom>
          <a:solidFill>
            <a:srgbClr val="0E2A4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P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8" name="Text 1"/>
          <p:cNvSpPr/>
          <p:nvPr/>
        </p:nvSpPr>
        <p:spPr>
          <a:xfrm>
            <a:off x="812880" y="812880"/>
            <a:ext cx="108831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1" u="none" spc="99" strike="noStrike">
                <a:solidFill>
                  <a:srgbClr val="8A6410"/>
                </a:solidFill>
                <a:effectLst/>
                <a:uFillTx/>
                <a:latin typeface="Public Sans"/>
                <a:ea typeface="Public Sans"/>
              </a:rPr>
              <a:t>8 · PLAN DE PRUEBAS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PlaceHolder 1"/>
          <p:cNvSpPr>
            <a:spLocks noGrp="1"/>
          </p:cNvSpPr>
          <p:nvPr>
            <p:ph type="title"/>
          </p:nvPr>
        </p:nvSpPr>
        <p:spPr>
          <a:xfrm>
            <a:off x="812880" y="1102320"/>
            <a:ext cx="10883160" cy="43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220"/>
              </a:lnSpc>
              <a:buNone/>
              <a:tabLst>
                <a:tab pos="0" algn="l"/>
              </a:tabLst>
            </a:pPr>
            <a:r>
              <a:rPr lang="en-US" sz="2800" b="1" u="none" strike="noStrike">
                <a:solidFill>
                  <a:srgbClr val="0E2A4F"/>
                </a:solidFill>
                <a:effectLst/>
                <a:uFillTx/>
                <a:latin typeface="Libre Baskerville"/>
                <a:ea typeface="Libre Baskerville"/>
              </a:rPr>
              <a:t>18 casos de prueba, cruzados entre compañeros</a:t>
            </a:r>
            <a:endParaRPr lang="es-PE" sz="2800" b="0" u="none" strike="noStrike">
              <a:solidFill>
                <a:schemeClr val="dk1"/>
              </a:solidFill>
              <a:effectLst/>
              <a:uFillTx/>
              <a:latin typeface="Public Sans"/>
            </a:endParaRPr>
          </a:p>
        </p:txBody>
      </p:sp>
      <p:sp>
        <p:nvSpPr>
          <p:cNvPr id="370" name="Shape 3"/>
          <p:cNvSpPr/>
          <p:nvPr/>
        </p:nvSpPr>
        <p:spPr>
          <a:xfrm>
            <a:off x="812880" y="1765080"/>
            <a:ext cx="5155920" cy="2232000"/>
          </a:xfrm>
          <a:prstGeom prst="rect">
            <a:avLst/>
          </a:prstGeom>
          <a:solidFill>
            <a:srgbClr val="FFFE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P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Shape 4"/>
          <p:cNvSpPr/>
          <p:nvPr/>
        </p:nvSpPr>
        <p:spPr>
          <a:xfrm>
            <a:off x="812520" y="1790280"/>
            <a:ext cx="5156280" cy="360"/>
          </a:xfrm>
          <a:prstGeom prst="line">
            <a:avLst/>
          </a:prstGeom>
          <a:ln w="50800">
            <a:solidFill>
              <a:srgbClr val="0E2A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s-P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Text 5"/>
          <p:cNvSpPr/>
          <p:nvPr/>
        </p:nvSpPr>
        <p:spPr>
          <a:xfrm>
            <a:off x="1066680" y="2044440"/>
            <a:ext cx="369360" cy="66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504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0E2A4F"/>
                </a:solidFill>
                <a:effectLst/>
                <a:uFillTx/>
                <a:latin typeface="Libre Baskerville"/>
                <a:ea typeface="Libre Baskerville"/>
              </a:rPr>
              <a:t>9</a:t>
            </a:r>
            <a:endParaRPr lang="es-PE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Text 6"/>
          <p:cNvSpPr/>
          <p:nvPr/>
        </p:nvSpPr>
        <p:spPr>
          <a:xfrm>
            <a:off x="1527480" y="2123280"/>
            <a:ext cx="157644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19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E2A4F"/>
                </a:solidFill>
                <a:effectLst/>
                <a:uFillTx/>
                <a:latin typeface="Public Sans"/>
                <a:ea typeface="Public Sans"/>
              </a:rPr>
              <a:t>Caja blanca</a:t>
            </a:r>
            <a:endParaRPr lang="es-P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Text 7"/>
          <p:cNvSpPr/>
          <p:nvPr/>
        </p:nvSpPr>
        <p:spPr>
          <a:xfrm>
            <a:off x="1527480" y="2392560"/>
            <a:ext cx="18309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E4A5C"/>
                </a:solidFill>
                <a:effectLst/>
                <a:uFillTx/>
                <a:latin typeface="Public Sans"/>
                <a:ea typeface="Public Sans"/>
              </a:rPr>
              <a:t>cobertura de caminos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Text 8"/>
          <p:cNvSpPr/>
          <p:nvPr/>
        </p:nvSpPr>
        <p:spPr>
          <a:xfrm>
            <a:off x="1164960" y="2811600"/>
            <a:ext cx="4681800" cy="98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55880" indent="-155880" defTabSz="914400">
              <a:lnSpc>
                <a:spcPts val="1885"/>
              </a:lnSpc>
              <a:buClr>
                <a:srgbClr val="1F2B3D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CB-03 · Poisson: el 1X2 suma 1 (± 0.001)</a:t>
            </a:r>
            <a:endParaRPr lang="es-P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5880" indent="-155880" defTabSz="914400">
              <a:lnSpc>
                <a:spcPts val="1885"/>
              </a:lnSpc>
              <a:buClr>
                <a:srgbClr val="1F2B3D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CB-05 · p = 0.50 y cuota 2.20 → EV 0.10</a:t>
            </a:r>
            <a:endParaRPr lang="es-P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5880" indent="-155880" defTabSz="914400">
              <a:lnSpc>
                <a:spcPts val="1885"/>
              </a:lnSpc>
              <a:buClr>
                <a:srgbClr val="1F2B3D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CB-07 · 2-1 con más de 2.5 goles → GANADA</a:t>
            </a:r>
            <a:endParaRPr lang="es-P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5880" indent="-155880" defTabSz="914400">
              <a:lnSpc>
                <a:spcPts val="1885"/>
              </a:lnSpc>
              <a:buClr>
                <a:srgbClr val="1F2B3D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CB-09 · JWT vencido → 401 en el gateway</a:t>
            </a:r>
            <a:endParaRPr lang="es-P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Shape 9"/>
          <p:cNvSpPr/>
          <p:nvPr/>
        </p:nvSpPr>
        <p:spPr>
          <a:xfrm>
            <a:off x="6222960" y="1765080"/>
            <a:ext cx="5155920" cy="2232000"/>
          </a:xfrm>
          <a:prstGeom prst="rect">
            <a:avLst/>
          </a:prstGeom>
          <a:solidFill>
            <a:srgbClr val="FFFE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P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Shape 10"/>
          <p:cNvSpPr/>
          <p:nvPr/>
        </p:nvSpPr>
        <p:spPr>
          <a:xfrm>
            <a:off x="6222960" y="1790280"/>
            <a:ext cx="5155920" cy="360"/>
          </a:xfrm>
          <a:prstGeom prst="line">
            <a:avLst/>
          </a:prstGeom>
          <a:ln w="50800">
            <a:solidFill>
              <a:srgbClr val="C997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s-P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Text 11"/>
          <p:cNvSpPr/>
          <p:nvPr/>
        </p:nvSpPr>
        <p:spPr>
          <a:xfrm>
            <a:off x="6477120" y="2044440"/>
            <a:ext cx="369360" cy="66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504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8A6410"/>
                </a:solidFill>
                <a:effectLst/>
                <a:uFillTx/>
                <a:latin typeface="Libre Baskerville"/>
                <a:ea typeface="Libre Baskerville"/>
              </a:rPr>
              <a:t>9</a:t>
            </a:r>
            <a:endParaRPr lang="es-PE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Text 12"/>
          <p:cNvSpPr/>
          <p:nvPr/>
        </p:nvSpPr>
        <p:spPr>
          <a:xfrm>
            <a:off x="6937560" y="2123280"/>
            <a:ext cx="225180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19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E2A4F"/>
                </a:solidFill>
                <a:effectLst/>
                <a:uFillTx/>
                <a:latin typeface="Public Sans"/>
                <a:ea typeface="Public Sans"/>
              </a:rPr>
              <a:t>Caja negra</a:t>
            </a:r>
            <a:endParaRPr lang="es-P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 13"/>
          <p:cNvSpPr/>
          <p:nvPr/>
        </p:nvSpPr>
        <p:spPr>
          <a:xfrm>
            <a:off x="6937560" y="2392560"/>
            <a:ext cx="262368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E4A5C"/>
                </a:solidFill>
                <a:effectLst/>
                <a:uFillTx/>
                <a:latin typeface="Public Sans"/>
                <a:ea typeface="Public Sans"/>
              </a:rPr>
              <a:t>funcionalidad de punta a punta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Text 14"/>
          <p:cNvSpPr/>
          <p:nvPr/>
        </p:nvSpPr>
        <p:spPr>
          <a:xfrm>
            <a:off x="6575040" y="2811600"/>
            <a:ext cx="4681800" cy="98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55880" indent="-155880" defTabSz="914400">
              <a:lnSpc>
                <a:spcPts val="1885"/>
              </a:lnSpc>
              <a:buClr>
                <a:srgbClr val="1F2B3D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CN-02 · Sin token → 401</a:t>
            </a:r>
            <a:endParaRPr lang="es-P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5880" indent="-155880" defTabSz="914400">
              <a:lnSpc>
                <a:spcPts val="1885"/>
              </a:lnSpc>
              <a:buClr>
                <a:srgbClr val="1F2B3D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CN-03 · Un APOSTADOR lanza la ingesta → 403</a:t>
            </a:r>
            <a:endParaRPr lang="es-P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5880" indent="-155880" defTabSz="914400">
              <a:lnSpc>
                <a:spcPts val="1885"/>
              </a:lnSpc>
              <a:buClr>
                <a:srgbClr val="1F2B3D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CN-07 · Sin candidatos → “Hoy no hay apuesta del día”</a:t>
            </a:r>
            <a:endParaRPr lang="es-P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5880" indent="-155880" defTabSz="914400">
              <a:lnSpc>
                <a:spcPts val="1885"/>
              </a:lnSpc>
              <a:buClr>
                <a:srgbClr val="1F2B3D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CN-08 · ms-cuotas caído → aviso, sin error 500</a:t>
            </a:r>
            <a:endParaRPr lang="es-P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Text 15"/>
          <p:cNvSpPr/>
          <p:nvPr/>
        </p:nvSpPr>
        <p:spPr>
          <a:xfrm>
            <a:off x="812880" y="4251600"/>
            <a:ext cx="10883160" cy="25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82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F2B3D"/>
                </a:solidFill>
                <a:effectLst/>
                <a:uFillTx/>
                <a:latin typeface="Public Sans"/>
                <a:ea typeface="Public Sans"/>
              </a:rPr>
              <a:t>Cada integrante escribe la caja blanca de sus servicios y ejecuta la caja negra de otro compañero.</a:t>
            </a:r>
            <a:endParaRPr lang="es-P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Text 16"/>
          <p:cNvSpPr/>
          <p:nvPr/>
        </p:nvSpPr>
        <p:spPr>
          <a:xfrm>
            <a:off x="812880" y="6289200"/>
            <a:ext cx="44103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F6878"/>
                </a:solidFill>
                <a:effectLst/>
                <a:uFillTx/>
                <a:latin typeface="Public Sans"/>
                <a:ea typeface="Public Sans"/>
              </a:rPr>
              <a:t>Analizador de apuestas de fútbol con microservicios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Text 17"/>
          <p:cNvSpPr/>
          <p:nvPr/>
        </p:nvSpPr>
        <p:spPr>
          <a:xfrm>
            <a:off x="11175480" y="6289200"/>
            <a:ext cx="20340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r"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F6878"/>
                </a:solidFill>
                <a:effectLst/>
                <a:uFillTx/>
                <a:latin typeface="Public Sans"/>
                <a:ea typeface="Public Sans"/>
              </a:rPr>
              <a:t>21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Shape 0"/>
          <p:cNvSpPr/>
          <p:nvPr/>
        </p:nvSpPr>
        <p:spPr>
          <a:xfrm>
            <a:off x="0" y="0"/>
            <a:ext cx="151920" cy="6857640"/>
          </a:xfrm>
          <a:prstGeom prst="rect">
            <a:avLst/>
          </a:prstGeom>
          <a:solidFill>
            <a:srgbClr val="0E2A4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P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6" name="Text 1"/>
          <p:cNvSpPr/>
          <p:nvPr/>
        </p:nvSpPr>
        <p:spPr>
          <a:xfrm>
            <a:off x="812880" y="812880"/>
            <a:ext cx="108831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1" u="none" spc="99" strike="noStrike">
                <a:solidFill>
                  <a:srgbClr val="8A6410"/>
                </a:solidFill>
                <a:effectLst/>
                <a:uFillTx/>
                <a:latin typeface="Public Sans"/>
                <a:ea typeface="Public Sans"/>
              </a:rPr>
              <a:t>9.2 · TRABAJO FUTURO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PlaceHolder 1"/>
          <p:cNvSpPr>
            <a:spLocks noGrp="1"/>
          </p:cNvSpPr>
          <p:nvPr>
            <p:ph type="title"/>
          </p:nvPr>
        </p:nvSpPr>
        <p:spPr>
          <a:xfrm>
            <a:off x="812880" y="1102320"/>
            <a:ext cx="10883160" cy="43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220"/>
              </a:lnSpc>
              <a:buNone/>
              <a:tabLst>
                <a:tab pos="0" algn="l"/>
              </a:tabLst>
            </a:pPr>
            <a:r>
              <a:rPr lang="en-US" sz="2800" b="1" u="none" strike="noStrike">
                <a:solidFill>
                  <a:srgbClr val="0E2A4F"/>
                </a:solidFill>
                <a:effectLst/>
                <a:uFillTx/>
                <a:latin typeface="Libre Baskerville"/>
                <a:ea typeface="Libre Baskerville"/>
              </a:rPr>
              <a:t>Qué haríamos después de esta semana</a:t>
            </a:r>
            <a:endParaRPr lang="es-PE" sz="2800" b="0" u="none" strike="noStrike">
              <a:solidFill>
                <a:schemeClr val="dk1"/>
              </a:solidFill>
              <a:effectLst/>
              <a:uFillTx/>
              <a:latin typeface="Public Sans"/>
            </a:endParaRPr>
          </a:p>
        </p:txBody>
      </p:sp>
      <p:sp>
        <p:nvSpPr>
          <p:cNvPr id="388" name="Shape 3"/>
          <p:cNvSpPr/>
          <p:nvPr/>
        </p:nvSpPr>
        <p:spPr>
          <a:xfrm>
            <a:off x="812880" y="1866960"/>
            <a:ext cx="2011320" cy="2036520"/>
          </a:xfrm>
          <a:prstGeom prst="rect">
            <a:avLst/>
          </a:prstGeom>
          <a:solidFill>
            <a:srgbClr val="EEF2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P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Shape 4"/>
          <p:cNvSpPr/>
          <p:nvPr/>
        </p:nvSpPr>
        <p:spPr>
          <a:xfrm>
            <a:off x="812520" y="1885680"/>
            <a:ext cx="2011680" cy="360"/>
          </a:xfrm>
          <a:prstGeom prst="line">
            <a:avLst/>
          </a:prstGeom>
          <a:ln w="38100">
            <a:solidFill>
              <a:srgbClr val="0E2A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s-P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90" name="Image 0" descr="PaperPlane"/>
          <p:cNvPicPr/>
          <p:nvPr/>
        </p:nvPicPr>
        <p:blipFill>
          <a:blip r:embed="rId1"/>
          <a:stretch/>
        </p:blipFill>
        <p:spPr>
          <a:xfrm>
            <a:off x="990720" y="2108160"/>
            <a:ext cx="304560" cy="304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1" name="Text 5"/>
          <p:cNvSpPr/>
          <p:nvPr/>
        </p:nvSpPr>
        <p:spPr>
          <a:xfrm>
            <a:off x="990720" y="2514600"/>
            <a:ext cx="1706400" cy="46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749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E2A4F"/>
                </a:solidFill>
                <a:effectLst/>
                <a:uFillTx/>
                <a:latin typeface="Public Sans"/>
                <a:ea typeface="Public Sans"/>
              </a:rPr>
              <a:t>Mensajería asíncrona</a:t>
            </a:r>
            <a:endParaRPr lang="es-P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Text 6"/>
          <p:cNvSpPr/>
          <p:nvPr/>
        </p:nvSpPr>
        <p:spPr>
          <a:xfrm>
            <a:off x="990720" y="3060720"/>
            <a:ext cx="1706400" cy="66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E4A5C"/>
                </a:solidFill>
                <a:effectLst/>
                <a:uFillTx/>
                <a:latin typeface="Public Sans"/>
                <a:ea typeface="Public Sans"/>
              </a:rPr>
              <a:t>RabbitMQ: liquidar al recibir el evento partido.finalizado.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Shape 7"/>
          <p:cNvSpPr/>
          <p:nvPr/>
        </p:nvSpPr>
        <p:spPr>
          <a:xfrm>
            <a:off x="2951640" y="1866960"/>
            <a:ext cx="2011320" cy="2036520"/>
          </a:xfrm>
          <a:prstGeom prst="rect">
            <a:avLst/>
          </a:prstGeom>
          <a:solidFill>
            <a:srgbClr val="EEF2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P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Shape 8"/>
          <p:cNvSpPr/>
          <p:nvPr/>
        </p:nvSpPr>
        <p:spPr>
          <a:xfrm>
            <a:off x="2951280" y="1885680"/>
            <a:ext cx="2011680" cy="360"/>
          </a:xfrm>
          <a:prstGeom prst="line">
            <a:avLst/>
          </a:prstGeom>
          <a:ln w="38100">
            <a:solidFill>
              <a:srgbClr val="0E2A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s-P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95" name="Image 1" descr="Settings"/>
          <p:cNvPicPr/>
          <p:nvPr/>
        </p:nvPicPr>
        <p:blipFill>
          <a:blip r:embed="rId2"/>
          <a:stretch/>
        </p:blipFill>
        <p:spPr>
          <a:xfrm>
            <a:off x="3129120" y="2108160"/>
            <a:ext cx="304560" cy="304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6" name="Text 9"/>
          <p:cNvSpPr/>
          <p:nvPr/>
        </p:nvSpPr>
        <p:spPr>
          <a:xfrm>
            <a:off x="3129120" y="2514600"/>
            <a:ext cx="170640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749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E2A4F"/>
                </a:solidFill>
                <a:effectLst/>
                <a:uFillTx/>
                <a:latin typeface="Public Sans"/>
                <a:ea typeface="Public Sans"/>
              </a:rPr>
              <a:t>Resiliencia</a:t>
            </a:r>
            <a:endParaRPr lang="es-P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Text 10"/>
          <p:cNvSpPr/>
          <p:nvPr/>
        </p:nvSpPr>
        <p:spPr>
          <a:xfrm>
            <a:off x="3129120" y="2838240"/>
            <a:ext cx="1706400" cy="66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E4A5C"/>
                </a:solidFill>
                <a:effectLst/>
                <a:uFillTx/>
                <a:latin typeface="Public Sans"/>
                <a:ea typeface="Public Sans"/>
              </a:rPr>
              <a:t>Circuit breaker con Resilience4j y Config Server.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Shape 11"/>
          <p:cNvSpPr/>
          <p:nvPr/>
        </p:nvSpPr>
        <p:spPr>
          <a:xfrm>
            <a:off x="5090040" y="1866960"/>
            <a:ext cx="2011320" cy="2036520"/>
          </a:xfrm>
          <a:prstGeom prst="rect">
            <a:avLst/>
          </a:prstGeom>
          <a:solidFill>
            <a:srgbClr val="EEF2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P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Shape 12"/>
          <p:cNvSpPr/>
          <p:nvPr/>
        </p:nvSpPr>
        <p:spPr>
          <a:xfrm>
            <a:off x="5090040" y="1885680"/>
            <a:ext cx="2011680" cy="360"/>
          </a:xfrm>
          <a:prstGeom prst="line">
            <a:avLst/>
          </a:prstGeom>
          <a:ln w="38100">
            <a:solidFill>
              <a:srgbClr val="0E2A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s-P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00" name="Image 2" descr="Database"/>
          <p:cNvPicPr/>
          <p:nvPr/>
        </p:nvPicPr>
        <p:blipFill>
          <a:blip r:embed="rId3"/>
          <a:stretch/>
        </p:blipFill>
        <p:spPr>
          <a:xfrm>
            <a:off x="5267880" y="2108160"/>
            <a:ext cx="304560" cy="304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1" name="Text 13"/>
          <p:cNvSpPr/>
          <p:nvPr/>
        </p:nvSpPr>
        <p:spPr>
          <a:xfrm>
            <a:off x="5267880" y="2514600"/>
            <a:ext cx="170640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749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E2A4F"/>
                </a:solidFill>
                <a:effectLst/>
                <a:uFillTx/>
                <a:latin typeface="Public Sans"/>
                <a:ea typeface="Public Sans"/>
              </a:rPr>
              <a:t>Más datos</a:t>
            </a:r>
            <a:endParaRPr lang="es-P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Text 14"/>
          <p:cNvSpPr/>
          <p:nvPr/>
        </p:nvSpPr>
        <p:spPr>
          <a:xfrm>
            <a:off x="5267880" y="2838240"/>
            <a:ext cx="1706400" cy="66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E4A5C"/>
                </a:solidFill>
                <a:effectLst/>
                <a:uFillTx/>
                <a:latin typeface="Public Sans"/>
                <a:ea typeface="Public Sans"/>
              </a:rPr>
              <a:t>Alineaciones, lesiones, jugadores, Champions y hándicap asiático.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Shape 15"/>
          <p:cNvSpPr/>
          <p:nvPr/>
        </p:nvSpPr>
        <p:spPr>
          <a:xfrm>
            <a:off x="7228800" y="1866960"/>
            <a:ext cx="2011320" cy="2036520"/>
          </a:xfrm>
          <a:prstGeom prst="rect">
            <a:avLst/>
          </a:prstGeom>
          <a:solidFill>
            <a:srgbClr val="EEF2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P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Shape 16"/>
          <p:cNvSpPr/>
          <p:nvPr/>
        </p:nvSpPr>
        <p:spPr>
          <a:xfrm>
            <a:off x="7228440" y="1885680"/>
            <a:ext cx="2011680" cy="360"/>
          </a:xfrm>
          <a:prstGeom prst="line">
            <a:avLst/>
          </a:prstGeom>
          <a:ln w="38100">
            <a:solidFill>
              <a:srgbClr val="0E2A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s-P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05" name="Image 3" descr="Chart"/>
          <p:cNvPicPr/>
          <p:nvPr/>
        </p:nvPicPr>
        <p:blipFill>
          <a:blip r:embed="rId4"/>
          <a:stretch/>
        </p:blipFill>
        <p:spPr>
          <a:xfrm>
            <a:off x="7406640" y="2108160"/>
            <a:ext cx="304560" cy="304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6" name="Text 17"/>
          <p:cNvSpPr/>
          <p:nvPr/>
        </p:nvSpPr>
        <p:spPr>
          <a:xfrm>
            <a:off x="7406640" y="2514600"/>
            <a:ext cx="170640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749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E2A4F"/>
                </a:solidFill>
                <a:effectLst/>
                <a:uFillTx/>
                <a:latin typeface="Public Sans"/>
                <a:ea typeface="Public Sans"/>
              </a:rPr>
              <a:t>Mejor modelo</a:t>
            </a:r>
            <a:endParaRPr lang="es-P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Text 18"/>
          <p:cNvSpPr/>
          <p:nvPr/>
        </p:nvSpPr>
        <p:spPr>
          <a:xfrm>
            <a:off x="7406640" y="2838240"/>
            <a:ext cx="1706400" cy="66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E4A5C"/>
                </a:solidFill>
                <a:effectLst/>
                <a:uFillTx/>
                <a:latin typeface="Public Sans"/>
                <a:ea typeface="Public Sans"/>
              </a:rPr>
              <a:t>Ponderar lo reciente, usar xG y mezclar con el mercado.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Shape 19"/>
          <p:cNvSpPr/>
          <p:nvPr/>
        </p:nvSpPr>
        <p:spPr>
          <a:xfrm>
            <a:off x="9367560" y="1866960"/>
            <a:ext cx="2011320" cy="2036520"/>
          </a:xfrm>
          <a:prstGeom prst="rect">
            <a:avLst/>
          </a:prstGeom>
          <a:solidFill>
            <a:srgbClr val="EEF2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P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Shape 20"/>
          <p:cNvSpPr/>
          <p:nvPr/>
        </p:nvSpPr>
        <p:spPr>
          <a:xfrm>
            <a:off x="9367200" y="1885680"/>
            <a:ext cx="2011680" cy="360"/>
          </a:xfrm>
          <a:prstGeom prst="line">
            <a:avLst/>
          </a:prstGeom>
          <a:ln w="38100">
            <a:solidFill>
              <a:srgbClr val="0E2A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s-P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10" name="Image 4" descr="Cloud"/>
          <p:cNvPicPr/>
          <p:nvPr/>
        </p:nvPicPr>
        <p:blipFill>
          <a:blip r:embed="rId5"/>
          <a:stretch/>
        </p:blipFill>
        <p:spPr>
          <a:xfrm>
            <a:off x="9545400" y="2108160"/>
            <a:ext cx="304560" cy="304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1" name="Text 21"/>
          <p:cNvSpPr/>
          <p:nvPr/>
        </p:nvSpPr>
        <p:spPr>
          <a:xfrm>
            <a:off x="9545400" y="2514600"/>
            <a:ext cx="170640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749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E2A4F"/>
                </a:solidFill>
                <a:effectLst/>
                <a:uFillTx/>
                <a:latin typeface="Public Sans"/>
                <a:ea typeface="Public Sans"/>
              </a:rPr>
              <a:t>Despliegue</a:t>
            </a:r>
            <a:endParaRPr lang="es-P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Text 22"/>
          <p:cNvSpPr/>
          <p:nvPr/>
        </p:nvSpPr>
        <p:spPr>
          <a:xfrm>
            <a:off x="9545400" y="2838240"/>
            <a:ext cx="1706400" cy="66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E4A5C"/>
                </a:solidFill>
                <a:effectLst/>
                <a:uFillTx/>
                <a:latin typeface="Public Sans"/>
                <a:ea typeface="Public Sans"/>
              </a:rPr>
              <a:t>Kubernetes e integración continua en cada push.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Text 23"/>
          <p:cNvSpPr/>
          <p:nvPr/>
        </p:nvSpPr>
        <p:spPr>
          <a:xfrm>
            <a:off x="812880" y="6289200"/>
            <a:ext cx="44103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F6878"/>
                </a:solidFill>
                <a:effectLst/>
                <a:uFillTx/>
                <a:latin typeface="Public Sans"/>
                <a:ea typeface="Public Sans"/>
              </a:rPr>
              <a:t>Analizador de apuestas de fútbol con microservicios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Text 24"/>
          <p:cNvSpPr/>
          <p:nvPr/>
        </p:nvSpPr>
        <p:spPr>
          <a:xfrm>
            <a:off x="11146680" y="6289200"/>
            <a:ext cx="23220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r"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F6878"/>
                </a:solidFill>
                <a:effectLst/>
                <a:uFillTx/>
                <a:latin typeface="Public Sans"/>
                <a:ea typeface="Public Sans"/>
              </a:rPr>
              <a:t>22</a:t>
            </a:r>
            <a:endParaRPr lang="es-P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E2A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Shape 0"/>
          <p:cNvSpPr/>
          <p:nvPr/>
        </p:nvSpPr>
        <p:spPr>
          <a:xfrm>
            <a:off x="0" y="0"/>
            <a:ext cx="202680" cy="6857640"/>
          </a:xfrm>
          <a:prstGeom prst="rect">
            <a:avLst/>
          </a:prstGeom>
          <a:solidFill>
            <a:srgbClr val="C9971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P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Text 1"/>
          <p:cNvSpPr/>
          <p:nvPr/>
        </p:nvSpPr>
        <p:spPr>
          <a:xfrm>
            <a:off x="1015920" y="1399680"/>
            <a:ext cx="1067364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1" u="none" spc="150" strike="noStrike">
                <a:solidFill>
                  <a:srgbClr val="E3B54A"/>
                </a:solidFill>
                <a:effectLst/>
                <a:uFillTx/>
                <a:latin typeface="Public Sans"/>
                <a:ea typeface="Public Sans"/>
              </a:rPr>
              <a:t>ANALIZADOR DE APUESTAS DE FÚTBOL CON MICROSERVICIOS</a:t>
            </a:r>
            <a:endParaRPr lang="es-PE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7" name="PlaceHolder 1"/>
          <p:cNvSpPr>
            <a:spLocks noGrp="1"/>
          </p:cNvSpPr>
          <p:nvPr>
            <p:ph type="title"/>
          </p:nvPr>
        </p:nvSpPr>
        <p:spPr>
          <a:xfrm>
            <a:off x="1015920" y="1917720"/>
            <a:ext cx="10673640" cy="1589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6160"/>
              </a:lnSpc>
              <a:buNone/>
              <a:tabLst>
                <a:tab pos="0" algn="l"/>
              </a:tabLst>
            </a:pPr>
            <a:r>
              <a:rPr lang="en-US" sz="5600" b="1" u="none" strike="noStrike">
                <a:solidFill>
                  <a:srgbClr val="FBFAF6"/>
                </a:solidFill>
                <a:effectLst/>
                <a:uFillTx/>
                <a:latin typeface="Libre Baskerville"/>
                <a:ea typeface="Libre Baskerville"/>
              </a:rPr>
              <a:t>Gracias.</a:t>
            </a:r>
            <a:endParaRPr lang="es-PE" sz="5600" b="0" u="none" strike="noStrike">
              <a:solidFill>
                <a:schemeClr val="dk1"/>
              </a:solidFill>
              <a:effectLst/>
              <a:uFillTx/>
              <a:latin typeface="Public Sans"/>
            </a:endParaRPr>
          </a:p>
        </p:txBody>
      </p:sp>
      <p:sp>
        <p:nvSpPr>
          <p:cNvPr id="418" name="Shape 3"/>
          <p:cNvSpPr/>
          <p:nvPr/>
        </p:nvSpPr>
        <p:spPr>
          <a:xfrm>
            <a:off x="1015920" y="3787200"/>
            <a:ext cx="1015560" cy="37800"/>
          </a:xfrm>
          <a:prstGeom prst="rect">
            <a:avLst/>
          </a:prstGeom>
          <a:solidFill>
            <a:srgbClr val="C9971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pPr/>
            <a:endParaRPr lang="es-P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Text 4"/>
          <p:cNvSpPr/>
          <p:nvPr/>
        </p:nvSpPr>
        <p:spPr>
          <a:xfrm>
            <a:off x="1015920" y="4129920"/>
            <a:ext cx="9156240" cy="61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319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C5D0DE"/>
                </a:solidFill>
                <a:effectLst/>
                <a:uFillTx/>
                <a:latin typeface="Public Sans"/>
                <a:ea typeface="Public Sans"/>
              </a:rPr>
              <a:t>El sistema muestra probabilidades y valor esperado, no promesas: un modelo de Poisson simple no le gana a las casas de forma sostenida.</a:t>
            </a:r>
            <a:endParaRPr lang="es-PE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0" name="Text 5"/>
          <p:cNvSpPr/>
          <p:nvPr/>
        </p:nvSpPr>
        <p:spPr>
          <a:xfrm>
            <a:off x="1015920" y="5023800"/>
            <a:ext cx="10673640" cy="25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82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A9B6C8"/>
                </a:solidFill>
                <a:effectLst/>
                <a:uFillTx/>
                <a:latin typeface="Public Sans"/>
                <a:ea typeface="Public Sans"/>
              </a:rPr>
              <a:t>Marquina Diaz · Tenazoa Nuñez · Lima Cora — Taller de desarrollo, UNU</a:t>
            </a:r>
            <a:endParaRPr lang="es-PE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Analizador de apuestas de fútbol con microservicios">
  <a:themeElements>
    <a:clrScheme name="Analizador de apuestas de fútbol con microservicios">
      <a:dk1>
        <a:srgbClr val="0E2A4F"/>
      </a:dk1>
      <a:lt1>
        <a:srgbClr val="FBFAF6"/>
      </a:lt1>
      <a:dk2>
        <a:srgbClr val="495E79"/>
      </a:dk2>
      <a:lt2>
        <a:srgbClr val="E3E5E5"/>
      </a:lt2>
      <a:accent1>
        <a:srgbClr val="8A6410"/>
      </a:accent1>
      <a:accent2>
        <a:srgbClr val="E3B54A"/>
      </a:accent2>
      <a:accent3>
        <a:srgbClr val="C9971C"/>
      </a:accent3>
      <a:accent4>
        <a:srgbClr val="633806"/>
      </a:accent4>
      <a:accent5>
        <a:srgbClr val="5F6878"/>
      </a:accent5>
      <a:accent6>
        <a:srgbClr val="3E4A5C"/>
      </a:accent6>
      <a:hlink>
        <a:srgbClr val="0563C1"/>
      </a:hlink>
      <a:folHlink>
        <a:srgbClr val="954F72"/>
      </a:folHlink>
    </a:clrScheme>
    <a:fontScheme name="Analizador de apuestas de fútbol con microservicios">
      <a:majorFont>
        <a:latin typeface="Public Sans" pitchFamily="0" charset="1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ublic Sans" pitchFamily="0" charset="1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Application>LibreOffice/26.8.1.1$Linux_X86_64 LibreOffice_project/0fee9b7af4ed8823fb6ed0b53e2a3e73b2087f4b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2026-10-20T13:08:47Z</dcterms:created>
  <dc:creator/>
  <dc:description/>
  <dc:language>es-PE</dc:language>
  <cp:lastModifiedBy/>
  <dcterms:modified xsi:type="dcterms:W3CDTF">2026-10-20T08:17:37Z</dcterms:modified>
  <cp:revision>2</cp:revision>
  <dc:subject/>
  <dc:title>Analizador de apuestas de fútbol con microservicios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23</vt:i4>
  </property>
  <property fmtid="{D5CDD505-2E9C-101B-9397-08002B2CF9AE}" pid="3" name="PresentationFormat">
    <vt:lpwstr>On-screen Show (16:9)</vt:lpwstr>
  </property>
  <property fmtid="{D5CDD505-2E9C-101B-9397-08002B2CF9AE}" pid="4" name="Slides">
    <vt:i4>23</vt:i4>
  </property>
</Properties>
</file>